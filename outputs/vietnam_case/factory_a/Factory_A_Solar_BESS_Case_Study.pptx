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dPt>
            <c:idx val="0"/>
            <c:spPr>
              <a:solidFill>
                <a:srgbClr val="2E9E5B"/>
              </a:solidFill>
            </c:spPr>
          </c:dPt>
          <c:dPt>
            <c:idx val="1"/>
            <c:spPr>
              <a:solidFill>
                <a:srgbClr val="C8D2DA"/>
              </a:solidFill>
            </c:spPr>
          </c:dPt>
          <c:cat>
            <c:strRef>
              <c:f>Sheet1!$A$2:$A$3</c:f>
              <c:strCache>
                <c:ptCount val="2"/>
                <c:pt idx="0">
                  <c:v>Clean (solar)</c:v>
                </c:pt>
                <c:pt idx="1">
                  <c:v>Grid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35.8</c:v>
                </c:pt>
                <c:pt idx="1">
                  <c:v>64.2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  <a:latin typeface="Segoe UI Semi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B9CFC2"/>
              </a:solidFill>
              <a:ln>
                <a:noFill/>
              </a:ln>
            </c:spPr>
          </c:dPt>
          <c:dPt>
            <c:idx val="1"/>
            <c:spPr>
              <a:solidFill>
                <a:srgbClr val="127A7A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Solar Only</c:v>
                </c:pt>
                <c:pt idx="1">
                  <c:v>Solar + BESS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35.8</c:v>
                </c:pt>
                <c:pt idx="1">
                  <c:v>65.5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DE4E9"/>
            </a:solidFill>
          </a:ln>
        </c:spPr>
        <c:txPr>
          <a:bodyPr/>
          <a:lstStyle/>
          <a:p>
            <a:pPr>
              <a:defRPr sz="1050">
                <a:solidFill>
                  <a:srgbClr val="0F293D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CFC4B0"/>
              </a:solidFill>
              <a:ln>
                <a:noFill/>
              </a:ln>
            </c:spPr>
          </c:dPt>
          <c:dPt>
            <c:idx val="1"/>
            <c:spPr>
              <a:solidFill>
                <a:srgbClr val="E09A2B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Solar Only</c:v>
                </c:pt>
                <c:pt idx="1">
                  <c:v>Solar + BESS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245</c:v>
                </c:pt>
                <c:pt idx="1">
                  <c:v>569</c:v>
                </c:pt>
              </c:numCache>
            </c:numRef>
          </c:val>
        </c:ser>
        <c:dLbls>
          <c:numFmt formatCode="&quot;$&quot;0&quot;k&quot;" sourceLinked="0"/>
          <c:txPr>
            <a:bodyPr/>
            <a:lstStyle/>
            <a:p>
              <a:pPr>
                <a:defRPr sz="1000" b="1"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DE4E9"/>
            </a:solidFill>
          </a:ln>
        </c:spPr>
        <c:txPr>
          <a:bodyPr/>
          <a:lstStyle/>
          <a:p>
            <a:pPr>
              <a:defRPr sz="1050">
                <a:solidFill>
                  <a:srgbClr val="0F293D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C04A3A"/>
              </a:solidFill>
              <a:ln>
                <a:noFill/>
              </a:ln>
            </c:spPr>
          </c:dPt>
          <c:dPt>
            <c:idx val="1"/>
            <c:spPr>
              <a:solidFill>
                <a:srgbClr val="E09A2B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Grid peak
(no battery)</c:v>
                </c:pt>
                <c:pt idx="1">
                  <c:v>Grid peak
(with BESS)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2428</c:v>
                </c:pt>
                <c:pt idx="1">
                  <c:v>1311</c:v>
                </c:pt>
              </c:numCache>
            </c:numRef>
          </c:val>
        </c:ser>
        <c:dLbls>
          <c:numFmt formatCode="#,##0&quot; kW&quot;" sourceLinked="0"/>
          <c:txPr>
            <a:bodyPr/>
            <a:lstStyle/>
            <a:p>
              <a:pPr>
                <a:defRPr sz="1000" b="1"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DE4E9"/>
            </a:solidFill>
          </a:ln>
        </c:spPr>
        <c:txPr>
          <a:bodyPr/>
          <a:lstStyle/>
          <a:p>
            <a:pPr>
              <a:defRPr sz="1050">
                <a:solidFill>
                  <a:srgbClr val="0F293D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2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54864" cy="6858000"/>
          </a:xfrm>
          <a:prstGeom prst="rect">
            <a:avLst/>
          </a:prstGeom>
          <a:solidFill>
            <a:srgbClr val="12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7A7A"/>
                </a:solidFill>
                <a:latin typeface="Segoe UI Semibold"/>
              </a:rPr>
              <a:t>CEBA CLEAN ENERGY PROCUREMENT WORKSHOP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0">
                <a:solidFill>
                  <a:srgbClr val="0F293D"/>
                </a:solidFill>
                <a:latin typeface="Segoe UI Light"/>
              </a:rPr>
              <a:t>Solar + BESS: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>
                <a:solidFill>
                  <a:srgbClr val="0F293D"/>
                </a:solidFill>
                <a:latin typeface="Segoe UI Semibold"/>
              </a:rPr>
              <a:t>The Economic 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886200"/>
            <a:ext cx="2926080" cy="30480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56677"/>
                </a:solidFill>
                <a:latin typeface="Segoe UI"/>
              </a:rPr>
              <a:t>A techno-economic analysis of four clean-energy procurement strategies for a </a:t>
            </a:r>
            <a:r>
              <a:rPr sz="1500" b="1">
                <a:solidFill>
                  <a:srgbClr val="0F293D"/>
                </a:solidFill>
                <a:latin typeface="Segoe UI Semibold"/>
              </a:rPr>
              <a:t>single Vietnamese manufacturer — Factory 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715000"/>
            <a:ext cx="2688336" cy="402336"/>
          </a:xfrm>
          <a:prstGeom prst="rect">
            <a:avLst/>
          </a:prstGeom>
          <a:solidFill>
            <a:srgbClr val="F1F5F7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15000"/>
            <a:ext cx="2688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56677"/>
                </a:solidFill>
                <a:latin typeface="Segoe UI Semibold"/>
              </a:rPr>
              <a:t>REopt MILP system optimization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21608" y="5715000"/>
            <a:ext cx="2015337" cy="402336"/>
          </a:xfrm>
          <a:prstGeom prst="rect">
            <a:avLst/>
          </a:prstGeom>
          <a:solidFill>
            <a:srgbClr val="F1F5F7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5715000"/>
            <a:ext cx="2015337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56677"/>
                </a:solidFill>
                <a:latin typeface="Segoe UI Semibold"/>
              </a:rPr>
              <a:t>25-year ESCO pro forma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01537" y="5715000"/>
            <a:ext cx="1510588" cy="402336"/>
          </a:xfrm>
          <a:prstGeom prst="rect">
            <a:avLst/>
          </a:prstGeom>
          <a:solidFill>
            <a:srgbClr val="F1F5F7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1537" y="5715000"/>
            <a:ext cx="15105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56677"/>
                </a:solidFill>
                <a:latin typeface="Segoe UI Semibold"/>
              </a:rPr>
              <a:t>70% project debt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6717" y="5715000"/>
            <a:ext cx="2435961" cy="402336"/>
          </a:xfrm>
          <a:prstGeom prst="rect">
            <a:avLst/>
          </a:prstGeom>
          <a:solidFill>
            <a:srgbClr val="F1F5F7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6717" y="5715000"/>
            <a:ext cx="243596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56677"/>
                </a:solidFill>
                <a:latin typeface="Segoe UI Semibold"/>
              </a:rPr>
              <a:t>9.3 GWh/yr load · 22–110 kV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12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7A7A"/>
                </a:solidFill>
                <a:latin typeface="Segoe UI Semibold"/>
              </a:rPr>
              <a:t>THE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7665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0F293D"/>
                </a:solidFill>
                <a:latin typeface="Segoe UI Semibold"/>
              </a:rPr>
              <a:t>One Factory, Four Procurement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98448"/>
            <a:ext cx="10771632" cy="17780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5448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7A7A"/>
                </a:solidFill>
                <a:latin typeface="Segoe UI Semibold"/>
              </a:rPr>
              <a:t>FACTORY A — LOAD PROFILE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874519"/>
            <a:ext cx="3977639" cy="841248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874519"/>
            <a:ext cx="64008" cy="841248"/>
          </a:xfrm>
          <a:prstGeom prst="rect">
            <a:avLst/>
          </a:prstGeom>
          <a:solidFill>
            <a:srgbClr val="12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39111"/>
            <a:ext cx="359359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27A7A"/>
                </a:solidFill>
                <a:latin typeface="Segoe UI Semibold"/>
              </a:rPr>
              <a:t>9.3 GWh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F293D"/>
                </a:solidFill>
                <a:latin typeface="Segoe UI Semibold"/>
              </a:rPr>
              <a:t>Annual electricity demand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825495"/>
            <a:ext cx="3977639" cy="841248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825495"/>
            <a:ext cx="64008" cy="841248"/>
          </a:xfrm>
          <a:prstGeom prst="rect">
            <a:avLst/>
          </a:prstGeom>
          <a:solidFill>
            <a:srgbClr val="0F2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990087"/>
            <a:ext cx="359359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F293D"/>
                </a:solidFill>
                <a:latin typeface="Segoe UI Semibold"/>
              </a:rPr>
              <a:t>2.43 MW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F293D"/>
                </a:solidFill>
                <a:latin typeface="Segoe UI Semibold"/>
              </a:rPr>
              <a:t>Peak demand · flat industrial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776471"/>
            <a:ext cx="3977639" cy="841248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776471"/>
            <a:ext cx="64008" cy="841248"/>
          </a:xfrm>
          <a:prstGeom prst="rect">
            <a:avLst/>
          </a:prstGeom>
          <a:solidFill>
            <a:srgbClr val="0F2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941063"/>
            <a:ext cx="359359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F293D"/>
                </a:solidFill>
                <a:latin typeface="Segoe UI Semibold"/>
              </a:rPr>
              <a:t>22–110 kV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F293D"/>
                </a:solidFill>
                <a:latin typeface="Segoe UI Semibold"/>
              </a:rPr>
              <a:t>Grid connection voltage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727447"/>
            <a:ext cx="3977639" cy="841248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4727447"/>
            <a:ext cx="64008" cy="841248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892039"/>
            <a:ext cx="359359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09A2B"/>
                </a:solidFill>
                <a:latin typeface="Segoe UI Semibold"/>
              </a:rPr>
              <a:t>S. Vietnam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F293D"/>
                </a:solidFill>
                <a:latin typeface="Segoe UI Semibold"/>
              </a:rPr>
              <a:t>HCMC region · strong solar resource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5544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7A7A"/>
                </a:solidFill>
                <a:latin typeface="Segoe UI Semibold"/>
              </a:rPr>
              <a:t>THE FOUR SCENARIOS — EACH INDEPENDENTLY SIZE-OPTIMIZED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1874519"/>
            <a:ext cx="3200400" cy="1627632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4920" y="1874519"/>
            <a:ext cx="3200400" cy="73152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76088" y="2057399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E9E5B"/>
                </a:solidFill>
                <a:latin typeface="Segoe UI Semibold"/>
              </a:rPr>
              <a:t>CASE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2276855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293D"/>
                </a:solidFill>
                <a:latin typeface="Segoe UI Semibold"/>
              </a:rPr>
              <a:t>Solar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2660903"/>
            <a:ext cx="281635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56677"/>
                </a:solidFill>
                <a:latin typeface="Segoe UI"/>
              </a:rPr>
              <a:t>New TOU (Decision 963). PV only — no storage. The conventional rooftop benchmark.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22208" y="1874519"/>
            <a:ext cx="3200400" cy="1627632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22208" y="1874519"/>
            <a:ext cx="3200400" cy="73152"/>
          </a:xfrm>
          <a:prstGeom prst="rect">
            <a:avLst/>
          </a:prstGeom>
          <a:solidFill>
            <a:srgbClr val="12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23376" y="2057399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27A7A"/>
                </a:solidFill>
                <a:latin typeface="Segoe UI Semibold"/>
              </a:rPr>
              <a:t>CASE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3376" y="2276855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293D"/>
                </a:solidFill>
                <a:latin typeface="Segoe UI Semibold"/>
              </a:rPr>
              <a:t>Solar + BESS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3376" y="2660903"/>
            <a:ext cx="281635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56677"/>
                </a:solidFill>
                <a:latin typeface="Segoe UI"/>
              </a:rPr>
              <a:t>Today's tariff (current TOU). Integrated PV + battery, the baseline integrated system.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3685031"/>
            <a:ext cx="3200400" cy="1627632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74920" y="3685031"/>
            <a:ext cx="3200400" cy="73152"/>
          </a:xfrm>
          <a:prstGeom prst="rect">
            <a:avLst/>
          </a:prstGeom>
          <a:solidFill>
            <a:srgbClr val="12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76088" y="3867911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27A7A"/>
                </a:solidFill>
                <a:latin typeface="Segoe UI Semibold"/>
              </a:rPr>
              <a:t>CASE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76088" y="4087367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293D"/>
                </a:solidFill>
                <a:latin typeface="Segoe UI Semibold"/>
              </a:rPr>
              <a:t>Solar + BESS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76088" y="4471415"/>
            <a:ext cx="281635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56677"/>
                </a:solidFill>
                <a:latin typeface="Segoe UI"/>
              </a:rPr>
              <a:t>New evening-peak TOU (Decision 963, 17:30–22:30). Integrated PV + battery.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22208" y="3685031"/>
            <a:ext cx="3200400" cy="1627632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22208" y="3685031"/>
            <a:ext cx="3200400" cy="73152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23376" y="3867911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09A2B"/>
                </a:solidFill>
                <a:latin typeface="Segoe UI Semibold"/>
              </a:rPr>
              <a:t>CASE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23376" y="4087367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293D"/>
                </a:solidFill>
                <a:latin typeface="Segoe UI Semibold"/>
              </a:rPr>
              <a:t>Solar + BESS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3376" y="4471415"/>
            <a:ext cx="281635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56677"/>
                </a:solidFill>
                <a:latin typeface="Segoe UI"/>
              </a:rPr>
              <a:t>New TOU + two-component capacity tariff (~209,459 VND/kW/mo). PV + battery.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F293D"/>
                </a:solidFill>
                <a:latin typeface="Segoe UI Semibold"/>
              </a:rPr>
              <a:t>Method:  </a:t>
            </a:r>
            <a:r>
              <a:rPr sz="950" b="0">
                <a:solidFill>
                  <a:srgbClr val="556677"/>
                </a:solidFill>
                <a:latin typeface="Segoe UI"/>
              </a:rPr>
              <a:t>PV and battery sizes are optimized in REopt for each tariff, then evaluated over a 25-year ESCO pro forma (70% debt). All monetary figures in USD. One anomalous 24-hour data spike was removed from the metered load.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8A98A5"/>
                </a:solidFill>
                <a:latin typeface="Segoe UI"/>
              </a:rPr>
              <a:t>Factory A · Solar + BESS Techno-Economic Case Study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446520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8A98A5"/>
                </a:solidFill>
                <a:latin typeface="Segoe UI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E9E5B"/>
                </a:solidFill>
                <a:latin typeface="Segoe UI Semibold"/>
              </a:rPr>
              <a:t>FINDING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7665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0F293D"/>
                </a:solidFill>
                <a:latin typeface="Segoe UI Semibold"/>
              </a:rPr>
              <a:t>Solar Alone Stalls at One-Third of Demand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98448"/>
            <a:ext cx="10771632" cy="17780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002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56677"/>
                </a:solidFill>
                <a:latin typeface="Segoe UI"/>
              </a:rPr>
              <a:t>Even fully optimized, a solar-only system meets only </a:t>
            </a:r>
            <a:r>
              <a:rPr sz="1400" b="1">
                <a:solidFill>
                  <a:srgbClr val="0F293D"/>
                </a:solidFill>
                <a:latin typeface="Segoe UI Semibold"/>
              </a:rPr>
              <a:t>36% of the factory's load.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5257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E9E5B"/>
                </a:solidFill>
                <a:latin typeface="Segoe UI Semibold"/>
              </a:rPr>
              <a:t>Why it plateaus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56677"/>
                </a:solidFill>
                <a:latin typeface="Segoe UI"/>
              </a:rPr>
              <a:t>Under Decision 963 the priced peak shifts to 17:30–22:30 — after sunset. Daytime panels offset only midday consumption.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56677"/>
                </a:solidFill>
                <a:latin typeface="Segoe UI"/>
              </a:rPr>
              <a:t>The expensive evening peak stays on full-price grid power.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56677"/>
                </a:solidFill>
                <a:latin typeface="Segoe UI"/>
              </a:rPr>
              <a:t>Adding more panels doesn't help: past ~36% of load, midday surplus is curtailed or exported at low value — so the optimizer stops at 3.45 MW.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0F293D"/>
                </a:solidFill>
                <a:latin typeface="Segoe UI Semibold"/>
              </a:rPr>
              <a:t>It is a partial daytime hedge — not a path to 24/7 clean energy.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0" y="1600200"/>
          <a:ext cx="3657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4892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A98A5"/>
                </a:solidFill>
                <a:latin typeface="Segoe UI"/>
              </a:rPr>
              <a:t>Optimal system: 3.45 MW PV, no 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440680"/>
            <a:ext cx="2542032" cy="841248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5440680"/>
            <a:ext cx="64008" cy="84124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5605272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2E9E5B"/>
                </a:solidFill>
                <a:latin typeface="Segoe UI Semibold"/>
              </a:rPr>
              <a:t>36%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F293D"/>
                </a:solidFill>
                <a:latin typeface="Segoe UI Semibold"/>
              </a:rPr>
              <a:t>Clean self-supply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2424" y="5440680"/>
            <a:ext cx="2542032" cy="841248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2424" y="5440680"/>
            <a:ext cx="64008" cy="841248"/>
          </a:xfrm>
          <a:prstGeom prst="rect">
            <a:avLst/>
          </a:prstGeom>
          <a:solidFill>
            <a:srgbClr val="0F2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5605272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F293D"/>
                </a:solidFill>
                <a:latin typeface="Segoe UI Semibold"/>
              </a:rPr>
              <a:t>$245k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F293D"/>
                </a:solidFill>
                <a:latin typeface="Segoe UI Semibold"/>
              </a:rPr>
              <a:t>Annual bill savings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1616" y="5440680"/>
            <a:ext cx="2542032" cy="841248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5440680"/>
            <a:ext cx="64008" cy="841248"/>
          </a:xfrm>
          <a:prstGeom prst="rect">
            <a:avLst/>
          </a:prstGeom>
          <a:solidFill>
            <a:srgbClr val="12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5605272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27A7A"/>
                </a:solidFill>
                <a:latin typeface="Segoe UI Semibold"/>
              </a:rPr>
              <a:t>18.7%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F293D"/>
                </a:solidFill>
                <a:latin typeface="Segoe UI Semibold"/>
              </a:rPr>
              <a:t>Equity IRR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50808" y="5440680"/>
            <a:ext cx="2542032" cy="841248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0808" y="5440680"/>
            <a:ext cx="64008" cy="841248"/>
          </a:xfrm>
          <a:prstGeom prst="rect">
            <a:avLst/>
          </a:prstGeom>
          <a:solidFill>
            <a:srgbClr val="0F2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5605272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0F293D"/>
                </a:solidFill>
                <a:latin typeface="Segoe UI Semibold"/>
              </a:rPr>
              <a:t>$0.80M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F293D"/>
                </a:solidFill>
                <a:latin typeface="Segoe UI Semibold"/>
              </a:rPr>
              <a:t>25-year NPV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8A98A5"/>
                </a:solidFill>
                <a:latin typeface="Segoe UI"/>
              </a:rPr>
              <a:t>Factory A · Solar + BESS Techno-Economic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46520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8A98A5"/>
                </a:solidFill>
                <a:latin typeface="Segoe UI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12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7A7A"/>
                </a:solidFill>
                <a:latin typeface="Segoe UI Semibold"/>
              </a:rPr>
              <a:t>FINDING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7665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0F293D"/>
                </a:solidFill>
                <a:latin typeface="Segoe UI Semibold"/>
              </a:rPr>
              <a:t>Storage Nearly Doubles Clean Supply — and Savings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98448"/>
            <a:ext cx="10771632" cy="17780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93D"/>
                </a:solidFill>
                <a:latin typeface="Segoe UI Semibold"/>
              </a:rPr>
              <a:t>Same factory, same new tariff — add a battery (Case 4 → Case 2):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2148840"/>
          <a:ext cx="475488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192024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7A7A"/>
                </a:solidFill>
                <a:latin typeface="Segoe UI Semibold"/>
              </a:rPr>
              <a:t>CLEAN SELF-SUPPLY (% of load)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989320" y="2148840"/>
          <a:ext cx="475488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89320" y="192024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9A2B"/>
                </a:solidFill>
                <a:latin typeface="Segoe UI Semibold"/>
              </a:rPr>
              <a:t>ANNUAL BILL SAVINGS (USD)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440680"/>
            <a:ext cx="10771632" cy="868680"/>
          </a:xfrm>
          <a:prstGeom prst="rect">
            <a:avLst/>
          </a:prstGeom>
          <a:solidFill>
            <a:srgbClr val="F1F5F7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440680"/>
            <a:ext cx="82296" cy="868680"/>
          </a:xfrm>
          <a:prstGeom prst="rect">
            <a:avLst/>
          </a:prstGeom>
          <a:solidFill>
            <a:srgbClr val="12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41264"/>
            <a:ext cx="10241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293D"/>
                </a:solidFill>
                <a:latin typeface="Segoe UI Semibold"/>
              </a:rPr>
              <a:t>+30 points clean energy   ·   +$324k/yr savings   ·   </a:t>
            </a:r>
            <a:r>
              <a:rPr sz="1350" b="0">
                <a:solidFill>
                  <a:srgbClr val="556677"/>
                </a:solidFill>
                <a:latin typeface="Segoe UI"/>
              </a:rPr>
              <a:t>and the package still earns 16% equity IRR with $1.44M NPV.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6677"/>
                </a:solidFill>
                <a:latin typeface="Segoe UI"/>
              </a:rPr>
              <a:t>The battery shifts midday solar into the evening peak — turning a daytime hedge into round-the-clock clean supply.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8A98A5"/>
                </a:solidFill>
                <a:latin typeface="Segoe UI"/>
              </a:rPr>
              <a:t>Factory A · Solar + BESS Techno-Economic 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46520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8A98A5"/>
                </a:solidFill>
                <a:latin typeface="Segoe UI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9A2B"/>
                </a:solidFill>
                <a:latin typeface="Segoe UI Semibold"/>
              </a:rPr>
              <a:t>FINDING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7665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0F293D"/>
                </a:solidFill>
                <a:latin typeface="Segoe UI Semibold"/>
              </a:rPr>
              <a:t>The 2026 Capacity Tariff Makes Peak-Shaving the Prize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98448"/>
            <a:ext cx="10771632" cy="17780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54480"/>
            <a:ext cx="5212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677"/>
                </a:solidFill>
                <a:latin typeface="Segoe UI"/>
              </a:rPr>
              <a:t>When EVN starts billing capacity (~209,459 VND/kW/month), the dominant value flips from energy arbitrage to </a:t>
            </a:r>
            <a:r>
              <a:rPr sz="1200" b="1">
                <a:solidFill>
                  <a:srgbClr val="0F293D"/>
                </a:solidFill>
                <a:latin typeface="Segoe UI Semibold"/>
              </a:rPr>
              <a:t>demand-charge avoidance.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55667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677"/>
                </a:solidFill>
                <a:latin typeface="Segoe UI"/>
              </a:rPr>
              <a:t>The optimizer adds battery power to cut the grid peak nearly in half: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E09A2B"/>
                </a:solidFill>
                <a:latin typeface="Segoe UI Semibold"/>
              </a:rPr>
              <a:t>2,428 kW → 1,311 kW</a:t>
            </a:r>
            <a:r>
              <a:rPr sz="1400" b="1">
                <a:solidFill>
                  <a:srgbClr val="556677"/>
                </a:solidFill>
                <a:latin typeface="Segoe UI Semibold"/>
              </a:rPr>
              <a:t>  (−46%)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55667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677"/>
                </a:solidFill>
                <a:latin typeface="Segoe UI"/>
              </a:rPr>
              <a:t>Returns tighten as the system grows — but every metric stays bankable, and this is the tariff Factory A will actually face in 2026.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26480" y="1828800"/>
          <a:ext cx="466344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2763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9A2B"/>
                </a:solidFill>
                <a:latin typeface="Segoe UI Semibold"/>
              </a:rPr>
              <a:t>PEAK GRID DEMAND — CASE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5212080"/>
            <a:ext cx="2542032" cy="1078992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5212080"/>
            <a:ext cx="64008" cy="1078992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349240"/>
            <a:ext cx="2240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E09A2B"/>
                </a:solidFill>
                <a:latin typeface="Segoe UI Semibold"/>
              </a:rPr>
              <a:t>$129k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56677"/>
                </a:solidFill>
                <a:latin typeface="Segoe UI"/>
              </a:rPr>
              <a:t>Demand-charge
savings / yr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2424" y="5212080"/>
            <a:ext cx="2542032" cy="1078992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2424" y="5212080"/>
            <a:ext cx="64008" cy="1078992"/>
          </a:xfrm>
          <a:prstGeom prst="rect">
            <a:avLst/>
          </a:prstGeom>
          <a:solidFill>
            <a:srgbClr val="12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5349240"/>
            <a:ext cx="2240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27A7A"/>
                </a:solidFill>
                <a:latin typeface="Segoe UI Semibold"/>
              </a:rPr>
              <a:t>-65%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56677"/>
                </a:solidFill>
                <a:latin typeface="Segoe UI"/>
              </a:rPr>
              <a:t>Total bill
($758k → $263k)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5212080"/>
            <a:ext cx="2542032" cy="1078992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71616" y="5212080"/>
            <a:ext cx="64008" cy="1078992"/>
          </a:xfrm>
          <a:prstGeom prst="rect">
            <a:avLst/>
          </a:prstGeom>
          <a:solidFill>
            <a:srgbClr val="0F2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5349240"/>
            <a:ext cx="2240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0F293D"/>
                </a:solidFill>
                <a:latin typeface="Segoe UI Semibold"/>
              </a:rPr>
              <a:t>12.4%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56677"/>
                </a:solidFill>
                <a:latin typeface="Segoe UI"/>
              </a:rPr>
              <a:t>Equity IRR
(still bankable)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50808" y="5212080"/>
            <a:ext cx="2542032" cy="1078992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50808" y="5212080"/>
            <a:ext cx="64008" cy="1078992"/>
          </a:xfrm>
          <a:prstGeom prst="rect">
            <a:avLst/>
          </a:prstGeom>
          <a:solidFill>
            <a:srgbClr val="0F2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0264" y="5349240"/>
            <a:ext cx="2240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0F293D"/>
                </a:solidFill>
                <a:latin typeface="Segoe UI Semibold"/>
              </a:rPr>
              <a:t>1.01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56677"/>
                </a:solidFill>
                <a:latin typeface="Segoe UI"/>
              </a:rPr>
              <a:t>Avg DSCR
(debt-serviceable)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8A98A5"/>
                </a:solidFill>
                <a:latin typeface="Segoe UI"/>
              </a:rPr>
              <a:t>Factory A · Solar + BESS Techno-Economic Case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8A98A5"/>
                </a:solidFill>
                <a:latin typeface="Segoe UI Semi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0F2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293D"/>
                </a:solidFill>
                <a:latin typeface="Segoe UI Semibold"/>
              </a:rPr>
              <a:t>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7665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0F293D"/>
                </a:solidFill>
                <a:latin typeface="Segoe UI Semibold"/>
              </a:rPr>
              <a:t>Full Techno-Economic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98448"/>
            <a:ext cx="10771632" cy="17780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508760"/>
          <a:ext cx="8229600" cy="4270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440180"/>
                <a:gridCol w="1440180"/>
                <a:gridCol w="1440180"/>
                <a:gridCol w="14401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/>
                      </a:r>
                    </a:p>
                  </a:txBody>
                  <a:tcPr marL="109728" marR="54864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Solar Only</a:t>
                      </a:r>
                    </a:p>
                  </a:txBody>
                  <a:tcPr marL="109728" marR="54864" marT="18288" marB="18288" anchor="ctr">
                    <a:solidFill>
                      <a:srgbClr val="2E9E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Solar + BESS</a:t>
                      </a:r>
                    </a:p>
                  </a:txBody>
                  <a:tcPr marL="109728" marR="54864" marT="18288" marB="18288" anchor="ctr">
                    <a:solidFill>
                      <a:srgbClr val="127A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Solar + BESS</a:t>
                      </a:r>
                    </a:p>
                  </a:txBody>
                  <a:tcPr marL="109728" marR="54864" marT="18288" marB="18288" anchor="ctr">
                    <a:solidFill>
                      <a:srgbClr val="127A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Solar + BESS</a:t>
                      </a:r>
                    </a:p>
                  </a:txBody>
                  <a:tcPr marL="109728" marR="54864" marT="18288" marB="18288" anchor="ctr">
                    <a:solidFill>
                      <a:srgbClr val="E09A2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i="1" b="1">
                          <a:solidFill>
                            <a:srgbClr val="556677"/>
                          </a:solidFill>
                          <a:latin typeface="Segoe UI"/>
                        </a:rPr>
                        <a:t>Tariff regime</a:t>
                      </a:r>
                    </a:p>
                  </a:txBody>
                  <a:tcPr marL="109728" marR="54864" marT="18288" marB="18288" anchor="ctr">
                    <a:solidFill>
                      <a:srgbClr val="F1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i="1" b="0">
                          <a:solidFill>
                            <a:srgbClr val="556677"/>
                          </a:solidFill>
                          <a:latin typeface="Segoe UI"/>
                        </a:rPr>
                        <a:t>New TOU 963</a:t>
                      </a:r>
                    </a:p>
                  </a:txBody>
                  <a:tcPr marL="109728" marR="54864" marT="18288" marB="18288" anchor="ctr">
                    <a:solidFill>
                      <a:srgbClr val="F1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i="1" b="0">
                          <a:solidFill>
                            <a:srgbClr val="556677"/>
                          </a:solidFill>
                          <a:latin typeface="Segoe UI"/>
                        </a:rPr>
                        <a:t>Current TOU</a:t>
                      </a:r>
                    </a:p>
                  </a:txBody>
                  <a:tcPr marL="109728" marR="54864" marT="18288" marB="18288" anchor="ctr">
                    <a:solidFill>
                      <a:srgbClr val="F1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i="1" b="0">
                          <a:solidFill>
                            <a:srgbClr val="556677"/>
                          </a:solidFill>
                          <a:latin typeface="Segoe UI"/>
                        </a:rPr>
                        <a:t>New TOU 963</a:t>
                      </a:r>
                    </a:p>
                  </a:txBody>
                  <a:tcPr marL="109728" marR="54864" marT="18288" marB="18288" anchor="ctr">
                    <a:solidFill>
                      <a:srgbClr val="F1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i="1" b="0">
                          <a:solidFill>
                            <a:srgbClr val="556677"/>
                          </a:solidFill>
                          <a:latin typeface="Segoe UI"/>
                        </a:rPr>
                        <a:t>TOU 963 + 2-comp.</a:t>
                      </a:r>
                    </a:p>
                  </a:txBody>
                  <a:tcPr marL="109728" marR="54864" marT="18288" marB="18288" anchor="ctr">
                    <a:solidFill>
                      <a:srgbClr val="F1F5F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93D"/>
                          </a:solidFill>
                          <a:latin typeface="Segoe UI Semibold"/>
                        </a:rPr>
                        <a:t>PV size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3.45 MW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5.32 MW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5.91 MW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5.77 MW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93D"/>
                          </a:solidFill>
                          <a:latin typeface="Segoe UI Semibold"/>
                        </a:rPr>
                        <a:t>Battery (power / energy)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1.66 / 8.3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1.80 / 10.7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1.83 / 11.7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93D"/>
                          </a:solidFill>
                          <a:latin typeface="Segoe UI Semibold"/>
                        </a:rPr>
                        <a:t>Clean self-supply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E9E5B"/>
                          </a:solidFill>
                          <a:latin typeface="Segoe UI"/>
                        </a:rPr>
                        <a:t>35.8%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27A7A"/>
                          </a:solidFill>
                          <a:latin typeface="Segoe UI"/>
                        </a:rPr>
                        <a:t>59.5%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27A7A"/>
                          </a:solidFill>
                          <a:latin typeface="Segoe UI"/>
                        </a:rPr>
                        <a:t>65.5%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E09A2B"/>
                          </a:solidFill>
                          <a:latin typeface="Segoe UI"/>
                        </a:rPr>
                        <a:t>65.8%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93D"/>
                          </a:solidFill>
                          <a:latin typeface="Segoe UI Semibold"/>
                        </a:rPr>
                        <a:t>Total CapEx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$1.66M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$3.68M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$4.27M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$4.32M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93D"/>
                          </a:solidFill>
                          <a:latin typeface="Segoe UI Semibold"/>
                        </a:rPr>
                        <a:t>Annual bill savings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$245k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$531k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$569k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$494k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93D"/>
                          </a:solidFill>
                          <a:latin typeface="Segoe UI Semibold"/>
                        </a:rPr>
                        <a:t>Equity IRR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E9E5B"/>
                          </a:solidFill>
                          <a:latin typeface="Segoe UI"/>
                        </a:rPr>
                        <a:t>18.7%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27A7A"/>
                          </a:solidFill>
                          <a:latin typeface="Segoe UI"/>
                        </a:rPr>
                        <a:t>18.2%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27A7A"/>
                          </a:solidFill>
                          <a:latin typeface="Segoe UI"/>
                        </a:rPr>
                        <a:t>16.1%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E09A2B"/>
                          </a:solidFill>
                          <a:latin typeface="Segoe UI"/>
                        </a:rPr>
                        <a:t>12.4%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93D"/>
                          </a:solidFill>
                          <a:latin typeface="Segoe UI Semibold"/>
                        </a:rPr>
                        <a:t>25-year NPV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$0.80M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$1.65M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$1.44M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$0.59M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93D"/>
                          </a:solidFill>
                          <a:latin typeface="Segoe UI Semibold"/>
                        </a:rPr>
                        <a:t>Average DSCR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1.33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1.31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1.21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1.01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93D"/>
                          </a:solidFill>
                          <a:latin typeface="Segoe UI Semibold"/>
                        </a:rPr>
                        <a:t>Simple payback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9.0 yr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9.4 yr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10.5 yr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56677"/>
                          </a:solidFill>
                          <a:latin typeface="Segoe UI"/>
                        </a:rPr>
                        <a:t>12.2 yr</a:t>
                      </a:r>
                    </a:p>
                  </a:txBody>
                  <a:tcPr marL="109728" marR="54864" marT="18288" marB="18288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189720" y="1508760"/>
            <a:ext cx="2286000" cy="4617720"/>
          </a:xfrm>
          <a:prstGeom prst="rect">
            <a:avLst/>
          </a:prstGeom>
          <a:solidFill>
            <a:srgbClr val="F1F5F7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0888" y="169164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F293D"/>
                </a:solidFill>
                <a:latin typeface="Segoe UI Semibold"/>
              </a:rPr>
              <a:t>READING THE TABLE</a:t>
            </a:r>
          </a:p>
        </p:txBody>
      </p:sp>
      <p:sp>
        <p:nvSpPr>
          <p:cNvPr id="10" name="Oval 9"/>
          <p:cNvSpPr/>
          <p:nvPr/>
        </p:nvSpPr>
        <p:spPr>
          <a:xfrm>
            <a:off x="9390888" y="2139696"/>
            <a:ext cx="64008" cy="64008"/>
          </a:xfrm>
          <a:prstGeom prst="ellipse">
            <a:avLst/>
          </a:prstGeom>
          <a:solidFill>
            <a:srgbClr val="0F2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55480" y="2066544"/>
            <a:ext cx="1783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56677"/>
                </a:solidFill>
                <a:latin typeface="Segoe UI"/>
              </a:rPr>
              <a:t>All four are NPV-positive and clear DSCR ≥ 1.0 — every option is financeable.</a:t>
            </a:r>
          </a:p>
        </p:txBody>
      </p:sp>
      <p:sp>
        <p:nvSpPr>
          <p:cNvPr id="12" name="Oval 11"/>
          <p:cNvSpPr/>
          <p:nvPr/>
        </p:nvSpPr>
        <p:spPr>
          <a:xfrm>
            <a:off x="9390888" y="3163824"/>
            <a:ext cx="64008" cy="64008"/>
          </a:xfrm>
          <a:prstGeom prst="ellipse">
            <a:avLst/>
          </a:prstGeom>
          <a:solidFill>
            <a:srgbClr val="12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3090672"/>
            <a:ext cx="1783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56677"/>
                </a:solidFill>
                <a:latin typeface="Segoe UI"/>
              </a:rPr>
              <a:t>Adding BESS lifts clean supply from 36% to ~60–66%.</a:t>
            </a:r>
          </a:p>
        </p:txBody>
      </p:sp>
      <p:sp>
        <p:nvSpPr>
          <p:cNvPr id="14" name="Oval 13"/>
          <p:cNvSpPr/>
          <p:nvPr/>
        </p:nvSpPr>
        <p:spPr>
          <a:xfrm>
            <a:off x="9390888" y="4187952"/>
            <a:ext cx="64008" cy="64008"/>
          </a:xfrm>
          <a:prstGeom prst="ellipse">
            <a:avLst/>
          </a:prstGeom>
          <a:solidFill>
            <a:srgbClr val="E09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4114800"/>
            <a:ext cx="1783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56677"/>
                </a:solidFill>
                <a:latin typeface="Segoe UI"/>
              </a:rPr>
              <a:t>Tariff reform compresses returns (18% → 12%) but never breaks bankability.</a:t>
            </a:r>
          </a:p>
        </p:txBody>
      </p:sp>
      <p:sp>
        <p:nvSpPr>
          <p:cNvPr id="16" name="Oval 15"/>
          <p:cNvSpPr/>
          <p:nvPr/>
        </p:nvSpPr>
        <p:spPr>
          <a:xfrm>
            <a:off x="9390888" y="5212080"/>
            <a:ext cx="64008" cy="64008"/>
          </a:xfrm>
          <a:prstGeom prst="ellipse">
            <a:avLst/>
          </a:prstGeom>
          <a:solidFill>
            <a:srgbClr val="5566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5138928"/>
            <a:ext cx="1783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56677"/>
                </a:solidFill>
                <a:latin typeface="Segoe UI"/>
              </a:rPr>
              <a:t>Solar-only has the highest IRR but the lowest absolute value and clean share.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8A98A5"/>
                </a:solidFill>
                <a:latin typeface="Segoe UI"/>
              </a:rPr>
              <a:t>Factory A · Solar + BESS Techno-Economic Case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46520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8A98A5"/>
                </a:solidFill>
                <a:latin typeface="Segoe UI Semi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12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7A7A"/>
                </a:solidFill>
                <a:latin typeface="Segoe UI Semibold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7665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0F293D"/>
                </a:solidFill>
                <a:latin typeface="Segoe UI Semibold"/>
              </a:rPr>
              <a:t>What the Four Cases Tell CEBA Members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98448"/>
            <a:ext cx="10771632" cy="17780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572768"/>
            <a:ext cx="7360920" cy="969264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572768"/>
            <a:ext cx="713232" cy="96926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64208"/>
            <a:ext cx="7132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700784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F293D"/>
                </a:solidFill>
                <a:latin typeface="Segoe UI Semibold"/>
              </a:rPr>
              <a:t>Solar alone is only a partial hedge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075688"/>
            <a:ext cx="6355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6677"/>
                </a:solidFill>
                <a:latin typeface="Segoe UI"/>
              </a:rPr>
              <a:t>Optimized rooftop PV caps at ~36% of demand and leaves the priced evening peak on the grid.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624328"/>
            <a:ext cx="7360920" cy="969264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624328"/>
            <a:ext cx="713232" cy="969264"/>
          </a:xfrm>
          <a:prstGeom prst="rect">
            <a:avLst/>
          </a:prstGeom>
          <a:solidFill>
            <a:srgbClr val="127A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15768"/>
            <a:ext cx="7132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2752344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F293D"/>
                </a:solidFill>
                <a:latin typeface="Segoe UI Semibold"/>
              </a:rPr>
              <a:t>BESS is what unlocks 24/7 clean energy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3127248"/>
            <a:ext cx="6355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6677"/>
                </a:solidFill>
                <a:latin typeface="Segoe UI"/>
              </a:rPr>
              <a:t>Storage lifts clean self-supply to 60–66% and roughly doubles bill savings — while equity IRR stays 16–18% and NPV stays positive.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675888"/>
            <a:ext cx="7360920" cy="969264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675888"/>
            <a:ext cx="713232" cy="969264"/>
          </a:xfrm>
          <a:prstGeom prst="rect">
            <a:avLst/>
          </a:prstGeom>
          <a:solidFill>
            <a:srgbClr val="0F2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767328"/>
            <a:ext cx="7132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3803904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F293D"/>
                </a:solidFill>
                <a:latin typeface="Segoe UI Semibold"/>
              </a:rPr>
              <a:t>Tariff reform compresses but never breaks the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4178808"/>
            <a:ext cx="6355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6677"/>
                </a:solidFill>
                <a:latin typeface="Segoe UI"/>
              </a:rPr>
              <a:t>Across current TOU, Decision 963 and the two-component tariff, every Solar+BESS case clears DSCR ≥ 1.0 and remains financeable.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727448"/>
            <a:ext cx="7360920" cy="969264"/>
          </a:xfrm>
          <a:prstGeom prst="rect">
            <a:avLst/>
          </a:prstGeom>
          <a:solidFill>
            <a:srgbClr val="F7F9FA"/>
          </a:solidFill>
          <a:ln w="12700">
            <a:solidFill>
              <a:srgbClr val="DDE4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727448"/>
            <a:ext cx="713232" cy="969264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818888"/>
            <a:ext cx="7132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4855464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F293D"/>
                </a:solidFill>
                <a:latin typeface="Segoe UI Semibold"/>
              </a:rPr>
              <a:t>Size the battery for the 2026 tariff — not today's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2" y="5230368"/>
            <a:ext cx="6355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6677"/>
                </a:solidFill>
                <a:latin typeface="Segoe UI"/>
              </a:rPr>
              <a:t>Under the two-component capacity charge, demand-charge avoidance (peak −46%) becomes the single largest value stream. Size for power, not just energy.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1572768"/>
            <a:ext cx="3200400" cy="4334256"/>
          </a:xfrm>
          <a:prstGeom prst="rect">
            <a:avLst/>
          </a:prstGeom>
          <a:solidFill>
            <a:srgbClr val="0F2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1572768"/>
            <a:ext cx="3200400" cy="91440"/>
          </a:xfrm>
          <a:prstGeom prst="rect">
            <a:avLst/>
          </a:prstGeom>
          <a:solidFill>
            <a:srgbClr val="E09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1874519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9A2B"/>
                </a:solidFill>
                <a:latin typeface="Segoe UI Semibold"/>
              </a:rPr>
              <a:t>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286000"/>
            <a:ext cx="2697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Pursue integrated </a:t>
            </a:r>
            <a:r>
              <a:rPr sz="1500" b="1">
                <a:solidFill>
                  <a:srgbClr val="FFFFFF"/>
                </a:solidFill>
                <a:latin typeface="Segoe UI Semibold"/>
              </a:rPr>
              <a:t>Solar + BESS now</a:t>
            </a:r>
            <a:r>
              <a:rPr sz="1500" b="0">
                <a:solidFill>
                  <a:srgbClr val="FFFFFF"/>
                </a:solidFill>
                <a:latin typeface="Segoe UI"/>
              </a:rPr>
              <a:t> — and size storage to the </a:t>
            </a:r>
            <a:r>
              <a:rPr sz="1500" b="1">
                <a:solidFill>
                  <a:srgbClr val="E09A2B"/>
                </a:solidFill>
                <a:latin typeface="Segoe UI Semibold"/>
              </a:rPr>
              <a:t>tariff you will face in 2026</a:t>
            </a:r>
            <a:r>
              <a:rPr sz="1500" b="0">
                <a:solidFill>
                  <a:srgbClr val="FFFFFF"/>
                </a:solidFill>
                <a:latin typeface="Segoe UI"/>
              </a:rPr>
              <a:t>, not the one you have today.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89204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5D6DC"/>
                </a:solidFill>
                <a:latin typeface="Segoe UI"/>
              </a:rPr>
              <a:t>The battery converts a daytime solar hedge into bankable, round-the-clock clean supply.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053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8A98A5"/>
                </a:solidFill>
                <a:latin typeface="Segoe UI"/>
              </a:rPr>
              <a:t>Source: REopt system optimization + Vietnam ESCO pro forma (25 yr, 70% debt). Figures USD. One anomalous 24-hour load spike removed prior to modeling.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8A98A5"/>
                </a:solidFill>
                <a:latin typeface="Segoe UI"/>
              </a:rPr>
              <a:t>Factory A · Solar + BESS Techno-Economic Case Study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46520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8A98A5"/>
                </a:solidFill>
                <a:latin typeface="Segoe UI Semibold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
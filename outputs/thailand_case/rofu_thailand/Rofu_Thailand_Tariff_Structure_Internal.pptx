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7bae4f36006435b" Type="http://schemas.openxmlformats.org/officeDocument/2006/relationships/extended-properties" Target="docProps/app.xml"/><Relationship Id="Ra1ab19d3001e4f4c" Type="http://schemas.openxmlformats.org/package/2006/relationships/metadata/core-properties" Target="docProps/core.xml"/><Relationship Id="Rd5c4a787a9b3458d"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cdaedd0babf74408"/>
  </p:sldMasterIdLst>
  <p:notesMasterIdLst>
    <p:notesMasterId xmlns:r="http://schemas.openxmlformats.org/officeDocument/2006/relationships" r:id="R57b98acf6e2c4698"/>
  </p:notesMasterIdLst>
  <p:sldIdLst>
    <p:sldId xmlns:r="http://schemas.openxmlformats.org/officeDocument/2006/relationships" id="256" r:id="R29b4ab800cf04ce6"/>
    <p:sldId xmlns:r="http://schemas.openxmlformats.org/officeDocument/2006/relationships" id="257" r:id="Re578617c1d5446a4"/>
    <p:sldId xmlns:r="http://schemas.openxmlformats.org/officeDocument/2006/relationships" id="258" r:id="Rb54fa0ad22a64bfc"/>
    <p:sldId xmlns:r="http://schemas.openxmlformats.org/officeDocument/2006/relationships" id="259" r:id="Re35e45eca47c4d04"/>
    <p:sldId xmlns:r="http://schemas.openxmlformats.org/officeDocument/2006/relationships" id="260" r:id="Rf051c16a487a43f4"/>
    <p:sldId xmlns:r="http://schemas.openxmlformats.org/officeDocument/2006/relationships" id="261" r:id="R19b6e0289be74147"/>
    <p:sldId xmlns:r="http://schemas.openxmlformats.org/officeDocument/2006/relationships" id="262" r:id="R04d0040a3e214d06"/>
    <p:sldId xmlns:r="http://schemas.openxmlformats.org/officeDocument/2006/relationships" id="263" r:id="Rf3cd3bea054149fe"/>
    <p:sldId xmlns:r="http://schemas.openxmlformats.org/officeDocument/2006/relationships" id="264" r:id="R8ee1478768674960"/>
    <p:sldId xmlns:r="http://schemas.openxmlformats.org/officeDocument/2006/relationships" id="265" r:id="R5dc2942e551f41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4445766bbb64a3a" Type="http://schemas.openxmlformats.org/officeDocument/2006/relationships/presProps" Target="presProps.xml"/><Relationship Id="R04d0040a3e214d06" Type="http://schemas.openxmlformats.org/officeDocument/2006/relationships/slide" Target="slides/slide7.xml"/><Relationship Id="R06e2893c63664235" Type="http://schemas.openxmlformats.org/officeDocument/2006/relationships/tableStyles" Target="tableStyles.xml"/><Relationship Id="R19b6e0289be74147" Type="http://schemas.openxmlformats.org/officeDocument/2006/relationships/slide" Target="slides/slide6.xml"/><Relationship Id="R29b4ab800cf04ce6" Type="http://schemas.openxmlformats.org/officeDocument/2006/relationships/slide" Target="slides/slide1.xml"/><Relationship Id="R57b98acf6e2c4698" Type="http://schemas.openxmlformats.org/officeDocument/2006/relationships/notesMaster" Target="notesMasters/notesMaster1.xml"/><Relationship Id="R5dc2942e551f4113" Type="http://schemas.openxmlformats.org/officeDocument/2006/relationships/slide" Target="slides/slide10.xml"/><Relationship Id="R8ee1478768674960" Type="http://schemas.openxmlformats.org/officeDocument/2006/relationships/slide" Target="slides/slide9.xml"/><Relationship Id="Rb54fa0ad22a64bfc" Type="http://schemas.openxmlformats.org/officeDocument/2006/relationships/slide" Target="slides/slide3.xml"/><Relationship Id="Rcdaedd0babf74408" Type="http://schemas.openxmlformats.org/officeDocument/2006/relationships/slideMaster" Target="slideMasters/slideMaster1.xml"/><Relationship Id="Re35e45eca47c4d04" Type="http://schemas.openxmlformats.org/officeDocument/2006/relationships/slide" Target="slides/slide4.xml"/><Relationship Id="Re578617c1d5446a4" Type="http://schemas.openxmlformats.org/officeDocument/2006/relationships/slide" Target="slides/slide2.xml"/><Relationship Id="Red6c1143ba0b4bc6" Type="http://schemas.openxmlformats.org/officeDocument/2006/relationships/theme" Target="theme/theme1.xml"/><Relationship Id="Rf051c16a487a43f4" Type="http://schemas.openxmlformats.org/officeDocument/2006/relationships/slide" Target="slides/slide5.xml"/><Relationship Id="Rf3cd3bea054149fe"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8b282c7975af479f"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2e35c0eb9524559" Type="http://schemas.openxmlformats.org/officeDocument/2006/relationships/notesMaster" Target="../notesMasters/notesMaster1.xml"/><Relationship Id="Rf67a09a8051743af"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86300926bb1e4f3e" Type="http://schemas.openxmlformats.org/officeDocument/2006/relationships/notesMaster" Target="../notesMasters/notesMaster1.xml"/><Relationship Id="Rd5bc1efa45c44f9d"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3cbdaa27b494f3d" Type="http://schemas.openxmlformats.org/officeDocument/2006/relationships/notesMaster" Target="../notesMasters/notesMaster1.xml"/><Relationship Id="Rc3469614229b4e7d"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01d5e9aa02cb4623" Type="http://schemas.openxmlformats.org/officeDocument/2006/relationships/slide" Target="../slides/slide4.xml"/><Relationship Id="R0ac71fde82b544b5"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7d4870d0d2094ad9" Type="http://schemas.openxmlformats.org/officeDocument/2006/relationships/notesMaster" Target="../notesMasters/notesMaster1.xml"/><Relationship Id="R9a0c938b20534a5f"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07975eec69de4091" Type="http://schemas.openxmlformats.org/officeDocument/2006/relationships/notesMaster" Target="../notesMasters/notesMaster1.xml"/><Relationship Id="R0d86efdc4ab6467a"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8cbcd9484fcf42bf" Type="http://schemas.openxmlformats.org/officeDocument/2006/relationships/notesMaster" Target="../notesMasters/notesMaster1.xml"/><Relationship Id="Rc16477158a8044cd"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f68bceb153214128" Type="http://schemas.openxmlformats.org/officeDocument/2006/relationships/slide" Target="../slides/slide8.xml"/><Relationship Id="Rfecd51cd004e4b8b"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069ebb31fd0945d0" Type="http://schemas.openxmlformats.org/officeDocument/2006/relationships/slide" Target="../slides/slide9.xml"/><Relationship Id="R93ce1d2dcbf142e4"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36befbf0181f4fa0" Type="http://schemas.openxmlformats.org/officeDocument/2006/relationships/notesMaster" Target="../notesMasters/notesMaster1.xml"/><Relationship Id="R794122fea1574c2a" Type="http://schemas.openxmlformats.org/officeDocument/2006/relationships/slide" Target="../slides/slide1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the current electricity tariff applied to Rofu Thailand for an internal audience. Visual design follows the supplied Allotrope KEEN reference deck: Keen - Clean Energy Options Analysis_Allotrope 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Keen TH Tariff Structure.pdf; PEA invoice for June 2025; RTS Data Collection_KTH_followup_Dec2025 (rebuilt).xlsx; KTH2 Electricity Use.xlsx; email thread Re: [EXTERNAL] Rofu Thailand - Hourly Data Request Letter of Authorization, August-September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Keen TH Tariff Structure.pdf and PEA Schedule 4.2 data embedded in the Thailand tariff implementation. Current project rates: peak THB 4.1839/kWh, off-peak and holiday THB 2.6037/kWh, demand THB 132.93/kW-month, service THB 312.24/month, VAT 7%. Ft varies by announced period. Power-factor charge: THB 56.07/kVAR above the tariff allowance; it is not included in the model outputs because monthly maximum kVAR data were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Keen TH Tariff Structure.pdf and reoptjl/src/thailand/pea_tariff.py. The project applies on-peak to weekday interval end times after 09:00 through 22:00. Saturdays, Sundays, and configured Thai public holidays use off-peak rates all 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Keen TH Tariff Structure.pdf; PEA June 2025 invoice; proforma_thailand/defaults/pea_tariff_rates.json. Power factor is described as a conditional charge because monthly maximum kVAR inputs are not available in the current model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06. Electricity Bill Jun 2025 KTH2.pdf. Recalculation: peak energy 288,960 kWh x THB 4.1839 = THB 1,208,979.74; off-peak plus holiday energy 342,620 kWh x THB 2.6037 = THB 892,079.69; demand 1,368 kW x THB 132.93 = THB 181,848.24; service THB 312.24; base bill THB 2,283,219.91 on the invoice; Ft 631,580 kWh x THB 0.1972 = THB 124,547.58; subtotal THB 2,407,767.49; VAT THB 168,543.72; amount due THB 2,576,311.21. Component percentages use the pre-VAT subtotal and exclude the negligible service-charge share from the stacked bar.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Keen TH Tariff Structure.pdf; corrected KEEN_THAILAND_MEMO.md; Thailand tariff builder and case assumptions. The current case uses no export compensation. Solar can reduce demand charges only when generation coincides with the interval that otherwise sets the month's maximum on-peak kW.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outputs/thailand_case/rofu_thailand/KEEN_THAILAND_MEMO.md, re-solved 9 Sep 2026 at 500 USD/kWp over 20 years. SUPERSEDES the earlier no-battery finding, which rested on 300 USD/kW plus 250 USD/kWh, i.e. 675 USD/kW for a 1.5 hour system. Keen confirmed 100 USD/kW plus 150 USD/kWh, i.e. 325 USD/kW. Conservative roof case with storage: 1,685 kWp PV, 238 kW / 429 kWh, 31.4% offset, against 30.8% for the same array without storage, so +0.6 pp at identical PV. Unconstrained case: 2,957 kWp PV, 575 kW / 2,378 kWh, 50.9% offset. Do NOT read that against the 41.1% PV-only case as a battery effect: that case also carries 408 kW more PV. Neither battery sits at the 16,000 kWh ceiling, so both are economic choices. Robustness: storage was also selected at 475 USD/kWp over 25 years, so the result survives a dearer array and a shorter life.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email thread Re: [EXTERNAL] Rofu Thailand - Hourly Data Request Letter of Authorization, September 7, 2026, which reports that an earlier site assessment suggests the existing roof structure may not directly support added PV weight and recommends an on-site assessment; corrected KEEN_THAILAND_MEMO.md; Keen TH Tariff Structure.pdf. The statement that the roof is the immediate constraint is an inference from the roof-limited optimization cases and the latest structural email.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PEA June 2025 invoice calculation; KEEN_THAILAND_MEMO.md re-solved 9 Sep 2026; September 7, 2026 roof-structure email. June 2025 pre-VAT shares: peak energy 50.2%, off-peak and holiday energy 37.1%, demand 7.6%, Ft 5.2%, service 0.01%. Percentages are rounded. Point 3 REVERSES the earlier briefing. Part of the battery value is recovered curtailment, not tariff arbitrage alone: at identical 1,685 kWp arrays, adding storage takes curtailment from 8.6% to 6.3%. That argument does not depend on the peak to off-peak differential holding.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97cd9e9b9f2b43f2"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8b0179f71e514b7f" Type="http://schemas.openxmlformats.org/officeDocument/2006/relationships/theme" Target="theme/theme2.xml"/><Relationship Id="Ra38b5db9bcbe4331"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8b5db9bcbe43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753d90a1965a4f04" Type="http://schemas.openxmlformats.org/officeDocument/2006/relationships/slideLayout" Target="../slideLayouts/slideLayout1.xml"/><Relationship Id="Re138e4035b4d4c2d" Type="http://schemas.openxmlformats.org/officeDocument/2006/relationships/notesSlide" Target="../notesSlides/notesSlide1.xml"/><Relationship Id="Rf655b594852740dc" Type="http://schemas.openxmlformats.org/officeDocument/2006/relationships/image" Target="../media/image.png"/></Relationships>
</file>

<file path=ppt/slides/_rels/slide2.xml.rels><?xml version='1.0' encoding='UTF-8' standalone='yes'?>
<Relationships xmlns="http://schemas.openxmlformats.org/package/2006/relationships"><Relationship Id="R6b8fc6d4f8744f7a" Type="http://schemas.openxmlformats.org/officeDocument/2006/relationships/notesSlide" Target="../notesSlides/notesSlide2.xml"/><Relationship Id="R6fa27a55e3084846" Type="http://schemas.openxmlformats.org/officeDocument/2006/relationships/image" Target="../media/image2.png"/><Relationship Id="R9cb0701b57b14775"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61860edf9a0a43cc" Type="http://schemas.openxmlformats.org/officeDocument/2006/relationships/slideLayout" Target="../slideLayouts/slideLayout1.xml"/><Relationship Id="R7f7b28c57c704afe" Type="http://schemas.openxmlformats.org/officeDocument/2006/relationships/notesSlide" Target="../notesSlides/notesSlide3.xml"/><Relationship Id="Ra44ee23fb7a548c3" Type="http://schemas.openxmlformats.org/officeDocument/2006/relationships/image" Target="../media/image3.png"/></Relationships>
</file>

<file path=ppt/slides/_rels/slide4.xml.rels><?xml version='1.0' encoding='UTF-8' standalone='yes'?>
<Relationships xmlns="http://schemas.openxmlformats.org/package/2006/relationships"><Relationship Id="R03e4e737330c4a4e" Type="http://schemas.openxmlformats.org/officeDocument/2006/relationships/notesSlide" Target="../notesSlides/notesSlide4.xml"/><Relationship Id="R1b4e05240fd5465c" Type="http://schemas.openxmlformats.org/officeDocument/2006/relationships/image" Target="../media/image4.png"/><Relationship Id="R614b3585ec3b4c4a"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1f951669f5db49e5" Type="http://schemas.openxmlformats.org/officeDocument/2006/relationships/slideLayout" Target="../slideLayouts/slideLayout1.xml"/><Relationship Id="Rb57b2e05a06048fa" Type="http://schemas.openxmlformats.org/officeDocument/2006/relationships/notesSlide" Target="../notesSlides/notesSlide5.xml"/><Relationship Id="Rb753cf5c9b134b2f" Type="http://schemas.openxmlformats.org/officeDocument/2006/relationships/image" Target="../media/image5.png"/></Relationships>
</file>

<file path=ppt/slides/_rels/slide6.xml.rels><?xml version='1.0' encoding='UTF-8' standalone='yes'?>
<Relationships xmlns="http://schemas.openxmlformats.org/package/2006/relationships"><Relationship Id="R38040421f6404a58" Type="http://schemas.openxmlformats.org/officeDocument/2006/relationships/notesSlide" Target="../notesSlides/notesSlide6.xml"/><Relationship Id="R5cdbfbc7223046c6" Type="http://schemas.openxmlformats.org/officeDocument/2006/relationships/image" Target="../media/image7.png"/><Relationship Id="R9d12e884facc4fb6" Type="http://schemas.openxmlformats.org/officeDocument/2006/relationships/image" Target="../media/image6.png"/><Relationship Id="Rd0eefdddfa364586"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03e2fb74d46e4eaa" Type="http://schemas.openxmlformats.org/officeDocument/2006/relationships/notesSlide" Target="../notesSlides/notesSlide7.xml"/><Relationship Id="R92e3a08baf004731" Type="http://schemas.openxmlformats.org/officeDocument/2006/relationships/image" Target="../media/image8.png"/><Relationship Id="Rdd852516882c484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270bd7cc8e494db5" Type="http://schemas.openxmlformats.org/officeDocument/2006/relationships/image" Target="../media/image9.png"/><Relationship Id="R4901cb5601594259" Type="http://schemas.openxmlformats.org/officeDocument/2006/relationships/slideLayout" Target="../slideLayouts/slideLayout1.xml"/><Relationship Id="R759cb9ab47ff408b"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05bc896fb06e4ff2" Type="http://schemas.openxmlformats.org/officeDocument/2006/relationships/notesSlide" Target="../notesSlides/notesSlide9.xml"/><Relationship Id="R164abe1a73fa469b" Type="http://schemas.openxmlformats.org/officeDocument/2006/relationships/image" Target="../media/image10.png"/><Relationship Id="Rb8db4e296dc141b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437dd0494dc94639" Type="http://schemas.openxmlformats.org/officeDocument/2006/relationships/notesSlide" Target="../notesSlides/notesSlide10.xml"/><Relationship Id="R4f4d35ddf19e4b35" Type="http://schemas.openxmlformats.org/officeDocument/2006/relationships/image" Target="../media/image11.png"/><Relationship Id="Rf311c2edb91d4723" Type="http://schemas.openxmlformats.org/officeDocument/2006/relationships/slideLayout" Target="../slideLayouts/slideLayout1.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655b594852740dc"/>
          <a:srcRect xmlns:a="http://schemas.openxmlformats.org/drawingml/2006/main" l="0" t="25" r="0" b="2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7873132-9853-41DB-ABA6-AD91C55F7CC3}"/>
              </a:ext>
            </a:extLst>
          </p:cNvPr>
          <p:cNvSpPr>
            <a:spLocks xmlns:a="http://schemas.openxmlformats.org/drawingml/2006/main" noGrp="1"/>
          </p:cNvSpPr>
          <p:nvPr/>
        </p:nvSpPr>
        <p:spPr>
          <a:xfrm xmlns:a="http://schemas.openxmlformats.org/drawingml/2006/main">
            <a:off x="495300" y="552450"/>
            <a:ext cx="3857625" cy="5753100"/>
          </a:xfrm>
          <a:prstGeom xmlns:a="http://schemas.openxmlformats.org/drawingml/2006/main" prst="roundRect">
            <a:avLst>
              <a:gd name="adj" fmla="val 13827"/>
            </a:avLst>
          </a:prstGeom>
          <a:solidFill xmlns:a="http://schemas.openxmlformats.org/drawingml/2006/main">
            <a:srgbClr val="17685F"/>
          </a:solidFill>
          <a:ln xmlns:a="http://schemas.openxmlformats.org/drawingml/2006/main" w="0">
            <a:solidFill>
              <a:srgbClr val="17685F"/>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1F73DE55-B346-4C7B-9085-832D72335C3C}"/>
              </a:ext>
            </a:extLst>
          </p:cNvPr>
          <p:cNvSpPr>
            <a:spLocks xmlns:a="http://schemas.openxmlformats.org/drawingml/2006/main" noGrp="1"/>
          </p:cNvSpPr>
          <p:nvPr/>
        </p:nvSpPr>
        <p:spPr>
          <a:xfrm xmlns:a="http://schemas.openxmlformats.org/drawingml/2006/main">
            <a:off x="876300" y="1790700"/>
            <a:ext cx="314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How Rofu Thailand's</a:t>
            </a:r>
          </a:p>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electricity tariff works</a:t>
            </a:r>
          </a:p>
        </p:txBody>
      </p:sp>
      <p:sp>
        <p:nvSpPr>
          <p:cNvPr id="4" name="">
            <a:extLst xmlns:a="http://schemas.openxmlformats.org/drawingml/2006/main">
              <a:ext uri="{FF2B5EF4-FFF2-40B4-BE49-F238E27FC236}">
                <a16:creationId xmlns:a16="http://schemas.microsoft.com/office/drawing/2014/main" id="{01C22484-7225-4EAE-9DDE-DB0AE1354B59}"/>
              </a:ext>
            </a:extLst>
          </p:cNvPr>
          <p:cNvSpPr>
            <a:spLocks xmlns:a="http://schemas.openxmlformats.org/drawingml/2006/main" noGrp="1"/>
          </p:cNvSpPr>
          <p:nvPr/>
        </p:nvSpPr>
        <p:spPr>
          <a:xfrm xmlns:a="http://schemas.openxmlformats.org/drawingml/2006/main">
            <a:off x="876300" y="3476625"/>
            <a:ext cx="2381250" cy="0"/>
          </a:xfrm>
          <a:prstGeom xmlns:a="http://schemas.openxmlformats.org/drawingml/2006/main" prst="line">
            <a:avLst/>
          </a:prstGeom>
          <a:noFill xmlns:a="http://schemas.openxmlformats.org/drawingml/2006/main"/>
          <a:ln xmlns:a="http://schemas.openxmlformats.org/drawingml/2006/main" w="28575">
            <a:solidFill>
              <a:srgbClr val="B7D9D2"/>
            </a:solidFill>
            <a:prstDash val="solid"/>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E8371DE-728C-43CC-8B23-D4C61DB0956A}"/>
              </a:ext>
            </a:extLst>
          </p:cNvPr>
          <p:cNvSpPr>
            <a:spLocks xmlns:a="http://schemas.openxmlformats.org/drawingml/2006/main" noGrp="1"/>
          </p:cNvSpPr>
          <p:nvPr/>
        </p:nvSpPr>
        <p:spPr>
          <a:xfrm xmlns:a="http://schemas.openxmlformats.org/drawingml/2006/main">
            <a:off x="876300" y="3733800"/>
            <a:ext cx="3000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Current PEA tariff structure</a:t>
            </a:r>
          </a:p>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and implications for rooftop solar and BESS</a:t>
            </a:r>
          </a:p>
        </p:txBody>
      </p:sp>
      <p:sp>
        <p:nvSpPr>
          <p:cNvPr id="6" name="">
            <a:extLst xmlns:a="http://schemas.openxmlformats.org/drawingml/2006/main">
              <a:ext uri="{FF2B5EF4-FFF2-40B4-BE49-F238E27FC236}">
                <a16:creationId xmlns:a16="http://schemas.microsoft.com/office/drawing/2014/main" id="{03C67749-A7B8-4AF1-AD03-35C8F12563F9}"/>
              </a:ext>
            </a:extLst>
          </p:cNvPr>
          <p:cNvSpPr>
            <a:spLocks xmlns:a="http://schemas.openxmlformats.org/drawingml/2006/main" noGrp="1"/>
          </p:cNvSpPr>
          <p:nvPr/>
        </p:nvSpPr>
        <p:spPr>
          <a:xfrm xmlns:a="http://schemas.openxmlformats.org/drawingml/2006/main">
            <a:off x="876300" y="556260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CFE7E2"/>
                </a:solidFill>
                <a:latin typeface="Arial"/>
                <a:ea typeface="Arial"/>
                <a:cs typeface="Arial"/>
              </a:defRPr>
            </a:pPr>
            <a:r>
              <a:rPr sz="1200" b="0">
                <a:solidFill>
                  <a:srgbClr val="CFE7E2"/>
                </a:solidFill>
                <a:latin typeface="Arial"/>
                <a:ea typeface="Arial"/>
                <a:cs typeface="Arial"/>
              </a:rPr>
              <a:t>Internal briefing  |  September 2026</a:t>
            </a:r>
          </a:p>
        </p:txBody>
      </p:sp>
    </p:spTree>
    <p:extLst>
      <p:ext uri="{BB962C8B-B14F-4D97-AF65-F5344CB8AC3E}">
        <p14:creationId xmlns:p14="http://schemas.microsoft.com/office/powerpoint/2010/main" val="1518226099"/>
      </p:ext>
    </p:extLst>
  </p:cSld>
</p:sld>
</file>

<file path=ppt/slides/slide2.xml><?xml version="1.0" encoding="utf-8"?>
<p:sld xmlns:p="http://schemas.openxmlformats.org/presentationml/2006/main">
  <p:cSld>
    <p:bg>
      <p:bgPr>
        <a:solidFill xmlns:a="http://schemas.openxmlformats.org/drawingml/2006/main">
          <a:srgbClr val="EAF5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4761C52-010F-4023-BB06-CAFA2F2CF818}"/>
              </a:ext>
            </a:extLst>
          </p:cNvPr>
          <p:cNvSpPr>
            <a:spLocks xmlns:a="http://schemas.openxmlformats.org/drawingml/2006/main" noGrp="1"/>
          </p:cNvSpPr>
          <p:nvPr/>
        </p:nvSpPr>
        <p:spPr>
          <a:xfrm xmlns:a="http://schemas.openxmlformats.org/drawingml/2006/main">
            <a:off x="76200" y="76200"/>
            <a:ext cx="12039600" cy="914400"/>
          </a:xfrm>
          <a:prstGeom xmlns:a="http://schemas.openxmlformats.org/drawingml/2006/main" prst="roundRect">
            <a:avLst>
              <a:gd name="adj" fmla="val 22917"/>
            </a:avLst>
          </a:prstGeom>
          <a:solidFill xmlns:a="http://schemas.openxmlformats.org/drawingml/2006/main">
            <a:srgbClr val="24857B"/>
          </a:solidFill>
          <a:ln xmlns:a="http://schemas.openxmlformats.org/drawingml/2006/main" w="0">
            <a:solidFill>
              <a:srgbClr val="24857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8108270-B16C-4748-99C7-5BCDEB9AF124}"/>
              </a:ext>
            </a:extLst>
          </p:cNvPr>
          <p:cNvSpPr>
            <a:spLocks xmlns:a="http://schemas.openxmlformats.org/drawingml/2006/main" noGrp="1"/>
          </p:cNvSpPr>
          <p:nvPr/>
        </p:nvSpPr>
        <p:spPr>
          <a:xfrm xmlns:a="http://schemas.openxmlformats.org/drawingml/2006/main">
            <a:off x="400050" y="2476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Rofu Thailand's utility context</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fa27a55e3084846"/>
          <a:stretch xmlns:a="http://schemas.openxmlformats.org/drawingml/2006/main"/>
        </p:blipFill>
        <p:spPr>
          <a:xfrm xmlns:a="http://schemas.openxmlformats.org/drawingml/2006/main">
            <a:off x="10096500" y="195629"/>
            <a:ext cx="1762125" cy="54219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9E0E9DE-9499-4BB7-8475-CC17CFCDD3DE}"/>
              </a:ext>
            </a:extLst>
          </p:cNvPr>
          <p:cNvSpPr>
            <a:spLocks xmlns:a="http://schemas.openxmlformats.org/drawingml/2006/main" noGrp="1"/>
          </p:cNvSpPr>
          <p:nvPr/>
        </p:nvSpPr>
        <p:spPr>
          <a:xfrm xmlns:a="http://schemas.openxmlformats.org/drawingml/2006/main">
            <a:off x="400050" y="65151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4D6D68"/>
                </a:solidFill>
                <a:latin typeface="Arial"/>
                <a:ea typeface="Arial"/>
                <a:cs typeface="Arial"/>
              </a:defRPr>
            </a:pPr>
            <a:r>
              <a:rPr sz="900" b="0">
                <a:solidFill>
                  <a:srgbClr val="4D6D68"/>
                </a:solidFill>
                <a:latin typeface="Arial"/>
                <a:ea typeface="Arial"/>
                <a:cs typeface="Arial"/>
              </a:rPr>
              <a:t>Internal briefing  |  September 2026</a:t>
            </a:r>
          </a:p>
        </p:txBody>
      </p:sp>
      <p:sp>
        <p:nvSpPr>
          <p:cNvPr id="5" name="">
            <a:extLst xmlns:a="http://schemas.openxmlformats.org/drawingml/2006/main">
              <a:ext uri="{FF2B5EF4-FFF2-40B4-BE49-F238E27FC236}">
                <a16:creationId xmlns:a16="http://schemas.microsoft.com/office/drawing/2014/main" id="{BC597600-519D-418A-8024-77E9B5439DFF}"/>
              </a:ext>
            </a:extLst>
          </p:cNvPr>
          <p:cNvSpPr>
            <a:spLocks xmlns:a="http://schemas.openxmlformats.org/drawingml/2006/main" noGrp="1"/>
          </p:cNvSpPr>
          <p:nvPr/>
        </p:nvSpPr>
        <p:spPr>
          <a:xfrm xmlns:a="http://schemas.openxmlformats.org/drawingml/2006/main">
            <a:off x="11430000" y="651510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4D6D68"/>
                </a:solidFill>
                <a:latin typeface="Arial"/>
                <a:ea typeface="Arial"/>
                <a:cs typeface="Arial"/>
              </a:defRPr>
            </a:pPr>
            <a:r>
              <a:rPr sz="900" b="0">
                <a:solidFill>
                  <a:srgbClr val="4D6D68"/>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BB799F23-56DD-4203-AB3B-438451EA643D}"/>
              </a:ext>
            </a:extLst>
          </p:cNvPr>
          <p:cNvSpPr>
            <a:spLocks xmlns:a="http://schemas.openxmlformats.org/drawingml/2006/main" noGrp="1"/>
          </p:cNvSpPr>
          <p:nvPr/>
        </p:nvSpPr>
        <p:spPr>
          <a:xfrm xmlns:a="http://schemas.openxmlformats.org/drawingml/2006/main">
            <a:off x="495300" y="13716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85F"/>
                </a:solidFill>
                <a:latin typeface="Arial"/>
                <a:ea typeface="Arial"/>
                <a:cs typeface="Arial"/>
              </a:defRPr>
            </a:pPr>
            <a:r>
              <a:rPr sz="3000" b="1">
                <a:solidFill>
                  <a:srgbClr val="17685F"/>
                </a:solidFill>
                <a:latin typeface="Arial"/>
                <a:ea typeface="Arial"/>
                <a:cs typeface="Arial"/>
              </a:rPr>
              <a:t>PEA Schedule 4.2</a:t>
            </a:r>
          </a:p>
        </p:txBody>
      </p:sp>
      <p:sp>
        <p:nvSpPr>
          <p:cNvPr id="7" name="">
            <a:extLst xmlns:a="http://schemas.openxmlformats.org/drawingml/2006/main">
              <a:ext uri="{FF2B5EF4-FFF2-40B4-BE49-F238E27FC236}">
                <a16:creationId xmlns:a16="http://schemas.microsoft.com/office/drawing/2014/main" id="{6CA1F81A-44B6-465B-8F4F-4CE3113DF0F3}"/>
              </a:ext>
            </a:extLst>
          </p:cNvPr>
          <p:cNvSpPr>
            <a:spLocks xmlns:a="http://schemas.openxmlformats.org/drawingml/2006/main" noGrp="1"/>
          </p:cNvSpPr>
          <p:nvPr/>
        </p:nvSpPr>
        <p:spPr>
          <a:xfrm xmlns:a="http://schemas.openxmlformats.org/drawingml/2006/main">
            <a:off x="523875" y="20002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D6D68"/>
                </a:solidFill>
                <a:latin typeface="Arial"/>
                <a:ea typeface="Arial"/>
                <a:cs typeface="Arial"/>
              </a:defRPr>
            </a:pPr>
            <a:r>
              <a:rPr sz="1575" b="0">
                <a:solidFill>
                  <a:srgbClr val="4D6D68"/>
                </a:solidFill>
                <a:latin typeface="Arial"/>
                <a:ea typeface="Arial"/>
                <a:cs typeface="Arial"/>
              </a:rPr>
              <a:t>Large General Service, time-of-use tariff</a:t>
            </a:r>
          </a:p>
        </p:txBody>
      </p:sp>
      <p:sp>
        <p:nvSpPr>
          <p:cNvPr id="8" name="">
            <a:extLst xmlns:a="http://schemas.openxmlformats.org/drawingml/2006/main">
              <a:ext uri="{FF2B5EF4-FFF2-40B4-BE49-F238E27FC236}">
                <a16:creationId xmlns:a16="http://schemas.microsoft.com/office/drawing/2014/main" id="{9B9F058B-8E74-496A-A235-804207C6898F}"/>
              </a:ext>
            </a:extLst>
          </p:cNvPr>
          <p:cNvSpPr>
            <a:spLocks xmlns:a="http://schemas.openxmlformats.org/drawingml/2006/main" noGrp="1"/>
          </p:cNvSpPr>
          <p:nvPr/>
        </p:nvSpPr>
        <p:spPr>
          <a:xfrm xmlns:a="http://schemas.openxmlformats.org/drawingml/2006/main">
            <a:off x="514350" y="2686050"/>
            <a:ext cx="4238625" cy="2343150"/>
          </a:xfrm>
          <a:prstGeom xmlns:a="http://schemas.openxmlformats.org/drawingml/2006/main" prst="roundRect">
            <a:avLst>
              <a:gd name="adj" fmla="val 8130"/>
            </a:avLst>
          </a:prstGeom>
          <a:solidFill xmlns:a="http://schemas.openxmlformats.org/drawingml/2006/main">
            <a:srgbClr val="FFFFFF"/>
          </a:solidFill>
          <a:ln xmlns:a="http://schemas.openxmlformats.org/drawingml/2006/main" w="9525">
            <a:solidFill>
              <a:srgbClr val="8AB8B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889FB0FA-E500-485E-A132-9078F3E97A29}"/>
              </a:ext>
            </a:extLst>
          </p:cNvPr>
          <p:cNvSpPr>
            <a:spLocks xmlns:a="http://schemas.openxmlformats.org/drawingml/2006/main" noGrp="1"/>
          </p:cNvSpPr>
          <p:nvPr/>
        </p:nvSpPr>
        <p:spPr>
          <a:xfrm xmlns:a="http://schemas.openxmlformats.org/drawingml/2006/main">
            <a:off x="781050" y="291465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685F"/>
                </a:solidFill>
                <a:latin typeface="Arial"/>
                <a:ea typeface="Arial"/>
                <a:cs typeface="Arial"/>
              </a:defRPr>
            </a:pPr>
            <a:r>
              <a:rPr sz="1650" b="1">
                <a:solidFill>
                  <a:srgbClr val="17685F"/>
                </a:solidFill>
                <a:latin typeface="Arial"/>
                <a:ea typeface="Arial"/>
                <a:cs typeface="Arial"/>
              </a:rPr>
              <a:t>Confirmed billing setup</a:t>
            </a:r>
          </a:p>
        </p:txBody>
      </p:sp>
      <p:sp>
        <p:nvSpPr>
          <p:cNvPr id="10" name="">
            <a:extLst xmlns:a="http://schemas.openxmlformats.org/drawingml/2006/main">
              <a:ext uri="{FF2B5EF4-FFF2-40B4-BE49-F238E27FC236}">
                <a16:creationId xmlns:a16="http://schemas.microsoft.com/office/drawing/2014/main" id="{FD0D77AE-2618-4579-B873-2142CACF9F3A}"/>
              </a:ext>
            </a:extLst>
          </p:cNvPr>
          <p:cNvSpPr>
            <a:spLocks xmlns:a="http://schemas.openxmlformats.org/drawingml/2006/main" noGrp="1"/>
          </p:cNvSpPr>
          <p:nvPr/>
        </p:nvSpPr>
        <p:spPr>
          <a:xfrm xmlns:a="http://schemas.openxmlformats.org/drawingml/2006/main">
            <a:off x="781050" y="339090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43B37"/>
                </a:solidFill>
                <a:latin typeface="Arial"/>
                <a:ea typeface="Arial"/>
                <a:cs typeface="Arial"/>
              </a:defRPr>
            </a:pPr>
            <a:r>
              <a:rPr sz="1425" b="1">
                <a:solidFill>
                  <a:srgbClr val="143B37"/>
                </a:solidFill>
                <a:latin typeface="Arial"/>
                <a:ea typeface="Arial"/>
                <a:cs typeface="Arial"/>
              </a:rPr>
              <a:t>Utility: </a:t>
            </a:r>
            <a:r>
              <a:rPr sz="1425" b="0">
                <a:solidFill>
                  <a:srgbClr val="143B37"/>
                </a:solidFill>
                <a:latin typeface="Arial"/>
                <a:ea typeface="Arial"/>
                <a:cs typeface="Arial"/>
              </a:rPr>
              <a:t>Provincial Electricity Authority, Phimai branch</a:t>
            </a:r>
          </a:p>
        </p:txBody>
      </p:sp>
      <p:sp>
        <p:nvSpPr>
          <p:cNvPr id="11" name="">
            <a:extLst xmlns:a="http://schemas.openxmlformats.org/drawingml/2006/main">
              <a:ext uri="{FF2B5EF4-FFF2-40B4-BE49-F238E27FC236}">
                <a16:creationId xmlns:a16="http://schemas.microsoft.com/office/drawing/2014/main" id="{874A04FB-4544-4F4F-9B35-66E1AB69CCB0}"/>
              </a:ext>
            </a:extLst>
          </p:cNvPr>
          <p:cNvSpPr>
            <a:spLocks xmlns:a="http://schemas.openxmlformats.org/drawingml/2006/main" noGrp="1"/>
          </p:cNvSpPr>
          <p:nvPr/>
        </p:nvSpPr>
        <p:spPr>
          <a:xfrm xmlns:a="http://schemas.openxmlformats.org/drawingml/2006/main">
            <a:off x="781050" y="394335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43B37"/>
                </a:solidFill>
                <a:latin typeface="Arial"/>
                <a:ea typeface="Arial"/>
                <a:cs typeface="Arial"/>
              </a:defRPr>
            </a:pPr>
            <a:r>
              <a:rPr sz="1425" b="1">
                <a:solidFill>
                  <a:srgbClr val="143B37"/>
                </a:solidFill>
                <a:latin typeface="Arial"/>
                <a:ea typeface="Arial"/>
                <a:cs typeface="Arial"/>
              </a:rPr>
              <a:t>Voltage: </a:t>
            </a:r>
            <a:r>
              <a:rPr sz="1425" b="0">
                <a:solidFill>
                  <a:srgbClr val="143B37"/>
                </a:solidFill>
                <a:latin typeface="Arial"/>
                <a:ea typeface="Arial"/>
                <a:cs typeface="Arial"/>
              </a:rPr>
              <a:t>22-33 kV</a:t>
            </a:r>
          </a:p>
        </p:txBody>
      </p:sp>
      <p:sp>
        <p:nvSpPr>
          <p:cNvPr id="12" name="">
            <a:extLst xmlns:a="http://schemas.openxmlformats.org/drawingml/2006/main">
              <a:ext uri="{FF2B5EF4-FFF2-40B4-BE49-F238E27FC236}">
                <a16:creationId xmlns:a16="http://schemas.microsoft.com/office/drawing/2014/main" id="{06DCC095-EB4D-434A-B8F8-E2237F4601CC}"/>
              </a:ext>
            </a:extLst>
          </p:cNvPr>
          <p:cNvSpPr>
            <a:spLocks xmlns:a="http://schemas.openxmlformats.org/drawingml/2006/main" noGrp="1"/>
          </p:cNvSpPr>
          <p:nvPr/>
        </p:nvSpPr>
        <p:spPr>
          <a:xfrm xmlns:a="http://schemas.openxmlformats.org/drawingml/2006/main">
            <a:off x="781050" y="440055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43B37"/>
                </a:solidFill>
                <a:latin typeface="Arial"/>
                <a:ea typeface="Arial"/>
                <a:cs typeface="Arial"/>
              </a:defRPr>
            </a:pPr>
            <a:r>
              <a:rPr sz="1425" b="1">
                <a:solidFill>
                  <a:srgbClr val="143B37"/>
                </a:solidFill>
                <a:latin typeface="Arial"/>
                <a:ea typeface="Arial"/>
                <a:cs typeface="Arial"/>
              </a:rPr>
              <a:t>Rate code: </a:t>
            </a:r>
            <a:r>
              <a:rPr sz="1425" b="0">
                <a:solidFill>
                  <a:srgbClr val="143B37"/>
                </a:solidFill>
                <a:latin typeface="Arial"/>
                <a:ea typeface="Arial"/>
                <a:cs typeface="Arial"/>
              </a:rPr>
              <a:t>4224</a:t>
            </a:r>
          </a:p>
        </p:txBody>
      </p:sp>
      <p:sp>
        <p:nvSpPr>
          <p:cNvPr id="13" name="">
            <a:extLst xmlns:a="http://schemas.openxmlformats.org/drawingml/2006/main">
              <a:ext uri="{FF2B5EF4-FFF2-40B4-BE49-F238E27FC236}">
                <a16:creationId xmlns:a16="http://schemas.microsoft.com/office/drawing/2014/main" id="{A221EDAC-EF53-4473-8335-2086F28EDF7B}"/>
              </a:ext>
            </a:extLst>
          </p:cNvPr>
          <p:cNvSpPr>
            <a:spLocks xmlns:a="http://schemas.openxmlformats.org/drawingml/2006/main" noGrp="1"/>
          </p:cNvSpPr>
          <p:nvPr/>
        </p:nvSpPr>
        <p:spPr>
          <a:xfrm xmlns:a="http://schemas.openxmlformats.org/drawingml/2006/main">
            <a:off x="5905500" y="14097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685F"/>
                </a:solidFill>
                <a:latin typeface="Arial"/>
                <a:ea typeface="Arial"/>
                <a:cs typeface="Arial"/>
              </a:defRPr>
            </a:pPr>
            <a:r>
              <a:rPr sz="1950" b="1">
                <a:solidFill>
                  <a:srgbClr val="17685F"/>
                </a:solidFill>
                <a:latin typeface="Arial"/>
                <a:ea typeface="Arial"/>
                <a:cs typeface="Arial"/>
              </a:rPr>
              <a:t>One grid connection</a:t>
            </a:r>
          </a:p>
        </p:txBody>
      </p:sp>
      <p:sp>
        <p:nvSpPr>
          <p:cNvPr id="14" name="">
            <a:extLst xmlns:a="http://schemas.openxmlformats.org/drawingml/2006/main">
              <a:ext uri="{FF2B5EF4-FFF2-40B4-BE49-F238E27FC236}">
                <a16:creationId xmlns:a16="http://schemas.microsoft.com/office/drawing/2014/main" id="{9FAEB9C4-D51A-4BC2-9021-534305906064}"/>
              </a:ext>
            </a:extLst>
          </p:cNvPr>
          <p:cNvSpPr>
            <a:spLocks xmlns:a="http://schemas.openxmlformats.org/drawingml/2006/main" noGrp="1"/>
          </p:cNvSpPr>
          <p:nvPr/>
        </p:nvSpPr>
        <p:spPr>
          <a:xfrm xmlns:a="http://schemas.openxmlformats.org/drawingml/2006/main">
            <a:off x="5905500" y="18383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D6D68"/>
                </a:solidFill>
                <a:latin typeface="Arial"/>
                <a:ea typeface="Arial"/>
                <a:cs typeface="Arial"/>
              </a:defRPr>
            </a:pPr>
            <a:r>
              <a:rPr sz="1500" b="0">
                <a:solidFill>
                  <a:srgbClr val="4D6D68"/>
                </a:solidFill>
                <a:latin typeface="Arial"/>
                <a:ea typeface="Arial"/>
                <a:cs typeface="Arial"/>
              </a:rPr>
              <a:t>Four transformers supply the factory</a:t>
            </a:r>
          </a:p>
        </p:txBody>
      </p:sp>
      <p:sp>
        <p:nvSpPr>
          <p:cNvPr id="15" name="">
            <a:extLst xmlns:a="http://schemas.openxmlformats.org/drawingml/2006/main">
              <a:ext uri="{FF2B5EF4-FFF2-40B4-BE49-F238E27FC236}">
                <a16:creationId xmlns:a16="http://schemas.microsoft.com/office/drawing/2014/main" id="{ABBF2F97-21AC-40EB-9D16-54DA9B247C15}"/>
              </a:ext>
            </a:extLst>
          </p:cNvPr>
          <p:cNvSpPr>
            <a:spLocks xmlns:a="http://schemas.openxmlformats.org/drawingml/2006/main" noGrp="1"/>
          </p:cNvSpPr>
          <p:nvPr/>
        </p:nvSpPr>
        <p:spPr>
          <a:xfrm xmlns:a="http://schemas.openxmlformats.org/drawingml/2006/main">
            <a:off x="5905500" y="2514600"/>
            <a:ext cx="1476375" cy="400050"/>
          </a:xfrm>
          <a:prstGeom xmlns:a="http://schemas.openxmlformats.org/drawingml/2006/main" prst="roundRect">
            <a:avLst>
              <a:gd name="adj" fmla="val 33333"/>
            </a:avLst>
          </a:prstGeom>
          <a:solidFill xmlns:a="http://schemas.openxmlformats.org/drawingml/2006/main">
            <a:srgbClr val="B7D9D2"/>
          </a:solidFill>
          <a:ln xmlns:a="http://schemas.openxmlformats.org/drawingml/2006/main" w="0">
            <a:solidFill>
              <a:srgbClr val="B7D9D2"/>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56414E63-7F42-43E5-AEB9-F0CD602E4DA7}"/>
              </a:ext>
            </a:extLst>
          </p:cNvPr>
          <p:cNvSpPr>
            <a:spLocks xmlns:a="http://schemas.openxmlformats.org/drawingml/2006/main" noGrp="1"/>
          </p:cNvSpPr>
          <p:nvPr/>
        </p:nvSpPr>
        <p:spPr>
          <a:xfrm xmlns:a="http://schemas.openxmlformats.org/drawingml/2006/main">
            <a:off x="6038850" y="2562225"/>
            <a:ext cx="1209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7685F"/>
                </a:solidFill>
                <a:latin typeface="Arial"/>
                <a:ea typeface="Arial"/>
                <a:cs typeface="Arial"/>
              </a:defRPr>
            </a:pPr>
            <a:r>
              <a:rPr sz="1350" b="1">
                <a:solidFill>
                  <a:srgbClr val="17685F"/>
                </a:solidFill>
                <a:latin typeface="Arial"/>
                <a:ea typeface="Arial"/>
                <a:cs typeface="Arial"/>
              </a:rPr>
              <a:t>500 kVA</a:t>
            </a:r>
          </a:p>
        </p:txBody>
      </p:sp>
      <p:sp>
        <p:nvSpPr>
          <p:cNvPr id="17" name="">
            <a:extLst xmlns:a="http://schemas.openxmlformats.org/drawingml/2006/main">
              <a:ext uri="{FF2B5EF4-FFF2-40B4-BE49-F238E27FC236}">
                <a16:creationId xmlns:a16="http://schemas.microsoft.com/office/drawing/2014/main" id="{F9F2F318-3463-472F-A953-E0CEA310E179}"/>
              </a:ext>
            </a:extLst>
          </p:cNvPr>
          <p:cNvSpPr>
            <a:spLocks xmlns:a="http://schemas.openxmlformats.org/drawingml/2006/main" noGrp="1"/>
          </p:cNvSpPr>
          <p:nvPr/>
        </p:nvSpPr>
        <p:spPr>
          <a:xfrm xmlns:a="http://schemas.openxmlformats.org/drawingml/2006/main">
            <a:off x="5905500" y="3067050"/>
            <a:ext cx="1476375" cy="400050"/>
          </a:xfrm>
          <a:prstGeom xmlns:a="http://schemas.openxmlformats.org/drawingml/2006/main" prst="roundRect">
            <a:avLst>
              <a:gd name="adj" fmla="val 33333"/>
            </a:avLst>
          </a:prstGeom>
          <a:solidFill xmlns:a="http://schemas.openxmlformats.org/drawingml/2006/main">
            <a:srgbClr val="B7D9D2"/>
          </a:solidFill>
          <a:ln xmlns:a="http://schemas.openxmlformats.org/drawingml/2006/main" w="0">
            <a:solidFill>
              <a:srgbClr val="B7D9D2"/>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EE1EB5FF-43BD-415E-9B65-7B57986F4B0E}"/>
              </a:ext>
            </a:extLst>
          </p:cNvPr>
          <p:cNvSpPr>
            <a:spLocks xmlns:a="http://schemas.openxmlformats.org/drawingml/2006/main" noGrp="1"/>
          </p:cNvSpPr>
          <p:nvPr/>
        </p:nvSpPr>
        <p:spPr>
          <a:xfrm xmlns:a="http://schemas.openxmlformats.org/drawingml/2006/main">
            <a:off x="6038850" y="3114675"/>
            <a:ext cx="1209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7685F"/>
                </a:solidFill>
                <a:latin typeface="Arial"/>
                <a:ea typeface="Arial"/>
                <a:cs typeface="Arial"/>
              </a:defRPr>
            </a:pPr>
            <a:r>
              <a:rPr sz="1350" b="1">
                <a:solidFill>
                  <a:srgbClr val="17685F"/>
                </a:solidFill>
                <a:latin typeface="Arial"/>
                <a:ea typeface="Arial"/>
                <a:cs typeface="Arial"/>
              </a:rPr>
              <a:t>500 kVA</a:t>
            </a:r>
          </a:p>
        </p:txBody>
      </p:sp>
      <p:sp>
        <p:nvSpPr>
          <p:cNvPr id="19" name="">
            <a:extLst xmlns:a="http://schemas.openxmlformats.org/drawingml/2006/main">
              <a:ext uri="{FF2B5EF4-FFF2-40B4-BE49-F238E27FC236}">
                <a16:creationId xmlns:a16="http://schemas.microsoft.com/office/drawing/2014/main" id="{42568542-4C8A-45F5-9CD6-BE4FB8E84EAB}"/>
              </a:ext>
            </a:extLst>
          </p:cNvPr>
          <p:cNvSpPr>
            <a:spLocks xmlns:a="http://schemas.openxmlformats.org/drawingml/2006/main" noGrp="1"/>
          </p:cNvSpPr>
          <p:nvPr/>
        </p:nvSpPr>
        <p:spPr>
          <a:xfrm xmlns:a="http://schemas.openxmlformats.org/drawingml/2006/main">
            <a:off x="5905500" y="3619500"/>
            <a:ext cx="3143250" cy="400050"/>
          </a:xfrm>
          <a:prstGeom xmlns:a="http://schemas.openxmlformats.org/drawingml/2006/main" prst="roundRect">
            <a:avLst>
              <a:gd name="adj" fmla="val 33333"/>
            </a:avLst>
          </a:prstGeom>
          <a:solidFill xmlns:a="http://schemas.openxmlformats.org/drawingml/2006/main">
            <a:srgbClr val="B7D9D2"/>
          </a:solidFill>
          <a:ln xmlns:a="http://schemas.openxmlformats.org/drawingml/2006/main" w="0">
            <a:solidFill>
              <a:srgbClr val="B7D9D2"/>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35D93279-1CC6-49EA-AEDF-FF9DC09D7A34}"/>
              </a:ext>
            </a:extLst>
          </p:cNvPr>
          <p:cNvSpPr>
            <a:spLocks xmlns:a="http://schemas.openxmlformats.org/drawingml/2006/main" noGrp="1"/>
          </p:cNvSpPr>
          <p:nvPr/>
        </p:nvSpPr>
        <p:spPr>
          <a:xfrm xmlns:a="http://schemas.openxmlformats.org/drawingml/2006/main">
            <a:off x="6038850" y="3667125"/>
            <a:ext cx="2876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7685F"/>
                </a:solidFill>
                <a:latin typeface="Arial"/>
                <a:ea typeface="Arial"/>
                <a:cs typeface="Arial"/>
              </a:defRPr>
            </a:pPr>
            <a:r>
              <a:rPr sz="1350" b="1">
                <a:solidFill>
                  <a:srgbClr val="17685F"/>
                </a:solidFill>
                <a:latin typeface="Arial"/>
                <a:ea typeface="Arial"/>
                <a:cs typeface="Arial"/>
              </a:rPr>
              <a:t>1,600 kVA</a:t>
            </a:r>
          </a:p>
        </p:txBody>
      </p:sp>
      <p:sp>
        <p:nvSpPr>
          <p:cNvPr id="21" name="">
            <a:extLst xmlns:a="http://schemas.openxmlformats.org/drawingml/2006/main">
              <a:ext uri="{FF2B5EF4-FFF2-40B4-BE49-F238E27FC236}">
                <a16:creationId xmlns:a16="http://schemas.microsoft.com/office/drawing/2014/main" id="{D750B4FC-50CE-4909-AD02-523C8744FE6E}"/>
              </a:ext>
            </a:extLst>
          </p:cNvPr>
          <p:cNvSpPr>
            <a:spLocks xmlns:a="http://schemas.openxmlformats.org/drawingml/2006/main" noGrp="1"/>
          </p:cNvSpPr>
          <p:nvPr/>
        </p:nvSpPr>
        <p:spPr>
          <a:xfrm xmlns:a="http://schemas.openxmlformats.org/drawingml/2006/main">
            <a:off x="5905500" y="4171950"/>
            <a:ext cx="1809750" cy="400050"/>
          </a:xfrm>
          <a:prstGeom xmlns:a="http://schemas.openxmlformats.org/drawingml/2006/main" prst="roundRect">
            <a:avLst>
              <a:gd name="adj" fmla="val 33333"/>
            </a:avLst>
          </a:prstGeom>
          <a:solidFill xmlns:a="http://schemas.openxmlformats.org/drawingml/2006/main">
            <a:srgbClr val="B7D9D2"/>
          </a:solidFill>
          <a:ln xmlns:a="http://schemas.openxmlformats.org/drawingml/2006/main" w="0">
            <a:solidFill>
              <a:srgbClr val="B7D9D2"/>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CBBF87CE-C5DE-48EE-9CB6-6086AA780624}"/>
              </a:ext>
            </a:extLst>
          </p:cNvPr>
          <p:cNvSpPr>
            <a:spLocks xmlns:a="http://schemas.openxmlformats.org/drawingml/2006/main" noGrp="1"/>
          </p:cNvSpPr>
          <p:nvPr/>
        </p:nvSpPr>
        <p:spPr>
          <a:xfrm xmlns:a="http://schemas.openxmlformats.org/drawingml/2006/main">
            <a:off x="6038850" y="4219575"/>
            <a:ext cx="1543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7685F"/>
                </a:solidFill>
                <a:latin typeface="Arial"/>
                <a:ea typeface="Arial"/>
                <a:cs typeface="Arial"/>
              </a:defRPr>
            </a:pPr>
            <a:r>
              <a:rPr sz="1350" b="1">
                <a:solidFill>
                  <a:srgbClr val="17685F"/>
                </a:solidFill>
                <a:latin typeface="Arial"/>
                <a:ea typeface="Arial"/>
                <a:cs typeface="Arial"/>
              </a:rPr>
              <a:t>630 kVA</a:t>
            </a:r>
          </a:p>
        </p:txBody>
      </p:sp>
      <p:sp>
        <p:nvSpPr>
          <p:cNvPr id="23" name="">
            <a:extLst xmlns:a="http://schemas.openxmlformats.org/drawingml/2006/main">
              <a:ext uri="{FF2B5EF4-FFF2-40B4-BE49-F238E27FC236}">
                <a16:creationId xmlns:a16="http://schemas.microsoft.com/office/drawing/2014/main" id="{C1CBA59B-F1C9-4408-AB76-C8C61042453C}"/>
              </a:ext>
            </a:extLst>
          </p:cNvPr>
          <p:cNvSpPr>
            <a:spLocks xmlns:a="http://schemas.openxmlformats.org/drawingml/2006/main" noGrp="1"/>
          </p:cNvSpPr>
          <p:nvPr/>
        </p:nvSpPr>
        <p:spPr>
          <a:xfrm xmlns:a="http://schemas.openxmlformats.org/drawingml/2006/main">
            <a:off x="5905500" y="48768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685F"/>
                </a:solidFill>
                <a:latin typeface="Arial"/>
                <a:ea typeface="Arial"/>
                <a:cs typeface="Arial"/>
              </a:defRPr>
            </a:pPr>
            <a:r>
              <a:rPr sz="1650" b="1">
                <a:solidFill>
                  <a:srgbClr val="17685F"/>
                </a:solidFill>
                <a:latin typeface="Arial"/>
                <a:ea typeface="Arial"/>
                <a:cs typeface="Arial"/>
              </a:rPr>
              <a:t>3,230 kVA total installed transformer capacity</a:t>
            </a:r>
          </a:p>
        </p:txBody>
      </p:sp>
      <p:sp>
        <p:nvSpPr>
          <p:cNvPr id="24" name="">
            <a:extLst xmlns:a="http://schemas.openxmlformats.org/drawingml/2006/main">
              <a:ext uri="{FF2B5EF4-FFF2-40B4-BE49-F238E27FC236}">
                <a16:creationId xmlns:a16="http://schemas.microsoft.com/office/drawing/2014/main" id="{C6684531-1E2F-4193-B580-3291A2C087D2}"/>
              </a:ext>
            </a:extLst>
          </p:cNvPr>
          <p:cNvSpPr>
            <a:spLocks xmlns:a="http://schemas.openxmlformats.org/drawingml/2006/main" noGrp="1"/>
          </p:cNvSpPr>
          <p:nvPr/>
        </p:nvSpPr>
        <p:spPr>
          <a:xfrm xmlns:a="http://schemas.openxmlformats.org/drawingml/2006/main">
            <a:off x="514350" y="56388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0">
                <a:solidFill>
                  <a:srgbClr val="143B37"/>
                </a:solidFill>
                <a:latin typeface="Arial"/>
                <a:ea typeface="Arial"/>
                <a:cs typeface="Arial"/>
              </a:defRPr>
            </a:pPr>
            <a:r>
              <a:rPr sz="1425" b="0">
                <a:solidFill>
                  <a:srgbClr val="143B37"/>
                </a:solidFill>
                <a:latin typeface="Arial"/>
                <a:ea typeface="Arial"/>
                <a:cs typeface="Arial"/>
              </a:rPr>
              <a:t>2025 monthly use: 459-645 MWh  |  on-peak maximum demand: 1.21-1.38 MW</a:t>
            </a:r>
          </a:p>
        </p:txBody>
      </p:sp>
    </p:spTree>
    <p:extLst>
      <p:ext uri="{BB962C8B-B14F-4D97-AF65-F5344CB8AC3E}">
        <p14:creationId xmlns:p14="http://schemas.microsoft.com/office/powerpoint/2010/main" val="939902963"/>
      </p:ext>
    </p:extLst>
  </p:cSld>
</p:sld>
</file>

<file path=ppt/slides/slide3.xml><?xml version="1.0" encoding="utf-8"?>
<p:sld xmlns:p="http://schemas.openxmlformats.org/presentationml/2006/main">
  <p:cSld>
    <p:bg>
      <p:bgPr>
        <a:solidFill xmlns:a="http://schemas.openxmlformats.org/drawingml/2006/main">
          <a:srgbClr val="EAF5F2"/>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B8B23D9-AF74-4B18-9710-35618F19FEB8}"/>
              </a:ext>
            </a:extLst>
          </p:cNvPr>
          <p:cNvSpPr>
            <a:spLocks xmlns:a="http://schemas.openxmlformats.org/drawingml/2006/main" noGrp="1"/>
          </p:cNvSpPr>
          <p:nvPr/>
        </p:nvSpPr>
        <p:spPr>
          <a:xfrm xmlns:a="http://schemas.openxmlformats.org/drawingml/2006/main">
            <a:off x="76200" y="76200"/>
            <a:ext cx="12039600" cy="914400"/>
          </a:xfrm>
          <a:prstGeom xmlns:a="http://schemas.openxmlformats.org/drawingml/2006/main" prst="roundRect">
            <a:avLst>
              <a:gd name="adj" fmla="val 22917"/>
            </a:avLst>
          </a:prstGeom>
          <a:solidFill xmlns:a="http://schemas.openxmlformats.org/drawingml/2006/main">
            <a:srgbClr val="24857B"/>
          </a:solidFill>
          <a:ln xmlns:a="http://schemas.openxmlformats.org/drawingml/2006/main" w="0">
            <a:solidFill>
              <a:srgbClr val="24857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79E93F7-2EA1-4EE7-945D-5D88C1F35367}"/>
              </a:ext>
            </a:extLst>
          </p:cNvPr>
          <p:cNvSpPr>
            <a:spLocks xmlns:a="http://schemas.openxmlformats.org/drawingml/2006/main" noGrp="1"/>
          </p:cNvSpPr>
          <p:nvPr/>
        </p:nvSpPr>
        <p:spPr>
          <a:xfrm xmlns:a="http://schemas.openxmlformats.org/drawingml/2006/main">
            <a:off x="400050" y="2476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The monthly bill has five building blocks</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a44ee23fb7a548c3"/>
          <a:stretch xmlns:a="http://schemas.openxmlformats.org/drawingml/2006/main"/>
        </p:blipFill>
        <p:spPr>
          <a:xfrm xmlns:a="http://schemas.openxmlformats.org/drawingml/2006/main">
            <a:off x="10096500" y="195629"/>
            <a:ext cx="1762125" cy="54219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4699ADB-6668-4F64-85FF-7AEDF69C47CA}"/>
              </a:ext>
            </a:extLst>
          </p:cNvPr>
          <p:cNvSpPr>
            <a:spLocks xmlns:a="http://schemas.openxmlformats.org/drawingml/2006/main" noGrp="1"/>
          </p:cNvSpPr>
          <p:nvPr/>
        </p:nvSpPr>
        <p:spPr>
          <a:xfrm xmlns:a="http://schemas.openxmlformats.org/drawingml/2006/main">
            <a:off x="400050" y="65151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4D6D68"/>
                </a:solidFill>
                <a:latin typeface="Arial"/>
                <a:ea typeface="Arial"/>
                <a:cs typeface="Arial"/>
              </a:defRPr>
            </a:pPr>
            <a:r>
              <a:rPr sz="900" b="0">
                <a:solidFill>
                  <a:srgbClr val="4D6D68"/>
                </a:solidFill>
                <a:latin typeface="Arial"/>
                <a:ea typeface="Arial"/>
                <a:cs typeface="Arial"/>
              </a:rPr>
              <a:t>Internal briefing  |  September 2026</a:t>
            </a:r>
          </a:p>
        </p:txBody>
      </p:sp>
      <p:sp>
        <p:nvSpPr>
          <p:cNvPr id="5" name="">
            <a:extLst xmlns:a="http://schemas.openxmlformats.org/drawingml/2006/main">
              <a:ext uri="{FF2B5EF4-FFF2-40B4-BE49-F238E27FC236}">
                <a16:creationId xmlns:a16="http://schemas.microsoft.com/office/drawing/2014/main" id="{0B7A5AED-D7A2-406E-9E0B-0A2B0E91B1EB}"/>
              </a:ext>
            </a:extLst>
          </p:cNvPr>
          <p:cNvSpPr>
            <a:spLocks xmlns:a="http://schemas.openxmlformats.org/drawingml/2006/main" noGrp="1"/>
          </p:cNvSpPr>
          <p:nvPr/>
        </p:nvSpPr>
        <p:spPr>
          <a:xfrm xmlns:a="http://schemas.openxmlformats.org/drawingml/2006/main">
            <a:off x="11430000" y="651510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4D6D68"/>
                </a:solidFill>
                <a:latin typeface="Arial"/>
                <a:ea typeface="Arial"/>
                <a:cs typeface="Arial"/>
              </a:defRPr>
            </a:pPr>
            <a:r>
              <a:rPr sz="900" b="0">
                <a:solidFill>
                  <a:srgbClr val="4D6D68"/>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16D5101A-7A04-44C7-8477-77FC9B149449}"/>
              </a:ext>
            </a:extLst>
          </p:cNvPr>
          <p:cNvSpPr>
            <a:spLocks xmlns:a="http://schemas.openxmlformats.org/drawingml/2006/main" noGrp="1"/>
          </p:cNvSpPr>
          <p:nvPr/>
        </p:nvSpPr>
        <p:spPr>
          <a:xfrm xmlns:a="http://schemas.openxmlformats.org/drawingml/2006/main">
            <a:off x="514350" y="12001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D6D68"/>
                </a:solidFill>
                <a:latin typeface="Arial"/>
                <a:ea typeface="Arial"/>
                <a:cs typeface="Arial"/>
              </a:defRPr>
            </a:pPr>
            <a:r>
              <a:rPr sz="1725" b="0">
                <a:solidFill>
                  <a:srgbClr val="4D6D68"/>
                </a:solidFill>
                <a:latin typeface="Arial"/>
                <a:ea typeface="Arial"/>
                <a:cs typeface="Arial"/>
              </a:rPr>
              <a:t>The utility first calculates usage and capacity charges, then adds VAT</a:t>
            </a:r>
          </a:p>
        </p:txBody>
      </p:sp>
      <p:sp>
        <p:nvSpPr>
          <p:cNvPr id="7" name="">
            <a:extLst xmlns:a="http://schemas.openxmlformats.org/drawingml/2006/main">
              <a:ext uri="{FF2B5EF4-FFF2-40B4-BE49-F238E27FC236}">
                <a16:creationId xmlns:a16="http://schemas.microsoft.com/office/drawing/2014/main" id="{7F9D7541-7641-49B0-87DF-92BB92EB38D5}"/>
              </a:ext>
            </a:extLst>
          </p:cNvPr>
          <p:cNvSpPr>
            <a:spLocks xmlns:a="http://schemas.openxmlformats.org/drawingml/2006/main" noGrp="1"/>
          </p:cNvSpPr>
          <p:nvPr/>
        </p:nvSpPr>
        <p:spPr>
          <a:xfrm xmlns:a="http://schemas.openxmlformats.org/drawingml/2006/main">
            <a:off x="514350" y="2000250"/>
            <a:ext cx="1952625" cy="1476375"/>
          </a:xfrm>
          <a:prstGeom xmlns:a="http://schemas.openxmlformats.org/drawingml/2006/main" prst="roundRect">
            <a:avLst>
              <a:gd name="adj" fmla="val 11613"/>
            </a:avLst>
          </a:prstGeom>
          <a:solidFill xmlns:a="http://schemas.openxmlformats.org/drawingml/2006/main">
            <a:srgbClr val="E98A55"/>
          </a:solidFill>
          <a:ln xmlns:a="http://schemas.openxmlformats.org/drawingml/2006/main" w="0">
            <a:solidFill>
              <a:srgbClr val="E98A55"/>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C4B0DF1E-5697-43CC-B444-F5EB872231EE}"/>
              </a:ext>
            </a:extLst>
          </p:cNvPr>
          <p:cNvSpPr>
            <a:spLocks xmlns:a="http://schemas.openxmlformats.org/drawingml/2006/main" noGrp="1"/>
          </p:cNvSpPr>
          <p:nvPr/>
        </p:nvSpPr>
        <p:spPr>
          <a:xfrm xmlns:a="http://schemas.openxmlformats.org/drawingml/2006/main">
            <a:off x="647700" y="2190750"/>
            <a:ext cx="16859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Peak energy</a:t>
            </a:r>
          </a:p>
        </p:txBody>
      </p:sp>
      <p:sp>
        <p:nvSpPr>
          <p:cNvPr id="9" name="">
            <a:extLst xmlns:a="http://schemas.openxmlformats.org/drawingml/2006/main">
              <a:ext uri="{FF2B5EF4-FFF2-40B4-BE49-F238E27FC236}">
                <a16:creationId xmlns:a16="http://schemas.microsoft.com/office/drawing/2014/main" id="{C17D10AE-1357-4065-962B-7D475C1AE097}"/>
              </a:ext>
            </a:extLst>
          </p:cNvPr>
          <p:cNvSpPr>
            <a:spLocks xmlns:a="http://schemas.openxmlformats.org/drawingml/2006/main" noGrp="1"/>
          </p:cNvSpPr>
          <p:nvPr/>
        </p:nvSpPr>
        <p:spPr>
          <a:xfrm xmlns:a="http://schemas.openxmlformats.org/drawingml/2006/main">
            <a:off x="647700" y="2857500"/>
            <a:ext cx="16859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FFFFFF"/>
                </a:solidFill>
                <a:latin typeface="Arial"/>
                <a:ea typeface="Arial"/>
                <a:cs typeface="Arial"/>
              </a:defRPr>
            </a:pPr>
            <a:r>
              <a:rPr sz="1275" b="0">
                <a:solidFill>
                  <a:srgbClr val="FFFFFF"/>
                </a:solidFill>
                <a:latin typeface="Arial"/>
                <a:ea typeface="Arial"/>
                <a:cs typeface="Arial"/>
              </a:rPr>
              <a:t>kWh × 4.1839</a:t>
            </a:r>
          </a:p>
        </p:txBody>
      </p:sp>
      <p:sp>
        <p:nvSpPr>
          <p:cNvPr id="10" name="">
            <a:extLst xmlns:a="http://schemas.openxmlformats.org/drawingml/2006/main">
              <a:ext uri="{FF2B5EF4-FFF2-40B4-BE49-F238E27FC236}">
                <a16:creationId xmlns:a16="http://schemas.microsoft.com/office/drawing/2014/main" id="{63D02E93-04F6-4BCC-96EA-40F8F84D0A74}"/>
              </a:ext>
            </a:extLst>
          </p:cNvPr>
          <p:cNvSpPr>
            <a:spLocks xmlns:a="http://schemas.openxmlformats.org/drawingml/2006/main" noGrp="1"/>
          </p:cNvSpPr>
          <p:nvPr/>
        </p:nvSpPr>
        <p:spPr>
          <a:xfrm xmlns:a="http://schemas.openxmlformats.org/drawingml/2006/main">
            <a:off x="2657475" y="2000250"/>
            <a:ext cx="2143125" cy="1476375"/>
          </a:xfrm>
          <a:prstGeom xmlns:a="http://schemas.openxmlformats.org/drawingml/2006/main" prst="roundRect">
            <a:avLst>
              <a:gd name="adj" fmla="val 11613"/>
            </a:avLst>
          </a:prstGeom>
          <a:solidFill xmlns:a="http://schemas.openxmlformats.org/drawingml/2006/main">
            <a:srgbClr val="3F8E73"/>
          </a:solidFill>
          <a:ln xmlns:a="http://schemas.openxmlformats.org/drawingml/2006/main" w="0">
            <a:solidFill>
              <a:srgbClr val="3F8E73"/>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37F2A84-AE69-4674-997E-366ADFA4AE2C}"/>
              </a:ext>
            </a:extLst>
          </p:cNvPr>
          <p:cNvSpPr>
            <a:spLocks xmlns:a="http://schemas.openxmlformats.org/drawingml/2006/main" noGrp="1"/>
          </p:cNvSpPr>
          <p:nvPr/>
        </p:nvSpPr>
        <p:spPr>
          <a:xfrm xmlns:a="http://schemas.openxmlformats.org/drawingml/2006/main">
            <a:off x="2790825" y="2190750"/>
            <a:ext cx="18764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Off-peak + holiday</a:t>
            </a:r>
          </a:p>
        </p:txBody>
      </p:sp>
      <p:sp>
        <p:nvSpPr>
          <p:cNvPr id="12" name="">
            <a:extLst xmlns:a="http://schemas.openxmlformats.org/drawingml/2006/main">
              <a:ext uri="{FF2B5EF4-FFF2-40B4-BE49-F238E27FC236}">
                <a16:creationId xmlns:a16="http://schemas.microsoft.com/office/drawing/2014/main" id="{86DB2C8D-50A2-4683-B6B1-C041BD853568}"/>
              </a:ext>
            </a:extLst>
          </p:cNvPr>
          <p:cNvSpPr>
            <a:spLocks xmlns:a="http://schemas.openxmlformats.org/drawingml/2006/main" noGrp="1"/>
          </p:cNvSpPr>
          <p:nvPr/>
        </p:nvSpPr>
        <p:spPr>
          <a:xfrm xmlns:a="http://schemas.openxmlformats.org/drawingml/2006/main">
            <a:off x="2790825" y="2857500"/>
            <a:ext cx="18764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FFFFFF"/>
                </a:solidFill>
                <a:latin typeface="Arial"/>
                <a:ea typeface="Arial"/>
                <a:cs typeface="Arial"/>
              </a:defRPr>
            </a:pPr>
            <a:r>
              <a:rPr sz="1275" b="0">
                <a:solidFill>
                  <a:srgbClr val="FFFFFF"/>
                </a:solidFill>
                <a:latin typeface="Arial"/>
                <a:ea typeface="Arial"/>
                <a:cs typeface="Arial"/>
              </a:rPr>
              <a:t>kWh × 2.6037</a:t>
            </a:r>
          </a:p>
        </p:txBody>
      </p:sp>
      <p:sp>
        <p:nvSpPr>
          <p:cNvPr id="13" name="">
            <a:extLst xmlns:a="http://schemas.openxmlformats.org/drawingml/2006/main">
              <a:ext uri="{FF2B5EF4-FFF2-40B4-BE49-F238E27FC236}">
                <a16:creationId xmlns:a16="http://schemas.microsoft.com/office/drawing/2014/main" id="{7F6774CE-76ED-4E24-B540-F67105F12492}"/>
              </a:ext>
            </a:extLst>
          </p:cNvPr>
          <p:cNvSpPr>
            <a:spLocks xmlns:a="http://schemas.openxmlformats.org/drawingml/2006/main" noGrp="1"/>
          </p:cNvSpPr>
          <p:nvPr/>
        </p:nvSpPr>
        <p:spPr>
          <a:xfrm xmlns:a="http://schemas.openxmlformats.org/drawingml/2006/main">
            <a:off x="4991100" y="2000250"/>
            <a:ext cx="1952625" cy="1476375"/>
          </a:xfrm>
          <a:prstGeom xmlns:a="http://schemas.openxmlformats.org/drawingml/2006/main" prst="roundRect">
            <a:avLst>
              <a:gd name="adj" fmla="val 11613"/>
            </a:avLst>
          </a:prstGeom>
          <a:solidFill xmlns:a="http://schemas.openxmlformats.org/drawingml/2006/main">
            <a:srgbClr val="F7D98B"/>
          </a:solidFill>
          <a:ln xmlns:a="http://schemas.openxmlformats.org/drawingml/2006/main" w="0">
            <a:solidFill>
              <a:srgbClr val="F7D98B"/>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DE7650BE-E2C4-405F-A3D6-18494EF364F7}"/>
              </a:ext>
            </a:extLst>
          </p:cNvPr>
          <p:cNvSpPr>
            <a:spLocks xmlns:a="http://schemas.openxmlformats.org/drawingml/2006/main" noGrp="1"/>
          </p:cNvSpPr>
          <p:nvPr/>
        </p:nvSpPr>
        <p:spPr>
          <a:xfrm xmlns:a="http://schemas.openxmlformats.org/drawingml/2006/main">
            <a:off x="5124450" y="2190750"/>
            <a:ext cx="16859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143B37"/>
                </a:solidFill>
                <a:latin typeface="Arial"/>
                <a:ea typeface="Arial"/>
                <a:cs typeface="Arial"/>
              </a:defRPr>
            </a:pPr>
            <a:r>
              <a:rPr sz="1500" b="1">
                <a:solidFill>
                  <a:srgbClr val="143B37"/>
                </a:solidFill>
                <a:latin typeface="Arial"/>
                <a:ea typeface="Arial"/>
                <a:cs typeface="Arial"/>
              </a:rPr>
              <a:t>On-peak demand</a:t>
            </a:r>
          </a:p>
        </p:txBody>
      </p:sp>
      <p:sp>
        <p:nvSpPr>
          <p:cNvPr id="15" name="">
            <a:extLst xmlns:a="http://schemas.openxmlformats.org/drawingml/2006/main">
              <a:ext uri="{FF2B5EF4-FFF2-40B4-BE49-F238E27FC236}">
                <a16:creationId xmlns:a16="http://schemas.microsoft.com/office/drawing/2014/main" id="{B47DDA41-CA3D-4660-A4E4-1D6248F3E841}"/>
              </a:ext>
            </a:extLst>
          </p:cNvPr>
          <p:cNvSpPr>
            <a:spLocks xmlns:a="http://schemas.openxmlformats.org/drawingml/2006/main" noGrp="1"/>
          </p:cNvSpPr>
          <p:nvPr/>
        </p:nvSpPr>
        <p:spPr>
          <a:xfrm xmlns:a="http://schemas.openxmlformats.org/drawingml/2006/main">
            <a:off x="5124450" y="2857500"/>
            <a:ext cx="16859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143B37"/>
                </a:solidFill>
                <a:latin typeface="Arial"/>
                <a:ea typeface="Arial"/>
                <a:cs typeface="Arial"/>
              </a:defRPr>
            </a:pPr>
            <a:r>
              <a:rPr sz="1275" b="0">
                <a:solidFill>
                  <a:srgbClr val="143B37"/>
                </a:solidFill>
                <a:latin typeface="Arial"/>
                <a:ea typeface="Arial"/>
                <a:cs typeface="Arial"/>
              </a:rPr>
              <a:t>max kW × 132.93</a:t>
            </a:r>
          </a:p>
        </p:txBody>
      </p:sp>
      <p:sp>
        <p:nvSpPr>
          <p:cNvPr id="16" name="">
            <a:extLst xmlns:a="http://schemas.openxmlformats.org/drawingml/2006/main">
              <a:ext uri="{FF2B5EF4-FFF2-40B4-BE49-F238E27FC236}">
                <a16:creationId xmlns:a16="http://schemas.microsoft.com/office/drawing/2014/main" id="{F776D349-BEF4-40AB-BF9C-7316617E2DB0}"/>
              </a:ext>
            </a:extLst>
          </p:cNvPr>
          <p:cNvSpPr>
            <a:spLocks xmlns:a="http://schemas.openxmlformats.org/drawingml/2006/main" noGrp="1"/>
          </p:cNvSpPr>
          <p:nvPr/>
        </p:nvSpPr>
        <p:spPr>
          <a:xfrm xmlns:a="http://schemas.openxmlformats.org/drawingml/2006/main">
            <a:off x="7134225" y="2000250"/>
            <a:ext cx="1476375" cy="1476375"/>
          </a:xfrm>
          <a:prstGeom xmlns:a="http://schemas.openxmlformats.org/drawingml/2006/main" prst="roundRect">
            <a:avLst>
              <a:gd name="adj" fmla="val 11613"/>
            </a:avLst>
          </a:prstGeom>
          <a:solidFill xmlns:a="http://schemas.openxmlformats.org/drawingml/2006/main">
            <a:srgbClr val="B7D9D2"/>
          </a:solidFill>
          <a:ln xmlns:a="http://schemas.openxmlformats.org/drawingml/2006/main" w="0">
            <a:solidFill>
              <a:srgbClr val="B7D9D2"/>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E2C782D6-0FC0-4016-96EA-13760ADE21E0}"/>
              </a:ext>
            </a:extLst>
          </p:cNvPr>
          <p:cNvSpPr>
            <a:spLocks xmlns:a="http://schemas.openxmlformats.org/drawingml/2006/main" noGrp="1"/>
          </p:cNvSpPr>
          <p:nvPr/>
        </p:nvSpPr>
        <p:spPr>
          <a:xfrm xmlns:a="http://schemas.openxmlformats.org/drawingml/2006/main">
            <a:off x="7267575" y="2190750"/>
            <a:ext cx="12096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Service</a:t>
            </a:r>
          </a:p>
        </p:txBody>
      </p:sp>
      <p:sp>
        <p:nvSpPr>
          <p:cNvPr id="18" name="">
            <a:extLst xmlns:a="http://schemas.openxmlformats.org/drawingml/2006/main">
              <a:ext uri="{FF2B5EF4-FFF2-40B4-BE49-F238E27FC236}">
                <a16:creationId xmlns:a16="http://schemas.microsoft.com/office/drawing/2014/main" id="{11C2ACB0-BC8A-4252-80EA-1BA4E22612A4}"/>
              </a:ext>
            </a:extLst>
          </p:cNvPr>
          <p:cNvSpPr>
            <a:spLocks xmlns:a="http://schemas.openxmlformats.org/drawingml/2006/main" noGrp="1"/>
          </p:cNvSpPr>
          <p:nvPr/>
        </p:nvSpPr>
        <p:spPr>
          <a:xfrm xmlns:a="http://schemas.openxmlformats.org/drawingml/2006/main">
            <a:off x="7267575" y="2857500"/>
            <a:ext cx="1209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FFFFFF"/>
                </a:solidFill>
                <a:latin typeface="Arial"/>
                <a:ea typeface="Arial"/>
                <a:cs typeface="Arial"/>
              </a:defRPr>
            </a:pPr>
            <a:r>
              <a:rPr sz="1275" b="0">
                <a:solidFill>
                  <a:srgbClr val="FFFFFF"/>
                </a:solidFill>
                <a:latin typeface="Arial"/>
                <a:ea typeface="Arial"/>
                <a:cs typeface="Arial"/>
              </a:rPr>
              <a:t>THB 312.24</a:t>
            </a:r>
          </a:p>
        </p:txBody>
      </p:sp>
      <p:sp>
        <p:nvSpPr>
          <p:cNvPr id="19" name="">
            <a:extLst xmlns:a="http://schemas.openxmlformats.org/drawingml/2006/main">
              <a:ext uri="{FF2B5EF4-FFF2-40B4-BE49-F238E27FC236}">
                <a16:creationId xmlns:a16="http://schemas.microsoft.com/office/drawing/2014/main" id="{A89A69FB-C9CC-4137-A21B-154DCF581635}"/>
              </a:ext>
            </a:extLst>
          </p:cNvPr>
          <p:cNvSpPr>
            <a:spLocks xmlns:a="http://schemas.openxmlformats.org/drawingml/2006/main" noGrp="1"/>
          </p:cNvSpPr>
          <p:nvPr/>
        </p:nvSpPr>
        <p:spPr>
          <a:xfrm xmlns:a="http://schemas.openxmlformats.org/drawingml/2006/main">
            <a:off x="8801100" y="2000250"/>
            <a:ext cx="2143125" cy="1476375"/>
          </a:xfrm>
          <a:prstGeom xmlns:a="http://schemas.openxmlformats.org/drawingml/2006/main" prst="roundRect">
            <a:avLst>
              <a:gd name="adj" fmla="val 11613"/>
            </a:avLst>
          </a:prstGeom>
          <a:solidFill xmlns:a="http://schemas.openxmlformats.org/drawingml/2006/main">
            <a:srgbClr val="D77C7F"/>
          </a:solidFill>
          <a:ln xmlns:a="http://schemas.openxmlformats.org/drawingml/2006/main" w="0">
            <a:solidFill>
              <a:srgbClr val="D77C7F"/>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754CB837-5712-4821-B9FD-8212E98AC13B}"/>
              </a:ext>
            </a:extLst>
          </p:cNvPr>
          <p:cNvSpPr>
            <a:spLocks xmlns:a="http://schemas.openxmlformats.org/drawingml/2006/main" noGrp="1"/>
          </p:cNvSpPr>
          <p:nvPr/>
        </p:nvSpPr>
        <p:spPr>
          <a:xfrm xmlns:a="http://schemas.openxmlformats.org/drawingml/2006/main">
            <a:off x="8934450" y="2190750"/>
            <a:ext cx="18764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Ft adjustment</a:t>
            </a:r>
          </a:p>
        </p:txBody>
      </p:sp>
      <p:sp>
        <p:nvSpPr>
          <p:cNvPr id="21" name="">
            <a:extLst xmlns:a="http://schemas.openxmlformats.org/drawingml/2006/main">
              <a:ext uri="{FF2B5EF4-FFF2-40B4-BE49-F238E27FC236}">
                <a16:creationId xmlns:a16="http://schemas.microsoft.com/office/drawing/2014/main" id="{BBB3BA69-5837-4B79-862D-985744A9D6E7}"/>
              </a:ext>
            </a:extLst>
          </p:cNvPr>
          <p:cNvSpPr>
            <a:spLocks xmlns:a="http://schemas.openxmlformats.org/drawingml/2006/main" noGrp="1"/>
          </p:cNvSpPr>
          <p:nvPr/>
        </p:nvSpPr>
        <p:spPr>
          <a:xfrm xmlns:a="http://schemas.openxmlformats.org/drawingml/2006/main">
            <a:off x="8934450" y="2857500"/>
            <a:ext cx="18764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FFFFFF"/>
                </a:solidFill>
                <a:latin typeface="Arial"/>
                <a:ea typeface="Arial"/>
                <a:cs typeface="Arial"/>
              </a:defRPr>
            </a:pPr>
            <a:r>
              <a:rPr sz="1275" b="0">
                <a:solidFill>
                  <a:srgbClr val="FFFFFF"/>
                </a:solidFill>
                <a:latin typeface="Arial"/>
                <a:ea typeface="Arial"/>
                <a:cs typeface="Arial"/>
              </a:rPr>
              <a:t>all kWh × Ft</a:t>
            </a:r>
          </a:p>
        </p:txBody>
      </p:sp>
      <p:sp>
        <p:nvSpPr>
          <p:cNvPr id="22" name="">
            <a:extLst xmlns:a="http://schemas.openxmlformats.org/drawingml/2006/main">
              <a:ext uri="{FF2B5EF4-FFF2-40B4-BE49-F238E27FC236}">
                <a16:creationId xmlns:a16="http://schemas.microsoft.com/office/drawing/2014/main" id="{D07554B0-F8A6-49E2-B61F-E86114ED3449}"/>
              </a:ext>
            </a:extLst>
          </p:cNvPr>
          <p:cNvSpPr>
            <a:spLocks xmlns:a="http://schemas.openxmlformats.org/drawingml/2006/main" noGrp="1"/>
          </p:cNvSpPr>
          <p:nvPr/>
        </p:nvSpPr>
        <p:spPr>
          <a:xfrm xmlns:a="http://schemas.openxmlformats.org/drawingml/2006/main">
            <a:off x="2476500" y="2505075"/>
            <a:ext cx="171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685F"/>
                </a:solidFill>
                <a:latin typeface="Arial"/>
                <a:ea typeface="Arial"/>
                <a:cs typeface="Arial"/>
              </a:defRPr>
            </a:pPr>
            <a:r>
              <a:rPr sz="2100" b="1">
                <a:solidFill>
                  <a:srgbClr val="17685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CC0ECE62-6774-40FC-BFC3-DCB1EF2D920F}"/>
              </a:ext>
            </a:extLst>
          </p:cNvPr>
          <p:cNvSpPr>
            <a:spLocks xmlns:a="http://schemas.openxmlformats.org/drawingml/2006/main" noGrp="1"/>
          </p:cNvSpPr>
          <p:nvPr/>
        </p:nvSpPr>
        <p:spPr>
          <a:xfrm xmlns:a="http://schemas.openxmlformats.org/drawingml/2006/main">
            <a:off x="4810125" y="2505075"/>
            <a:ext cx="171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685F"/>
                </a:solidFill>
                <a:latin typeface="Arial"/>
                <a:ea typeface="Arial"/>
                <a:cs typeface="Arial"/>
              </a:defRPr>
            </a:pPr>
            <a:r>
              <a:rPr sz="2100" b="1">
                <a:solidFill>
                  <a:srgbClr val="17685F"/>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4AF38488-6374-4F0F-9B50-05776F36D4B7}"/>
              </a:ext>
            </a:extLst>
          </p:cNvPr>
          <p:cNvSpPr>
            <a:spLocks xmlns:a="http://schemas.openxmlformats.org/drawingml/2006/main" noGrp="1"/>
          </p:cNvSpPr>
          <p:nvPr/>
        </p:nvSpPr>
        <p:spPr>
          <a:xfrm xmlns:a="http://schemas.openxmlformats.org/drawingml/2006/main">
            <a:off x="6953250" y="2505075"/>
            <a:ext cx="171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685F"/>
                </a:solidFill>
                <a:latin typeface="Arial"/>
                <a:ea typeface="Arial"/>
                <a:cs typeface="Arial"/>
              </a:defRPr>
            </a:pPr>
            <a:r>
              <a:rPr sz="2100" b="1">
                <a:solidFill>
                  <a:srgbClr val="17685F"/>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16E94060-5DAA-45F4-A02B-7D1235C6D332}"/>
              </a:ext>
            </a:extLst>
          </p:cNvPr>
          <p:cNvSpPr>
            <a:spLocks xmlns:a="http://schemas.openxmlformats.org/drawingml/2006/main" noGrp="1"/>
          </p:cNvSpPr>
          <p:nvPr/>
        </p:nvSpPr>
        <p:spPr>
          <a:xfrm xmlns:a="http://schemas.openxmlformats.org/drawingml/2006/main">
            <a:off x="8620125" y="2505075"/>
            <a:ext cx="171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685F"/>
                </a:solidFill>
                <a:latin typeface="Arial"/>
                <a:ea typeface="Arial"/>
                <a:cs typeface="Arial"/>
              </a:defRPr>
            </a:pPr>
            <a:r>
              <a:rPr sz="2100" b="1">
                <a:solidFill>
                  <a:srgbClr val="17685F"/>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F3FE6363-3120-4FAE-B3B7-1645BCDCF719}"/>
              </a:ext>
            </a:extLst>
          </p:cNvPr>
          <p:cNvSpPr>
            <a:spLocks xmlns:a="http://schemas.openxmlformats.org/drawingml/2006/main" noGrp="1"/>
          </p:cNvSpPr>
          <p:nvPr/>
        </p:nvSpPr>
        <p:spPr>
          <a:xfrm xmlns:a="http://schemas.openxmlformats.org/drawingml/2006/main">
            <a:off x="3028950" y="4038600"/>
            <a:ext cx="6096000" cy="914400"/>
          </a:xfrm>
          <a:prstGeom xmlns:a="http://schemas.openxmlformats.org/drawingml/2006/main" prst="roundRect">
            <a:avLst>
              <a:gd name="adj" fmla="val 20833"/>
            </a:avLst>
          </a:prstGeom>
          <a:solidFill xmlns:a="http://schemas.openxmlformats.org/drawingml/2006/main">
            <a:srgbClr val="17685F"/>
          </a:solidFill>
          <a:ln xmlns:a="http://schemas.openxmlformats.org/drawingml/2006/main" w="0">
            <a:solidFill>
              <a:srgbClr val="17685F"/>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D67F8F36-1477-4B30-89AC-B5E50F28EC2F}"/>
              </a:ext>
            </a:extLst>
          </p:cNvPr>
          <p:cNvSpPr>
            <a:spLocks xmlns:a="http://schemas.openxmlformats.org/drawingml/2006/main" noGrp="1"/>
          </p:cNvSpPr>
          <p:nvPr/>
        </p:nvSpPr>
        <p:spPr>
          <a:xfrm xmlns:a="http://schemas.openxmlformats.org/drawingml/2006/main">
            <a:off x="3276600" y="4229100"/>
            <a:ext cx="1571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Subtotal</a:t>
            </a:r>
          </a:p>
        </p:txBody>
      </p:sp>
      <p:sp>
        <p:nvSpPr>
          <p:cNvPr id="28" name="">
            <a:extLst xmlns:a="http://schemas.openxmlformats.org/drawingml/2006/main">
              <a:ext uri="{FF2B5EF4-FFF2-40B4-BE49-F238E27FC236}">
                <a16:creationId xmlns:a16="http://schemas.microsoft.com/office/drawing/2014/main" id="{6F75C983-424B-45EA-8307-EFE893593C03}"/>
              </a:ext>
            </a:extLst>
          </p:cNvPr>
          <p:cNvSpPr>
            <a:spLocks xmlns:a="http://schemas.openxmlformats.org/drawingml/2006/main" noGrp="1"/>
          </p:cNvSpPr>
          <p:nvPr/>
        </p:nvSpPr>
        <p:spPr>
          <a:xfrm xmlns:a="http://schemas.openxmlformats.org/drawingml/2006/main">
            <a:off x="5095875" y="4229100"/>
            <a:ext cx="1571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950" b="1">
                <a:solidFill>
                  <a:srgbClr val="CFE7E2"/>
                </a:solidFill>
                <a:latin typeface="Arial"/>
                <a:ea typeface="Arial"/>
                <a:cs typeface="Arial"/>
              </a:defRPr>
            </a:pPr>
            <a:r>
              <a:rPr sz="1950" b="1">
                <a:solidFill>
                  <a:srgbClr val="CFE7E2"/>
                </a:solidFill>
                <a:latin typeface="Arial"/>
                <a:ea typeface="Arial"/>
                <a:cs typeface="Arial"/>
              </a:rPr>
              <a:t>+ 7% VAT</a:t>
            </a:r>
          </a:p>
        </p:txBody>
      </p:sp>
      <p:sp>
        <p:nvSpPr>
          <p:cNvPr id="29" name="">
            <a:extLst xmlns:a="http://schemas.openxmlformats.org/drawingml/2006/main">
              <a:ext uri="{FF2B5EF4-FFF2-40B4-BE49-F238E27FC236}">
                <a16:creationId xmlns:a16="http://schemas.microsoft.com/office/drawing/2014/main" id="{21D066B3-7BF9-42B5-8B9E-225916CCC331}"/>
              </a:ext>
            </a:extLst>
          </p:cNvPr>
          <p:cNvSpPr>
            <a:spLocks xmlns:a="http://schemas.openxmlformats.org/drawingml/2006/main" noGrp="1"/>
          </p:cNvSpPr>
          <p:nvPr/>
        </p:nvSpPr>
        <p:spPr>
          <a:xfrm xmlns:a="http://schemas.openxmlformats.org/drawingml/2006/main">
            <a:off x="6800850" y="4229100"/>
            <a:ext cx="2047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Arial"/>
                <a:ea typeface="Arial"/>
                <a:cs typeface="Arial"/>
              </a:defRPr>
            </a:pPr>
            <a:r>
              <a:rPr sz="1950" b="1">
                <a:solidFill>
                  <a:srgbClr val="FFFFFF"/>
                </a:solidFill>
                <a:latin typeface="Arial"/>
                <a:ea typeface="Arial"/>
                <a:cs typeface="Arial"/>
              </a:rPr>
              <a:t>= amount due</a:t>
            </a:r>
          </a:p>
        </p:txBody>
      </p:sp>
      <p:sp>
        <p:nvSpPr>
          <p:cNvPr id="30" name="">
            <a:extLst xmlns:a="http://schemas.openxmlformats.org/drawingml/2006/main">
              <a:ext uri="{FF2B5EF4-FFF2-40B4-BE49-F238E27FC236}">
                <a16:creationId xmlns:a16="http://schemas.microsoft.com/office/drawing/2014/main" id="{F6298CC1-F15E-4E20-AF62-493DFBCD1DD1}"/>
              </a:ext>
            </a:extLst>
          </p:cNvPr>
          <p:cNvSpPr>
            <a:spLocks xmlns:a="http://schemas.openxmlformats.org/drawingml/2006/main" noGrp="1"/>
          </p:cNvSpPr>
          <p:nvPr/>
        </p:nvSpPr>
        <p:spPr>
          <a:xfrm xmlns:a="http://schemas.openxmlformats.org/drawingml/2006/main">
            <a:off x="1476375" y="5410200"/>
            <a:ext cx="923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4D6D68"/>
                </a:solidFill>
                <a:latin typeface="Arial"/>
                <a:ea typeface="Arial"/>
                <a:cs typeface="Arial"/>
              </a:defRPr>
            </a:pPr>
            <a:r>
              <a:rPr sz="1350" b="0">
                <a:solidFill>
                  <a:srgbClr val="4D6D68"/>
                </a:solidFill>
                <a:latin typeface="Arial"/>
                <a:ea typeface="Arial"/>
                <a:cs typeface="Arial"/>
              </a:rPr>
              <a:t>A power-factor charge can apply if reactive demand exceeds the tariff allowance.</a:t>
            </a:r>
          </a:p>
        </p:txBody>
      </p:sp>
    </p:spTree>
    <p:extLst>
      <p:ext uri="{BB962C8B-B14F-4D97-AF65-F5344CB8AC3E}">
        <p14:creationId xmlns:p14="http://schemas.microsoft.com/office/powerpoint/2010/main" val="385294312"/>
      </p:ext>
    </p:extLst>
  </p:cSld>
</p:sld>
</file>

<file path=ppt/slides/slide4.xml><?xml version="1.0" encoding="utf-8"?>
<p:sld xmlns:p="http://schemas.openxmlformats.org/presentationml/2006/main">
  <p:cSld>
    <p:bg>
      <p:bgPr>
        <a:solidFill xmlns:a="http://schemas.openxmlformats.org/drawingml/2006/main">
          <a:srgbClr val="EAF5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77019B2-6C0B-4387-B9BC-09AF359CEB84}"/>
              </a:ext>
            </a:extLst>
          </p:cNvPr>
          <p:cNvSpPr>
            <a:spLocks xmlns:a="http://schemas.openxmlformats.org/drawingml/2006/main" noGrp="1"/>
          </p:cNvSpPr>
          <p:nvPr/>
        </p:nvSpPr>
        <p:spPr>
          <a:xfrm xmlns:a="http://schemas.openxmlformats.org/drawingml/2006/main">
            <a:off x="76200" y="76200"/>
            <a:ext cx="12039600" cy="914400"/>
          </a:xfrm>
          <a:prstGeom xmlns:a="http://schemas.openxmlformats.org/drawingml/2006/main" prst="roundRect">
            <a:avLst>
              <a:gd name="adj" fmla="val 22917"/>
            </a:avLst>
          </a:prstGeom>
          <a:solidFill xmlns:a="http://schemas.openxmlformats.org/drawingml/2006/main">
            <a:srgbClr val="24857B"/>
          </a:solidFill>
          <a:ln xmlns:a="http://schemas.openxmlformats.org/drawingml/2006/main" w="0">
            <a:solidFill>
              <a:srgbClr val="24857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F4B5D10-B344-4EEA-9F56-B749F756D618}"/>
              </a:ext>
            </a:extLst>
          </p:cNvPr>
          <p:cNvSpPr>
            <a:spLocks xmlns:a="http://schemas.openxmlformats.org/drawingml/2006/main" noGrp="1"/>
          </p:cNvSpPr>
          <p:nvPr/>
        </p:nvSpPr>
        <p:spPr>
          <a:xfrm xmlns:a="http://schemas.openxmlformats.org/drawingml/2006/main">
            <a:off x="400050" y="2476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Time-of-use periods determine the energy price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b4e05240fd5465c"/>
          <a:stretch xmlns:a="http://schemas.openxmlformats.org/drawingml/2006/main"/>
        </p:blipFill>
        <p:spPr>
          <a:xfrm xmlns:a="http://schemas.openxmlformats.org/drawingml/2006/main">
            <a:off x="10096500" y="195629"/>
            <a:ext cx="1762125" cy="54219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79FD7D6-A016-4E20-8B96-5CC2A92494E9}"/>
              </a:ext>
            </a:extLst>
          </p:cNvPr>
          <p:cNvSpPr>
            <a:spLocks xmlns:a="http://schemas.openxmlformats.org/drawingml/2006/main" noGrp="1"/>
          </p:cNvSpPr>
          <p:nvPr/>
        </p:nvSpPr>
        <p:spPr>
          <a:xfrm xmlns:a="http://schemas.openxmlformats.org/drawingml/2006/main">
            <a:off x="400050" y="65151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4D6D68"/>
                </a:solidFill>
                <a:latin typeface="Arial"/>
                <a:ea typeface="Arial"/>
                <a:cs typeface="Arial"/>
              </a:defRPr>
            </a:pPr>
            <a:r>
              <a:rPr sz="900" b="0">
                <a:solidFill>
                  <a:srgbClr val="4D6D68"/>
                </a:solidFill>
                <a:latin typeface="Arial"/>
                <a:ea typeface="Arial"/>
                <a:cs typeface="Arial"/>
              </a:rPr>
              <a:t>Internal briefing  |  September 2026</a:t>
            </a:r>
          </a:p>
        </p:txBody>
      </p:sp>
      <p:sp>
        <p:nvSpPr>
          <p:cNvPr id="5" name="">
            <a:extLst xmlns:a="http://schemas.openxmlformats.org/drawingml/2006/main">
              <a:ext uri="{FF2B5EF4-FFF2-40B4-BE49-F238E27FC236}">
                <a16:creationId xmlns:a16="http://schemas.microsoft.com/office/drawing/2014/main" id="{82012A26-FF4E-414F-BAD5-2E0D2E7A06F7}"/>
              </a:ext>
            </a:extLst>
          </p:cNvPr>
          <p:cNvSpPr>
            <a:spLocks xmlns:a="http://schemas.openxmlformats.org/drawingml/2006/main" noGrp="1"/>
          </p:cNvSpPr>
          <p:nvPr/>
        </p:nvSpPr>
        <p:spPr>
          <a:xfrm xmlns:a="http://schemas.openxmlformats.org/drawingml/2006/main">
            <a:off x="11430000" y="651510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4D6D68"/>
                </a:solidFill>
                <a:latin typeface="Arial"/>
                <a:ea typeface="Arial"/>
                <a:cs typeface="Arial"/>
              </a:defRPr>
            </a:pPr>
            <a:r>
              <a:rPr sz="900" b="0">
                <a:solidFill>
                  <a:srgbClr val="4D6D68"/>
                </a:solidFill>
                <a:latin typeface="Arial"/>
                <a:ea typeface="Arial"/>
                <a:cs typeface="Arial"/>
              </a:rPr>
              <a:t>4</a:t>
            </a:r>
          </a:p>
        </p:txBody>
      </p:sp>
      <p:sp>
        <p:nvSpPr>
          <p:cNvPr id="6" name="">
            <a:extLst xmlns:a="http://schemas.openxmlformats.org/drawingml/2006/main">
              <a:ext uri="{FF2B5EF4-FFF2-40B4-BE49-F238E27FC236}">
                <a16:creationId xmlns:a16="http://schemas.microsoft.com/office/drawing/2014/main" id="{4159A4E9-4D64-4902-926C-CF7E0A62155F}"/>
              </a:ext>
            </a:extLst>
          </p:cNvPr>
          <p:cNvSpPr>
            <a:spLocks xmlns:a="http://schemas.openxmlformats.org/drawingml/2006/main" noGrp="1"/>
          </p:cNvSpPr>
          <p:nvPr/>
        </p:nvSpPr>
        <p:spPr>
          <a:xfrm xmlns:a="http://schemas.openxmlformats.org/drawingml/2006/main">
            <a:off x="552450" y="1619250"/>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17685F"/>
                </a:solidFill>
                <a:latin typeface="Arial"/>
                <a:ea typeface="Arial"/>
                <a:cs typeface="Arial"/>
              </a:defRPr>
            </a:pPr>
            <a:r>
              <a:rPr sz="1725" b="1">
                <a:solidFill>
                  <a:srgbClr val="17685F"/>
                </a:solidFill>
                <a:latin typeface="Arial"/>
                <a:ea typeface="Arial"/>
                <a:cs typeface="Arial"/>
              </a:rPr>
              <a:t>Weekdays</a:t>
            </a:r>
          </a:p>
        </p:txBody>
      </p:sp>
      <p:sp>
        <p:nvSpPr>
          <p:cNvPr id="7" name="">
            <a:extLst xmlns:a="http://schemas.openxmlformats.org/drawingml/2006/main">
              <a:ext uri="{FF2B5EF4-FFF2-40B4-BE49-F238E27FC236}">
                <a16:creationId xmlns:a16="http://schemas.microsoft.com/office/drawing/2014/main" id="{2134ABDF-46C5-4A54-BFEA-3607ED36A0C0}"/>
              </a:ext>
            </a:extLst>
          </p:cNvPr>
          <p:cNvSpPr>
            <a:spLocks xmlns:a="http://schemas.openxmlformats.org/drawingml/2006/main" noGrp="1"/>
          </p:cNvSpPr>
          <p:nvPr/>
        </p:nvSpPr>
        <p:spPr>
          <a:xfrm xmlns:a="http://schemas.openxmlformats.org/drawingml/2006/main">
            <a:off x="2238375" y="1552575"/>
            <a:ext cx="3321844" cy="552450"/>
          </a:xfrm>
          <a:prstGeom xmlns:a="http://schemas.openxmlformats.org/drawingml/2006/main" prst="roundRect">
            <a:avLst>
              <a:gd name="adj" fmla="val 24138"/>
            </a:avLst>
          </a:prstGeom>
          <a:solidFill xmlns:a="http://schemas.openxmlformats.org/drawingml/2006/main">
            <a:srgbClr val="3F8E73"/>
          </a:solidFill>
          <a:ln xmlns:a="http://schemas.openxmlformats.org/drawingml/2006/main" w="0">
            <a:solidFill>
              <a:srgbClr val="3F8E73"/>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276C564B-F39D-404D-B949-D42FD2173193}"/>
              </a:ext>
            </a:extLst>
          </p:cNvPr>
          <p:cNvSpPr>
            <a:spLocks xmlns:a="http://schemas.openxmlformats.org/drawingml/2006/main" noGrp="1"/>
          </p:cNvSpPr>
          <p:nvPr/>
        </p:nvSpPr>
        <p:spPr>
          <a:xfrm xmlns:a="http://schemas.openxmlformats.org/drawingml/2006/main">
            <a:off x="5560219" y="1552575"/>
            <a:ext cx="4798219" cy="552450"/>
          </a:xfrm>
          <a:prstGeom xmlns:a="http://schemas.openxmlformats.org/drawingml/2006/main" prst="rect">
            <a:avLst/>
          </a:prstGeom>
          <a:solidFill xmlns:a="http://schemas.openxmlformats.org/drawingml/2006/main">
            <a:srgbClr val="E98A55"/>
          </a:solidFill>
          <a:ln xmlns:a="http://schemas.openxmlformats.org/drawingml/2006/main" w="0">
            <a:solidFill>
              <a:srgbClr val="E98A55"/>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A42BC2B4-B106-4402-BBF4-C8595779336C}"/>
              </a:ext>
            </a:extLst>
          </p:cNvPr>
          <p:cNvSpPr>
            <a:spLocks xmlns:a="http://schemas.openxmlformats.org/drawingml/2006/main" noGrp="1"/>
          </p:cNvSpPr>
          <p:nvPr/>
        </p:nvSpPr>
        <p:spPr>
          <a:xfrm xmlns:a="http://schemas.openxmlformats.org/drawingml/2006/main">
            <a:off x="10358438" y="1552575"/>
            <a:ext cx="738188" cy="552450"/>
          </a:xfrm>
          <a:prstGeom xmlns:a="http://schemas.openxmlformats.org/drawingml/2006/main" prst="roundRect">
            <a:avLst>
              <a:gd name="adj" fmla="val 24138"/>
            </a:avLst>
          </a:prstGeom>
          <a:solidFill xmlns:a="http://schemas.openxmlformats.org/drawingml/2006/main">
            <a:srgbClr val="3F8E73"/>
          </a:solidFill>
          <a:ln xmlns:a="http://schemas.openxmlformats.org/drawingml/2006/main" w="0">
            <a:solidFill>
              <a:srgbClr val="3F8E73"/>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870D617F-4026-445C-B053-BE494DA1CC4B}"/>
              </a:ext>
            </a:extLst>
          </p:cNvPr>
          <p:cNvSpPr>
            <a:spLocks xmlns:a="http://schemas.openxmlformats.org/drawingml/2006/main" noGrp="1"/>
          </p:cNvSpPr>
          <p:nvPr/>
        </p:nvSpPr>
        <p:spPr>
          <a:xfrm xmlns:a="http://schemas.openxmlformats.org/drawingml/2006/main">
            <a:off x="2466975" y="16573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Off-peak</a:t>
            </a:r>
          </a:p>
        </p:txBody>
      </p:sp>
      <p:sp>
        <p:nvSpPr>
          <p:cNvPr id="11" name="">
            <a:extLst xmlns:a="http://schemas.openxmlformats.org/drawingml/2006/main">
              <a:ext uri="{FF2B5EF4-FFF2-40B4-BE49-F238E27FC236}">
                <a16:creationId xmlns:a16="http://schemas.microsoft.com/office/drawing/2014/main" id="{59ED06A8-DE26-49A5-924A-8B008A42509E}"/>
              </a:ext>
            </a:extLst>
          </p:cNvPr>
          <p:cNvSpPr>
            <a:spLocks xmlns:a="http://schemas.openxmlformats.org/drawingml/2006/main" noGrp="1"/>
          </p:cNvSpPr>
          <p:nvPr/>
        </p:nvSpPr>
        <p:spPr>
          <a:xfrm xmlns:a="http://schemas.openxmlformats.org/drawingml/2006/main">
            <a:off x="5941219" y="16573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Peak</a:t>
            </a:r>
          </a:p>
        </p:txBody>
      </p:sp>
      <p:sp>
        <p:nvSpPr>
          <p:cNvPr id="12" name="">
            <a:extLst xmlns:a="http://schemas.openxmlformats.org/drawingml/2006/main">
              <a:ext uri="{FF2B5EF4-FFF2-40B4-BE49-F238E27FC236}">
                <a16:creationId xmlns:a16="http://schemas.microsoft.com/office/drawing/2014/main" id="{5CBE823F-7F37-405A-9C61-35C48DA394F4}"/>
              </a:ext>
            </a:extLst>
          </p:cNvPr>
          <p:cNvSpPr>
            <a:spLocks xmlns:a="http://schemas.openxmlformats.org/drawingml/2006/main" noGrp="1"/>
          </p:cNvSpPr>
          <p:nvPr/>
        </p:nvSpPr>
        <p:spPr>
          <a:xfrm xmlns:a="http://schemas.openxmlformats.org/drawingml/2006/main">
            <a:off x="10358438" y="1657350"/>
            <a:ext cx="738188"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Off</a:t>
            </a:r>
          </a:p>
        </p:txBody>
      </p:sp>
      <p:sp>
        <p:nvSpPr>
          <p:cNvPr id="13" name="">
            <a:extLst xmlns:a="http://schemas.openxmlformats.org/drawingml/2006/main">
              <a:ext uri="{FF2B5EF4-FFF2-40B4-BE49-F238E27FC236}">
                <a16:creationId xmlns:a16="http://schemas.microsoft.com/office/drawing/2014/main" id="{332C23DF-17A7-4EA4-8498-5621149571D9}"/>
              </a:ext>
            </a:extLst>
          </p:cNvPr>
          <p:cNvSpPr>
            <a:spLocks xmlns:a="http://schemas.openxmlformats.org/drawingml/2006/main" noGrp="1"/>
          </p:cNvSpPr>
          <p:nvPr/>
        </p:nvSpPr>
        <p:spPr>
          <a:xfrm xmlns:a="http://schemas.openxmlformats.org/drawingml/2006/main">
            <a:off x="1971675" y="217170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4D6D68"/>
                </a:solidFill>
                <a:latin typeface="Arial"/>
                <a:ea typeface="Arial"/>
                <a:cs typeface="Arial"/>
              </a:defRPr>
            </a:pPr>
            <a:r>
              <a:rPr sz="1050" b="0">
                <a:solidFill>
                  <a:srgbClr val="4D6D68"/>
                </a:solidFill>
                <a:latin typeface="Arial"/>
                <a:ea typeface="Arial"/>
                <a:cs typeface="Arial"/>
              </a:rPr>
              <a:t>00:00</a:t>
            </a:r>
          </a:p>
        </p:txBody>
      </p:sp>
      <p:sp>
        <p:nvSpPr>
          <p:cNvPr id="14" name="">
            <a:extLst xmlns:a="http://schemas.openxmlformats.org/drawingml/2006/main">
              <a:ext uri="{FF2B5EF4-FFF2-40B4-BE49-F238E27FC236}">
                <a16:creationId xmlns:a16="http://schemas.microsoft.com/office/drawing/2014/main" id="{376199C9-0068-431C-A8B5-0B0F18150E07}"/>
              </a:ext>
            </a:extLst>
          </p:cNvPr>
          <p:cNvSpPr>
            <a:spLocks xmlns:a="http://schemas.openxmlformats.org/drawingml/2006/main" noGrp="1"/>
          </p:cNvSpPr>
          <p:nvPr/>
        </p:nvSpPr>
        <p:spPr>
          <a:xfrm xmlns:a="http://schemas.openxmlformats.org/drawingml/2006/main">
            <a:off x="5293519" y="217170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4D6D68"/>
                </a:solidFill>
                <a:latin typeface="Arial"/>
                <a:ea typeface="Arial"/>
                <a:cs typeface="Arial"/>
              </a:defRPr>
            </a:pPr>
            <a:r>
              <a:rPr sz="1050" b="0">
                <a:solidFill>
                  <a:srgbClr val="4D6D68"/>
                </a:solidFill>
                <a:latin typeface="Arial"/>
                <a:ea typeface="Arial"/>
                <a:cs typeface="Arial"/>
              </a:rPr>
              <a:t>09:00</a:t>
            </a:r>
          </a:p>
        </p:txBody>
      </p:sp>
      <p:sp>
        <p:nvSpPr>
          <p:cNvPr id="15" name="">
            <a:extLst xmlns:a="http://schemas.openxmlformats.org/drawingml/2006/main">
              <a:ext uri="{FF2B5EF4-FFF2-40B4-BE49-F238E27FC236}">
                <a16:creationId xmlns:a16="http://schemas.microsoft.com/office/drawing/2014/main" id="{56C72B99-F84D-4FFE-8EE6-4F99061CBC61}"/>
              </a:ext>
            </a:extLst>
          </p:cNvPr>
          <p:cNvSpPr>
            <a:spLocks xmlns:a="http://schemas.openxmlformats.org/drawingml/2006/main" noGrp="1"/>
          </p:cNvSpPr>
          <p:nvPr/>
        </p:nvSpPr>
        <p:spPr>
          <a:xfrm xmlns:a="http://schemas.openxmlformats.org/drawingml/2006/main">
            <a:off x="6400800" y="217170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4D6D68"/>
                </a:solidFill>
                <a:latin typeface="Arial"/>
                <a:ea typeface="Arial"/>
                <a:cs typeface="Arial"/>
              </a:defRPr>
            </a:pPr>
            <a:r>
              <a:rPr sz="1050" b="0">
                <a:solidFill>
                  <a:srgbClr val="4D6D68"/>
                </a:solidFill>
                <a:latin typeface="Arial"/>
                <a:ea typeface="Arial"/>
                <a:cs typeface="Arial"/>
              </a:rPr>
              <a:t>12:00</a:t>
            </a:r>
          </a:p>
        </p:txBody>
      </p:sp>
      <p:sp>
        <p:nvSpPr>
          <p:cNvPr id="16" name="">
            <a:extLst xmlns:a="http://schemas.openxmlformats.org/drawingml/2006/main">
              <a:ext uri="{FF2B5EF4-FFF2-40B4-BE49-F238E27FC236}">
                <a16:creationId xmlns:a16="http://schemas.microsoft.com/office/drawing/2014/main" id="{D136790C-A78B-483A-97FD-23B60732A397}"/>
              </a:ext>
            </a:extLst>
          </p:cNvPr>
          <p:cNvSpPr>
            <a:spLocks xmlns:a="http://schemas.openxmlformats.org/drawingml/2006/main" noGrp="1"/>
          </p:cNvSpPr>
          <p:nvPr/>
        </p:nvSpPr>
        <p:spPr>
          <a:xfrm xmlns:a="http://schemas.openxmlformats.org/drawingml/2006/main">
            <a:off x="8615363" y="217170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4D6D68"/>
                </a:solidFill>
                <a:latin typeface="Arial"/>
                <a:ea typeface="Arial"/>
                <a:cs typeface="Arial"/>
              </a:defRPr>
            </a:pPr>
            <a:r>
              <a:rPr sz="1050" b="0">
                <a:solidFill>
                  <a:srgbClr val="4D6D68"/>
                </a:solidFill>
                <a:latin typeface="Arial"/>
                <a:ea typeface="Arial"/>
                <a:cs typeface="Arial"/>
              </a:rPr>
              <a:t>18:00</a:t>
            </a:r>
          </a:p>
        </p:txBody>
      </p:sp>
      <p:sp>
        <p:nvSpPr>
          <p:cNvPr id="17" name="">
            <a:extLst xmlns:a="http://schemas.openxmlformats.org/drawingml/2006/main">
              <a:ext uri="{FF2B5EF4-FFF2-40B4-BE49-F238E27FC236}">
                <a16:creationId xmlns:a16="http://schemas.microsoft.com/office/drawing/2014/main" id="{20F02602-87F0-4D0D-9FAD-2F6565380884}"/>
              </a:ext>
            </a:extLst>
          </p:cNvPr>
          <p:cNvSpPr>
            <a:spLocks xmlns:a="http://schemas.openxmlformats.org/drawingml/2006/main" noGrp="1"/>
          </p:cNvSpPr>
          <p:nvPr/>
        </p:nvSpPr>
        <p:spPr>
          <a:xfrm xmlns:a="http://schemas.openxmlformats.org/drawingml/2006/main">
            <a:off x="10091738" y="217170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4D6D68"/>
                </a:solidFill>
                <a:latin typeface="Arial"/>
                <a:ea typeface="Arial"/>
                <a:cs typeface="Arial"/>
              </a:defRPr>
            </a:pPr>
            <a:r>
              <a:rPr sz="1050" b="0">
                <a:solidFill>
                  <a:srgbClr val="4D6D68"/>
                </a:solidFill>
                <a:latin typeface="Arial"/>
                <a:ea typeface="Arial"/>
                <a:cs typeface="Arial"/>
              </a:rPr>
              <a:t>22:00</a:t>
            </a:r>
          </a:p>
        </p:txBody>
      </p:sp>
      <p:sp>
        <p:nvSpPr>
          <p:cNvPr id="18" name="">
            <a:extLst xmlns:a="http://schemas.openxmlformats.org/drawingml/2006/main">
              <a:ext uri="{FF2B5EF4-FFF2-40B4-BE49-F238E27FC236}">
                <a16:creationId xmlns:a16="http://schemas.microsoft.com/office/drawing/2014/main" id="{327523EE-FC4F-4663-9C59-049AA4602843}"/>
              </a:ext>
            </a:extLst>
          </p:cNvPr>
          <p:cNvSpPr>
            <a:spLocks xmlns:a="http://schemas.openxmlformats.org/drawingml/2006/main" noGrp="1"/>
          </p:cNvSpPr>
          <p:nvPr/>
        </p:nvSpPr>
        <p:spPr>
          <a:xfrm xmlns:a="http://schemas.openxmlformats.org/drawingml/2006/main">
            <a:off x="10829925" y="217170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4D6D68"/>
                </a:solidFill>
                <a:latin typeface="Arial"/>
                <a:ea typeface="Arial"/>
                <a:cs typeface="Arial"/>
              </a:defRPr>
            </a:pPr>
            <a:r>
              <a:rPr sz="1050" b="0">
                <a:solidFill>
                  <a:srgbClr val="4D6D68"/>
                </a:solidFill>
                <a:latin typeface="Arial"/>
                <a:ea typeface="Arial"/>
                <a:cs typeface="Arial"/>
              </a:rPr>
              <a:t>24:00</a:t>
            </a:r>
          </a:p>
        </p:txBody>
      </p:sp>
      <p:sp>
        <p:nvSpPr>
          <p:cNvPr id="19" name="">
            <a:extLst xmlns:a="http://schemas.openxmlformats.org/drawingml/2006/main">
              <a:ext uri="{FF2B5EF4-FFF2-40B4-BE49-F238E27FC236}">
                <a16:creationId xmlns:a16="http://schemas.microsoft.com/office/drawing/2014/main" id="{DA503EB1-C19D-4AFC-BA5E-EE1423364AD6}"/>
              </a:ext>
            </a:extLst>
          </p:cNvPr>
          <p:cNvSpPr>
            <a:spLocks xmlns:a="http://schemas.openxmlformats.org/drawingml/2006/main" noGrp="1"/>
          </p:cNvSpPr>
          <p:nvPr/>
        </p:nvSpPr>
        <p:spPr>
          <a:xfrm xmlns:a="http://schemas.openxmlformats.org/drawingml/2006/main">
            <a:off x="552450" y="3143250"/>
            <a:ext cx="161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17685F"/>
                </a:solidFill>
                <a:latin typeface="Arial"/>
                <a:ea typeface="Arial"/>
                <a:cs typeface="Arial"/>
              </a:defRPr>
            </a:pPr>
            <a:r>
              <a:rPr sz="1575" b="1">
                <a:solidFill>
                  <a:srgbClr val="17685F"/>
                </a:solidFill>
                <a:latin typeface="Arial"/>
                <a:ea typeface="Arial"/>
                <a:cs typeface="Arial"/>
              </a:rPr>
              <a:t>Saturday, Sunday,</a:t>
            </a:r>
          </a:p>
          <a:p xmlns:a="http://schemas.openxmlformats.org/drawingml/2006/main">
            <a:pPr algn="l">
              <a:defRPr sz="1575" b="1">
                <a:solidFill>
                  <a:srgbClr val="17685F"/>
                </a:solidFill>
                <a:latin typeface="Arial"/>
                <a:ea typeface="Arial"/>
                <a:cs typeface="Arial"/>
              </a:defRPr>
            </a:pPr>
            <a:r>
              <a:rPr sz="1575" b="1">
                <a:solidFill>
                  <a:srgbClr val="17685F"/>
                </a:solidFill>
                <a:latin typeface="Arial"/>
                <a:ea typeface="Arial"/>
                <a:cs typeface="Arial"/>
              </a:rPr>
              <a:t>and public holidays</a:t>
            </a:r>
          </a:p>
        </p:txBody>
      </p:sp>
      <p:sp>
        <p:nvSpPr>
          <p:cNvPr id="20" name="">
            <a:extLst xmlns:a="http://schemas.openxmlformats.org/drawingml/2006/main">
              <a:ext uri="{FF2B5EF4-FFF2-40B4-BE49-F238E27FC236}">
                <a16:creationId xmlns:a16="http://schemas.microsoft.com/office/drawing/2014/main" id="{885CB30F-49E0-497C-BD2B-77FE45EDD2F1}"/>
              </a:ext>
            </a:extLst>
          </p:cNvPr>
          <p:cNvSpPr>
            <a:spLocks xmlns:a="http://schemas.openxmlformats.org/drawingml/2006/main" noGrp="1"/>
          </p:cNvSpPr>
          <p:nvPr/>
        </p:nvSpPr>
        <p:spPr>
          <a:xfrm xmlns:a="http://schemas.openxmlformats.org/drawingml/2006/main">
            <a:off x="2238375" y="3181350"/>
            <a:ext cx="8858250" cy="552450"/>
          </a:xfrm>
          <a:prstGeom xmlns:a="http://schemas.openxmlformats.org/drawingml/2006/main" prst="roundRect">
            <a:avLst>
              <a:gd name="adj" fmla="val 24138"/>
            </a:avLst>
          </a:prstGeom>
          <a:solidFill xmlns:a="http://schemas.openxmlformats.org/drawingml/2006/main">
            <a:srgbClr val="3F8E73"/>
          </a:solidFill>
          <a:ln xmlns:a="http://schemas.openxmlformats.org/drawingml/2006/main" w="0">
            <a:solidFill>
              <a:srgbClr val="3F8E73"/>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4E2F0132-6569-4FBC-BED3-FC4834CE971A}"/>
              </a:ext>
            </a:extLst>
          </p:cNvPr>
          <p:cNvSpPr>
            <a:spLocks xmlns:a="http://schemas.openxmlformats.org/drawingml/2006/main" noGrp="1"/>
          </p:cNvSpPr>
          <p:nvPr/>
        </p:nvSpPr>
        <p:spPr>
          <a:xfrm xmlns:a="http://schemas.openxmlformats.org/drawingml/2006/main">
            <a:off x="2238375" y="328612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Off-peak for the full day</a:t>
            </a:r>
          </a:p>
        </p:txBody>
      </p:sp>
      <p:sp>
        <p:nvSpPr>
          <p:cNvPr id="22" name="">
            <a:extLst xmlns:a="http://schemas.openxmlformats.org/drawingml/2006/main">
              <a:ext uri="{FF2B5EF4-FFF2-40B4-BE49-F238E27FC236}">
                <a16:creationId xmlns:a16="http://schemas.microsoft.com/office/drawing/2014/main" id="{67039E5B-622F-48EC-AF9C-9A6819EED34B}"/>
              </a:ext>
            </a:extLst>
          </p:cNvPr>
          <p:cNvSpPr>
            <a:spLocks xmlns:a="http://schemas.openxmlformats.org/drawingml/2006/main" noGrp="1"/>
          </p:cNvSpPr>
          <p:nvPr/>
        </p:nvSpPr>
        <p:spPr>
          <a:xfrm xmlns:a="http://schemas.openxmlformats.org/drawingml/2006/main">
            <a:off x="2714625" y="4476750"/>
            <a:ext cx="6762750" cy="1104900"/>
          </a:xfrm>
          <a:prstGeom xmlns:a="http://schemas.openxmlformats.org/drawingml/2006/main" prst="roundRect">
            <a:avLst>
              <a:gd name="adj" fmla="val 15517"/>
            </a:avLst>
          </a:prstGeom>
          <a:solidFill xmlns:a="http://schemas.openxmlformats.org/drawingml/2006/main">
            <a:srgbClr val="FFFFFF"/>
          </a:solidFill>
          <a:ln xmlns:a="http://schemas.openxmlformats.org/drawingml/2006/main" w="9525">
            <a:solidFill>
              <a:srgbClr val="8AB8B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AB8FBFA4-1598-4676-A0A8-001A182DD01D}"/>
              </a:ext>
            </a:extLst>
          </p:cNvPr>
          <p:cNvSpPr>
            <a:spLocks xmlns:a="http://schemas.openxmlformats.org/drawingml/2006/main" noGrp="1"/>
          </p:cNvSpPr>
          <p:nvPr/>
        </p:nvSpPr>
        <p:spPr>
          <a:xfrm xmlns:a="http://schemas.openxmlformats.org/drawingml/2006/main">
            <a:off x="2952750" y="46482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685F"/>
                </a:solidFill>
                <a:latin typeface="Arial"/>
                <a:ea typeface="Arial"/>
                <a:cs typeface="Arial"/>
              </a:defRPr>
            </a:pPr>
            <a:r>
              <a:rPr sz="1575" b="1">
                <a:solidFill>
                  <a:srgbClr val="17685F"/>
                </a:solidFill>
                <a:latin typeface="Arial"/>
                <a:ea typeface="Arial"/>
                <a:cs typeface="Arial"/>
              </a:rPr>
              <a:t>Why it matters</a:t>
            </a:r>
          </a:p>
        </p:txBody>
      </p:sp>
      <p:sp>
        <p:nvSpPr>
          <p:cNvPr id="24" name="">
            <a:extLst xmlns:a="http://schemas.openxmlformats.org/drawingml/2006/main">
              <a:ext uri="{FF2B5EF4-FFF2-40B4-BE49-F238E27FC236}">
                <a16:creationId xmlns:a16="http://schemas.microsoft.com/office/drawing/2014/main" id="{FB397442-AD13-4FE1-9D45-28679DCCC55F}"/>
              </a:ext>
            </a:extLst>
          </p:cNvPr>
          <p:cNvSpPr>
            <a:spLocks xmlns:a="http://schemas.openxmlformats.org/drawingml/2006/main" noGrp="1"/>
          </p:cNvSpPr>
          <p:nvPr/>
        </p:nvSpPr>
        <p:spPr>
          <a:xfrm xmlns:a="http://schemas.openxmlformats.org/drawingml/2006/main">
            <a:off x="2952750" y="5019675"/>
            <a:ext cx="6238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Solar output overlaps with the higher weekday energy price, but the demand charge depends on one monthly on-peak maximum.</a:t>
            </a:r>
          </a:p>
        </p:txBody>
      </p:sp>
    </p:spTree>
    <p:extLst>
      <p:ext uri="{BB962C8B-B14F-4D97-AF65-F5344CB8AC3E}">
        <p14:creationId xmlns:p14="http://schemas.microsoft.com/office/powerpoint/2010/main" val="397085298"/>
      </p:ext>
    </p:extLst>
  </p:cSld>
</p:sld>
</file>

<file path=ppt/slides/slide5.xml><?xml version="1.0" encoding="utf-8"?>
<p:sld xmlns:p="http://schemas.openxmlformats.org/presentationml/2006/main">
  <p:cSld>
    <p:bg>
      <p:bgPr>
        <a:solidFill xmlns:a="http://schemas.openxmlformats.org/drawingml/2006/main">
          <a:srgbClr val="EAF5F2"/>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06EF721-3486-4C1A-9A83-738E71E026D5}"/>
              </a:ext>
            </a:extLst>
          </p:cNvPr>
          <p:cNvSpPr>
            <a:spLocks xmlns:a="http://schemas.openxmlformats.org/drawingml/2006/main" noGrp="1"/>
          </p:cNvSpPr>
          <p:nvPr/>
        </p:nvSpPr>
        <p:spPr>
          <a:xfrm xmlns:a="http://schemas.openxmlformats.org/drawingml/2006/main">
            <a:off x="76200" y="76200"/>
            <a:ext cx="12039600" cy="914400"/>
          </a:xfrm>
          <a:prstGeom xmlns:a="http://schemas.openxmlformats.org/drawingml/2006/main" prst="roundRect">
            <a:avLst>
              <a:gd name="adj" fmla="val 22917"/>
            </a:avLst>
          </a:prstGeom>
          <a:solidFill xmlns:a="http://schemas.openxmlformats.org/drawingml/2006/main">
            <a:srgbClr val="24857B"/>
          </a:solidFill>
          <a:ln xmlns:a="http://schemas.openxmlformats.org/drawingml/2006/main" w="0">
            <a:solidFill>
              <a:srgbClr val="24857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0111640-59C3-4597-9C63-E9D83962E1EC}"/>
              </a:ext>
            </a:extLst>
          </p:cNvPr>
          <p:cNvSpPr>
            <a:spLocks xmlns:a="http://schemas.openxmlformats.org/drawingml/2006/main" noGrp="1"/>
          </p:cNvSpPr>
          <p:nvPr/>
        </p:nvSpPr>
        <p:spPr>
          <a:xfrm xmlns:a="http://schemas.openxmlformats.org/drawingml/2006/main">
            <a:off x="400050" y="2476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What each charge measures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b753cf5c9b134b2f"/>
          <a:stretch xmlns:a="http://schemas.openxmlformats.org/drawingml/2006/main"/>
        </p:blipFill>
        <p:spPr>
          <a:xfrm xmlns:a="http://schemas.openxmlformats.org/drawingml/2006/main">
            <a:off x="10096500" y="195629"/>
            <a:ext cx="1762125" cy="54219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8306906-EDEC-4E5F-8124-6306B6E75523}"/>
              </a:ext>
            </a:extLst>
          </p:cNvPr>
          <p:cNvSpPr>
            <a:spLocks xmlns:a="http://schemas.openxmlformats.org/drawingml/2006/main" noGrp="1"/>
          </p:cNvSpPr>
          <p:nvPr/>
        </p:nvSpPr>
        <p:spPr>
          <a:xfrm xmlns:a="http://schemas.openxmlformats.org/drawingml/2006/main">
            <a:off x="400050" y="65151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4D6D68"/>
                </a:solidFill>
                <a:latin typeface="Arial"/>
                <a:ea typeface="Arial"/>
                <a:cs typeface="Arial"/>
              </a:defRPr>
            </a:pPr>
            <a:r>
              <a:rPr sz="900" b="0">
                <a:solidFill>
                  <a:srgbClr val="4D6D68"/>
                </a:solidFill>
                <a:latin typeface="Arial"/>
                <a:ea typeface="Arial"/>
                <a:cs typeface="Arial"/>
              </a:rPr>
              <a:t>Internal briefing  |  September 2026</a:t>
            </a:r>
          </a:p>
        </p:txBody>
      </p:sp>
      <p:sp>
        <p:nvSpPr>
          <p:cNvPr id="5" name="">
            <a:extLst xmlns:a="http://schemas.openxmlformats.org/drawingml/2006/main">
              <a:ext uri="{FF2B5EF4-FFF2-40B4-BE49-F238E27FC236}">
                <a16:creationId xmlns:a16="http://schemas.microsoft.com/office/drawing/2014/main" id="{6C394064-D2F2-4B57-9A53-D9DF45A74F63}"/>
              </a:ext>
            </a:extLst>
          </p:cNvPr>
          <p:cNvSpPr>
            <a:spLocks xmlns:a="http://schemas.openxmlformats.org/drawingml/2006/main" noGrp="1"/>
          </p:cNvSpPr>
          <p:nvPr/>
        </p:nvSpPr>
        <p:spPr>
          <a:xfrm xmlns:a="http://schemas.openxmlformats.org/drawingml/2006/main">
            <a:off x="11430000" y="651510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4D6D68"/>
                </a:solidFill>
                <a:latin typeface="Arial"/>
                <a:ea typeface="Arial"/>
                <a:cs typeface="Arial"/>
              </a:defRPr>
            </a:pPr>
            <a:r>
              <a:rPr sz="900" b="0">
                <a:solidFill>
                  <a:srgbClr val="4D6D68"/>
                </a:solidFill>
                <a:latin typeface="Arial"/>
                <a:ea typeface="Arial"/>
                <a:cs typeface="Arial"/>
              </a:rPr>
              <a:t>5</a:t>
            </a:r>
          </a:p>
        </p:txBody>
      </p:sp>
      <p:sp>
        <p:nvSpPr>
          <p:cNvPr id="6" name="">
            <a:extLst xmlns:a="http://schemas.openxmlformats.org/drawingml/2006/main">
              <a:ext uri="{FF2B5EF4-FFF2-40B4-BE49-F238E27FC236}">
                <a16:creationId xmlns:a16="http://schemas.microsoft.com/office/drawing/2014/main" id="{9506A2B2-8709-4CCC-8609-A7FA13CAF188}"/>
              </a:ext>
            </a:extLst>
          </p:cNvPr>
          <p:cNvSpPr>
            <a:spLocks xmlns:a="http://schemas.openxmlformats.org/drawingml/2006/main" noGrp="1"/>
          </p:cNvSpPr>
          <p:nvPr/>
        </p:nvSpPr>
        <p:spPr>
          <a:xfrm xmlns:a="http://schemas.openxmlformats.org/drawingml/2006/main">
            <a:off x="533400" y="1257300"/>
            <a:ext cx="233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4D6D68"/>
                </a:solidFill>
                <a:latin typeface="Arial"/>
                <a:ea typeface="Arial"/>
                <a:cs typeface="Arial"/>
              </a:defRPr>
            </a:pPr>
            <a:r>
              <a:rPr sz="1350" b="1">
                <a:solidFill>
                  <a:srgbClr val="4D6D68"/>
                </a:solidFill>
                <a:latin typeface="Arial"/>
                <a:ea typeface="Arial"/>
                <a:cs typeface="Arial"/>
              </a:rPr>
              <a:t>Charge</a:t>
            </a:r>
          </a:p>
        </p:txBody>
      </p:sp>
      <p:sp>
        <p:nvSpPr>
          <p:cNvPr id="7" name="">
            <a:extLst xmlns:a="http://schemas.openxmlformats.org/drawingml/2006/main">
              <a:ext uri="{FF2B5EF4-FFF2-40B4-BE49-F238E27FC236}">
                <a16:creationId xmlns:a16="http://schemas.microsoft.com/office/drawing/2014/main" id="{349776FD-DC0E-4407-B9F6-DC6C4E739F68}"/>
              </a:ext>
            </a:extLst>
          </p:cNvPr>
          <p:cNvSpPr>
            <a:spLocks xmlns:a="http://schemas.openxmlformats.org/drawingml/2006/main" noGrp="1"/>
          </p:cNvSpPr>
          <p:nvPr/>
        </p:nvSpPr>
        <p:spPr>
          <a:xfrm xmlns:a="http://schemas.openxmlformats.org/drawingml/2006/main">
            <a:off x="3162300" y="12573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4D6D68"/>
                </a:solidFill>
                <a:latin typeface="Arial"/>
                <a:ea typeface="Arial"/>
                <a:cs typeface="Arial"/>
              </a:defRPr>
            </a:pPr>
            <a:r>
              <a:rPr sz="1350" b="1">
                <a:solidFill>
                  <a:srgbClr val="4D6D68"/>
                </a:solidFill>
                <a:latin typeface="Arial"/>
                <a:ea typeface="Arial"/>
                <a:cs typeface="Arial"/>
              </a:rPr>
              <a:t>Billing basis</a:t>
            </a:r>
          </a:p>
        </p:txBody>
      </p:sp>
      <p:sp>
        <p:nvSpPr>
          <p:cNvPr id="8" name="">
            <a:extLst xmlns:a="http://schemas.openxmlformats.org/drawingml/2006/main">
              <a:ext uri="{FF2B5EF4-FFF2-40B4-BE49-F238E27FC236}">
                <a16:creationId xmlns:a16="http://schemas.microsoft.com/office/drawing/2014/main" id="{C02B4256-B9B5-4EF2-AF75-77BC2863C639}"/>
              </a:ext>
            </a:extLst>
          </p:cNvPr>
          <p:cNvSpPr>
            <a:spLocks xmlns:a="http://schemas.openxmlformats.org/drawingml/2006/main" noGrp="1"/>
          </p:cNvSpPr>
          <p:nvPr/>
        </p:nvSpPr>
        <p:spPr>
          <a:xfrm xmlns:a="http://schemas.openxmlformats.org/drawingml/2006/main">
            <a:off x="7086600" y="1257300"/>
            <a:ext cx="419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4D6D68"/>
                </a:solidFill>
                <a:latin typeface="Arial"/>
                <a:ea typeface="Arial"/>
                <a:cs typeface="Arial"/>
              </a:defRPr>
            </a:pPr>
            <a:r>
              <a:rPr sz="1350" b="1">
                <a:solidFill>
                  <a:srgbClr val="4D6D68"/>
                </a:solidFill>
                <a:latin typeface="Arial"/>
                <a:ea typeface="Arial"/>
                <a:cs typeface="Arial"/>
              </a:rPr>
              <a:t>What changes the bill</a:t>
            </a:r>
          </a:p>
        </p:txBody>
      </p:sp>
      <p:sp>
        <p:nvSpPr>
          <p:cNvPr id="9" name="">
            <a:extLst xmlns:a="http://schemas.openxmlformats.org/drawingml/2006/main">
              <a:ext uri="{FF2B5EF4-FFF2-40B4-BE49-F238E27FC236}">
                <a16:creationId xmlns:a16="http://schemas.microsoft.com/office/drawing/2014/main" id="{47843A44-1D25-4898-9581-BBB0C0829F9B}"/>
              </a:ext>
            </a:extLst>
          </p:cNvPr>
          <p:cNvSpPr>
            <a:spLocks xmlns:a="http://schemas.openxmlformats.org/drawingml/2006/main" noGrp="1"/>
          </p:cNvSpPr>
          <p:nvPr/>
        </p:nvSpPr>
        <p:spPr>
          <a:xfrm xmlns:a="http://schemas.openxmlformats.org/drawingml/2006/main">
            <a:off x="438150" y="1638300"/>
            <a:ext cx="11201400" cy="781050"/>
          </a:xfrm>
          <a:prstGeom xmlns:a="http://schemas.openxmlformats.org/drawingml/2006/main" prst="rect">
            <a:avLst/>
          </a:prstGeom>
          <a:solidFill xmlns:a="http://schemas.openxmlformats.org/drawingml/2006/main">
            <a:srgbClr val="FFFFFF"/>
          </a:solidFill>
          <a:ln xmlns:a="http://schemas.openxmlformats.org/drawingml/2006/main" w="6668">
            <a:solidFill>
              <a:srgbClr val="8AB8B0"/>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2A8663C0-174D-4D22-AD83-3BA34621EBD4}"/>
              </a:ext>
            </a:extLst>
          </p:cNvPr>
          <p:cNvSpPr>
            <a:spLocks xmlns:a="http://schemas.openxmlformats.org/drawingml/2006/main" noGrp="1"/>
          </p:cNvSpPr>
          <p:nvPr/>
        </p:nvSpPr>
        <p:spPr>
          <a:xfrm xmlns:a="http://schemas.openxmlformats.org/drawingml/2006/main">
            <a:off x="590550" y="1828800"/>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17685F"/>
                </a:solidFill>
                <a:latin typeface="Arial"/>
                <a:ea typeface="Arial"/>
                <a:cs typeface="Arial"/>
              </a:defRPr>
            </a:pPr>
            <a:r>
              <a:rPr sz="1500" b="1">
                <a:solidFill>
                  <a:srgbClr val="17685F"/>
                </a:solidFill>
                <a:latin typeface="Arial"/>
                <a:ea typeface="Arial"/>
                <a:cs typeface="Arial"/>
              </a:rPr>
              <a:t>Peak energy</a:t>
            </a:r>
          </a:p>
        </p:txBody>
      </p:sp>
      <p:sp>
        <p:nvSpPr>
          <p:cNvPr id="11" name="">
            <a:extLst xmlns:a="http://schemas.openxmlformats.org/drawingml/2006/main">
              <a:ext uri="{FF2B5EF4-FFF2-40B4-BE49-F238E27FC236}">
                <a16:creationId xmlns:a16="http://schemas.microsoft.com/office/drawing/2014/main" id="{51553AB7-0606-49A9-8802-CE5661B9C044}"/>
              </a:ext>
            </a:extLst>
          </p:cNvPr>
          <p:cNvSpPr>
            <a:spLocks xmlns:a="http://schemas.openxmlformats.org/drawingml/2006/main" noGrp="1"/>
          </p:cNvSpPr>
          <p:nvPr/>
        </p:nvSpPr>
        <p:spPr>
          <a:xfrm xmlns:a="http://schemas.openxmlformats.org/drawingml/2006/main">
            <a:off x="3162300" y="1781175"/>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Weekday kWh from 09:00 to 22:00</a:t>
            </a:r>
          </a:p>
        </p:txBody>
      </p:sp>
      <p:sp>
        <p:nvSpPr>
          <p:cNvPr id="12" name="">
            <a:extLst xmlns:a="http://schemas.openxmlformats.org/drawingml/2006/main">
              <a:ext uri="{FF2B5EF4-FFF2-40B4-BE49-F238E27FC236}">
                <a16:creationId xmlns:a16="http://schemas.microsoft.com/office/drawing/2014/main" id="{28FCB06E-510A-4C6D-925D-D4F4C30880B4}"/>
              </a:ext>
            </a:extLst>
          </p:cNvPr>
          <p:cNvSpPr>
            <a:spLocks xmlns:a="http://schemas.openxmlformats.org/drawingml/2006/main" noGrp="1"/>
          </p:cNvSpPr>
          <p:nvPr/>
        </p:nvSpPr>
        <p:spPr>
          <a:xfrm xmlns:a="http://schemas.openxmlformats.org/drawingml/2006/main">
            <a:off x="7086600" y="1781175"/>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Lower grid imports during operating hours</a:t>
            </a:r>
          </a:p>
        </p:txBody>
      </p:sp>
      <p:sp>
        <p:nvSpPr>
          <p:cNvPr id="13" name="">
            <a:extLst xmlns:a="http://schemas.openxmlformats.org/drawingml/2006/main">
              <a:ext uri="{FF2B5EF4-FFF2-40B4-BE49-F238E27FC236}">
                <a16:creationId xmlns:a16="http://schemas.microsoft.com/office/drawing/2014/main" id="{16FDFE2E-6F06-49E0-B71E-01A4738389FE}"/>
              </a:ext>
            </a:extLst>
          </p:cNvPr>
          <p:cNvSpPr>
            <a:spLocks xmlns:a="http://schemas.openxmlformats.org/drawingml/2006/main" noGrp="1"/>
          </p:cNvSpPr>
          <p:nvPr/>
        </p:nvSpPr>
        <p:spPr>
          <a:xfrm xmlns:a="http://schemas.openxmlformats.org/drawingml/2006/main">
            <a:off x="438150" y="2457450"/>
            <a:ext cx="11201400" cy="781050"/>
          </a:xfrm>
          <a:prstGeom xmlns:a="http://schemas.openxmlformats.org/drawingml/2006/main" prst="rect">
            <a:avLst/>
          </a:prstGeom>
          <a:solidFill xmlns:a="http://schemas.openxmlformats.org/drawingml/2006/main">
            <a:srgbClr val="CFE7E2"/>
          </a:solidFill>
          <a:ln xmlns:a="http://schemas.openxmlformats.org/drawingml/2006/main" w="6668">
            <a:solidFill>
              <a:srgbClr val="8AB8B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664A0E6B-9680-47B9-A344-CD2ACFCDFF36}"/>
              </a:ext>
            </a:extLst>
          </p:cNvPr>
          <p:cNvSpPr>
            <a:spLocks xmlns:a="http://schemas.openxmlformats.org/drawingml/2006/main" noGrp="1"/>
          </p:cNvSpPr>
          <p:nvPr/>
        </p:nvSpPr>
        <p:spPr>
          <a:xfrm xmlns:a="http://schemas.openxmlformats.org/drawingml/2006/main">
            <a:off x="590550" y="2647950"/>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17685F"/>
                </a:solidFill>
                <a:latin typeface="Arial"/>
                <a:ea typeface="Arial"/>
                <a:cs typeface="Arial"/>
              </a:defRPr>
            </a:pPr>
            <a:r>
              <a:rPr sz="1500" b="1">
                <a:solidFill>
                  <a:srgbClr val="17685F"/>
                </a:solidFill>
                <a:latin typeface="Arial"/>
                <a:ea typeface="Arial"/>
                <a:cs typeface="Arial"/>
              </a:rPr>
              <a:t>Off-peak + holiday</a:t>
            </a:r>
          </a:p>
        </p:txBody>
      </p:sp>
      <p:sp>
        <p:nvSpPr>
          <p:cNvPr id="15" name="">
            <a:extLst xmlns:a="http://schemas.openxmlformats.org/drawingml/2006/main">
              <a:ext uri="{FF2B5EF4-FFF2-40B4-BE49-F238E27FC236}">
                <a16:creationId xmlns:a16="http://schemas.microsoft.com/office/drawing/2014/main" id="{0007A530-8F7C-45FD-B131-FFB11920651F}"/>
              </a:ext>
            </a:extLst>
          </p:cNvPr>
          <p:cNvSpPr>
            <a:spLocks xmlns:a="http://schemas.openxmlformats.org/drawingml/2006/main" noGrp="1"/>
          </p:cNvSpPr>
          <p:nvPr/>
        </p:nvSpPr>
        <p:spPr>
          <a:xfrm xmlns:a="http://schemas.openxmlformats.org/drawingml/2006/main">
            <a:off x="3162300" y="2600325"/>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All other kWh</a:t>
            </a:r>
          </a:p>
        </p:txBody>
      </p:sp>
      <p:sp>
        <p:nvSpPr>
          <p:cNvPr id="16" name="">
            <a:extLst xmlns:a="http://schemas.openxmlformats.org/drawingml/2006/main">
              <a:ext uri="{FF2B5EF4-FFF2-40B4-BE49-F238E27FC236}">
                <a16:creationId xmlns:a16="http://schemas.microsoft.com/office/drawing/2014/main" id="{A1460671-649F-45CC-B9CF-772F147DC99C}"/>
              </a:ext>
            </a:extLst>
          </p:cNvPr>
          <p:cNvSpPr>
            <a:spLocks xmlns:a="http://schemas.openxmlformats.org/drawingml/2006/main" noGrp="1"/>
          </p:cNvSpPr>
          <p:nvPr/>
        </p:nvSpPr>
        <p:spPr>
          <a:xfrm xmlns:a="http://schemas.openxmlformats.org/drawingml/2006/main">
            <a:off x="7086600" y="2600325"/>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Night, weekend, and holiday grid imports</a:t>
            </a:r>
          </a:p>
        </p:txBody>
      </p:sp>
      <p:sp>
        <p:nvSpPr>
          <p:cNvPr id="17" name="">
            <a:extLst xmlns:a="http://schemas.openxmlformats.org/drawingml/2006/main">
              <a:ext uri="{FF2B5EF4-FFF2-40B4-BE49-F238E27FC236}">
                <a16:creationId xmlns:a16="http://schemas.microsoft.com/office/drawing/2014/main" id="{3F9233CA-88A8-4B9F-A039-E0EE1716793B}"/>
              </a:ext>
            </a:extLst>
          </p:cNvPr>
          <p:cNvSpPr>
            <a:spLocks xmlns:a="http://schemas.openxmlformats.org/drawingml/2006/main" noGrp="1"/>
          </p:cNvSpPr>
          <p:nvPr/>
        </p:nvSpPr>
        <p:spPr>
          <a:xfrm xmlns:a="http://schemas.openxmlformats.org/drawingml/2006/main">
            <a:off x="438150" y="3276600"/>
            <a:ext cx="11201400" cy="781050"/>
          </a:xfrm>
          <a:prstGeom xmlns:a="http://schemas.openxmlformats.org/drawingml/2006/main" prst="rect">
            <a:avLst/>
          </a:prstGeom>
          <a:solidFill xmlns:a="http://schemas.openxmlformats.org/drawingml/2006/main">
            <a:srgbClr val="FFFFFF"/>
          </a:solidFill>
          <a:ln xmlns:a="http://schemas.openxmlformats.org/drawingml/2006/main" w="6668">
            <a:solidFill>
              <a:srgbClr val="8AB8B0"/>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3BAE3220-0811-4B23-9F60-EE7966AE3655}"/>
              </a:ext>
            </a:extLst>
          </p:cNvPr>
          <p:cNvSpPr>
            <a:spLocks xmlns:a="http://schemas.openxmlformats.org/drawingml/2006/main" noGrp="1"/>
          </p:cNvSpPr>
          <p:nvPr/>
        </p:nvSpPr>
        <p:spPr>
          <a:xfrm xmlns:a="http://schemas.openxmlformats.org/drawingml/2006/main">
            <a:off x="590550" y="3467100"/>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17685F"/>
                </a:solidFill>
                <a:latin typeface="Arial"/>
                <a:ea typeface="Arial"/>
                <a:cs typeface="Arial"/>
              </a:defRPr>
            </a:pPr>
            <a:r>
              <a:rPr sz="1500" b="1">
                <a:solidFill>
                  <a:srgbClr val="17685F"/>
                </a:solidFill>
                <a:latin typeface="Arial"/>
                <a:ea typeface="Arial"/>
                <a:cs typeface="Arial"/>
              </a:rPr>
              <a:t>Demand</a:t>
            </a:r>
          </a:p>
        </p:txBody>
      </p:sp>
      <p:sp>
        <p:nvSpPr>
          <p:cNvPr id="19" name="">
            <a:extLst xmlns:a="http://schemas.openxmlformats.org/drawingml/2006/main">
              <a:ext uri="{FF2B5EF4-FFF2-40B4-BE49-F238E27FC236}">
                <a16:creationId xmlns:a16="http://schemas.microsoft.com/office/drawing/2014/main" id="{91265913-BB1C-49BA-8E48-DE729A5B172D}"/>
              </a:ext>
            </a:extLst>
          </p:cNvPr>
          <p:cNvSpPr>
            <a:spLocks xmlns:a="http://schemas.openxmlformats.org/drawingml/2006/main" noGrp="1"/>
          </p:cNvSpPr>
          <p:nvPr/>
        </p:nvSpPr>
        <p:spPr>
          <a:xfrm xmlns:a="http://schemas.openxmlformats.org/drawingml/2006/main">
            <a:off x="3162300" y="3419475"/>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Highest on-peak kW in the month</a:t>
            </a:r>
          </a:p>
        </p:txBody>
      </p:sp>
      <p:sp>
        <p:nvSpPr>
          <p:cNvPr id="20" name="">
            <a:extLst xmlns:a="http://schemas.openxmlformats.org/drawingml/2006/main">
              <a:ext uri="{FF2B5EF4-FFF2-40B4-BE49-F238E27FC236}">
                <a16:creationId xmlns:a16="http://schemas.microsoft.com/office/drawing/2014/main" id="{0FC3CA1D-D798-4BFB-87C0-C57E67053140}"/>
              </a:ext>
            </a:extLst>
          </p:cNvPr>
          <p:cNvSpPr>
            <a:spLocks xmlns:a="http://schemas.openxmlformats.org/drawingml/2006/main" noGrp="1"/>
          </p:cNvSpPr>
          <p:nvPr/>
        </p:nvSpPr>
        <p:spPr>
          <a:xfrm xmlns:a="http://schemas.openxmlformats.org/drawingml/2006/main">
            <a:off x="7086600" y="3419475"/>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The single interval that sets the monthly peak</a:t>
            </a:r>
          </a:p>
        </p:txBody>
      </p:sp>
      <p:sp>
        <p:nvSpPr>
          <p:cNvPr id="21" name="">
            <a:extLst xmlns:a="http://schemas.openxmlformats.org/drawingml/2006/main">
              <a:ext uri="{FF2B5EF4-FFF2-40B4-BE49-F238E27FC236}">
                <a16:creationId xmlns:a16="http://schemas.microsoft.com/office/drawing/2014/main" id="{F564B159-E5A1-432C-B4DB-61247921E085}"/>
              </a:ext>
            </a:extLst>
          </p:cNvPr>
          <p:cNvSpPr>
            <a:spLocks xmlns:a="http://schemas.openxmlformats.org/drawingml/2006/main" noGrp="1"/>
          </p:cNvSpPr>
          <p:nvPr/>
        </p:nvSpPr>
        <p:spPr>
          <a:xfrm xmlns:a="http://schemas.openxmlformats.org/drawingml/2006/main">
            <a:off x="438150" y="4095750"/>
            <a:ext cx="11201400" cy="781050"/>
          </a:xfrm>
          <a:prstGeom xmlns:a="http://schemas.openxmlformats.org/drawingml/2006/main" prst="rect">
            <a:avLst/>
          </a:prstGeom>
          <a:solidFill xmlns:a="http://schemas.openxmlformats.org/drawingml/2006/main">
            <a:srgbClr val="CFE7E2"/>
          </a:solidFill>
          <a:ln xmlns:a="http://schemas.openxmlformats.org/drawingml/2006/main" w="6668">
            <a:solidFill>
              <a:srgbClr val="8AB8B0"/>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63917DEE-C780-482F-93E4-43666AF37924}"/>
              </a:ext>
            </a:extLst>
          </p:cNvPr>
          <p:cNvSpPr>
            <a:spLocks xmlns:a="http://schemas.openxmlformats.org/drawingml/2006/main" noGrp="1"/>
          </p:cNvSpPr>
          <p:nvPr/>
        </p:nvSpPr>
        <p:spPr>
          <a:xfrm xmlns:a="http://schemas.openxmlformats.org/drawingml/2006/main">
            <a:off x="590550" y="4286250"/>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17685F"/>
                </a:solidFill>
                <a:latin typeface="Arial"/>
                <a:ea typeface="Arial"/>
                <a:cs typeface="Arial"/>
              </a:defRPr>
            </a:pPr>
            <a:r>
              <a:rPr sz="1500" b="1">
                <a:solidFill>
                  <a:srgbClr val="17685F"/>
                </a:solidFill>
                <a:latin typeface="Arial"/>
                <a:ea typeface="Arial"/>
                <a:cs typeface="Arial"/>
              </a:rPr>
              <a:t>Ft adjustment</a:t>
            </a:r>
          </a:p>
        </p:txBody>
      </p:sp>
      <p:sp>
        <p:nvSpPr>
          <p:cNvPr id="23" name="">
            <a:extLst xmlns:a="http://schemas.openxmlformats.org/drawingml/2006/main">
              <a:ext uri="{FF2B5EF4-FFF2-40B4-BE49-F238E27FC236}">
                <a16:creationId xmlns:a16="http://schemas.microsoft.com/office/drawing/2014/main" id="{CF998F05-9136-4033-94CD-E5C0B1C7A67E}"/>
              </a:ext>
            </a:extLst>
          </p:cNvPr>
          <p:cNvSpPr>
            <a:spLocks xmlns:a="http://schemas.openxmlformats.org/drawingml/2006/main" noGrp="1"/>
          </p:cNvSpPr>
          <p:nvPr/>
        </p:nvSpPr>
        <p:spPr>
          <a:xfrm xmlns:a="http://schemas.openxmlformats.org/drawingml/2006/main">
            <a:off x="3162300" y="4238625"/>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Ft rate multiplied by all kWh</a:t>
            </a:r>
          </a:p>
        </p:txBody>
      </p:sp>
      <p:sp>
        <p:nvSpPr>
          <p:cNvPr id="24" name="">
            <a:extLst xmlns:a="http://schemas.openxmlformats.org/drawingml/2006/main">
              <a:ext uri="{FF2B5EF4-FFF2-40B4-BE49-F238E27FC236}">
                <a16:creationId xmlns:a16="http://schemas.microsoft.com/office/drawing/2014/main" id="{6F6069F9-D893-4967-9BCD-2FCE3C51D3BE}"/>
              </a:ext>
            </a:extLst>
          </p:cNvPr>
          <p:cNvSpPr>
            <a:spLocks xmlns:a="http://schemas.openxmlformats.org/drawingml/2006/main" noGrp="1"/>
          </p:cNvSpPr>
          <p:nvPr/>
        </p:nvSpPr>
        <p:spPr>
          <a:xfrm xmlns:a="http://schemas.openxmlformats.org/drawingml/2006/main">
            <a:off x="7086600" y="4238625"/>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Total grid energy and the current Ft period</a:t>
            </a:r>
          </a:p>
        </p:txBody>
      </p:sp>
      <p:sp>
        <p:nvSpPr>
          <p:cNvPr id="25" name="">
            <a:extLst xmlns:a="http://schemas.openxmlformats.org/drawingml/2006/main">
              <a:ext uri="{FF2B5EF4-FFF2-40B4-BE49-F238E27FC236}">
                <a16:creationId xmlns:a16="http://schemas.microsoft.com/office/drawing/2014/main" id="{2588A7F4-4B99-4A75-AB86-6F08E340357F}"/>
              </a:ext>
            </a:extLst>
          </p:cNvPr>
          <p:cNvSpPr>
            <a:spLocks xmlns:a="http://schemas.openxmlformats.org/drawingml/2006/main" noGrp="1"/>
          </p:cNvSpPr>
          <p:nvPr/>
        </p:nvSpPr>
        <p:spPr>
          <a:xfrm xmlns:a="http://schemas.openxmlformats.org/drawingml/2006/main">
            <a:off x="438150" y="4914900"/>
            <a:ext cx="11201400" cy="781050"/>
          </a:xfrm>
          <a:prstGeom xmlns:a="http://schemas.openxmlformats.org/drawingml/2006/main" prst="rect">
            <a:avLst/>
          </a:prstGeom>
          <a:solidFill xmlns:a="http://schemas.openxmlformats.org/drawingml/2006/main">
            <a:srgbClr val="FFFFFF"/>
          </a:solidFill>
          <a:ln xmlns:a="http://schemas.openxmlformats.org/drawingml/2006/main" w="6668">
            <a:solidFill>
              <a:srgbClr val="8AB8B0"/>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8D41104B-E85F-49F5-97EE-A4BC4981F441}"/>
              </a:ext>
            </a:extLst>
          </p:cNvPr>
          <p:cNvSpPr>
            <a:spLocks xmlns:a="http://schemas.openxmlformats.org/drawingml/2006/main" noGrp="1"/>
          </p:cNvSpPr>
          <p:nvPr/>
        </p:nvSpPr>
        <p:spPr>
          <a:xfrm xmlns:a="http://schemas.openxmlformats.org/drawingml/2006/main">
            <a:off x="590550" y="5105400"/>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17685F"/>
                </a:solidFill>
                <a:latin typeface="Arial"/>
                <a:ea typeface="Arial"/>
                <a:cs typeface="Arial"/>
              </a:defRPr>
            </a:pPr>
            <a:r>
              <a:rPr sz="1500" b="1">
                <a:solidFill>
                  <a:srgbClr val="17685F"/>
                </a:solidFill>
                <a:latin typeface="Arial"/>
                <a:ea typeface="Arial"/>
                <a:cs typeface="Arial"/>
              </a:rPr>
              <a:t>Service and VAT</a:t>
            </a:r>
          </a:p>
        </p:txBody>
      </p:sp>
      <p:sp>
        <p:nvSpPr>
          <p:cNvPr id="27" name="">
            <a:extLst xmlns:a="http://schemas.openxmlformats.org/drawingml/2006/main">
              <a:ext uri="{FF2B5EF4-FFF2-40B4-BE49-F238E27FC236}">
                <a16:creationId xmlns:a16="http://schemas.microsoft.com/office/drawing/2014/main" id="{D7E8C746-380B-4A4F-B89B-F6DE19B6FDF6}"/>
              </a:ext>
            </a:extLst>
          </p:cNvPr>
          <p:cNvSpPr>
            <a:spLocks xmlns:a="http://schemas.openxmlformats.org/drawingml/2006/main" noGrp="1"/>
          </p:cNvSpPr>
          <p:nvPr/>
        </p:nvSpPr>
        <p:spPr>
          <a:xfrm xmlns:a="http://schemas.openxmlformats.org/drawingml/2006/main">
            <a:off x="3162300" y="5057775"/>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Fixed monthly fee, then 7% VAT</a:t>
            </a:r>
          </a:p>
        </p:txBody>
      </p:sp>
      <p:sp>
        <p:nvSpPr>
          <p:cNvPr id="28" name="">
            <a:extLst xmlns:a="http://schemas.openxmlformats.org/drawingml/2006/main">
              <a:ext uri="{FF2B5EF4-FFF2-40B4-BE49-F238E27FC236}">
                <a16:creationId xmlns:a16="http://schemas.microsoft.com/office/drawing/2014/main" id="{C9360890-69BB-49D8-8FAA-4CC6C3597FE6}"/>
              </a:ext>
            </a:extLst>
          </p:cNvPr>
          <p:cNvSpPr>
            <a:spLocks xmlns:a="http://schemas.openxmlformats.org/drawingml/2006/main" noGrp="1"/>
          </p:cNvSpPr>
          <p:nvPr/>
        </p:nvSpPr>
        <p:spPr>
          <a:xfrm xmlns:a="http://schemas.openxmlformats.org/drawingml/2006/main">
            <a:off x="7086600" y="5057775"/>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Service stays fixed, VAT follows the subtotal</a:t>
            </a:r>
          </a:p>
        </p:txBody>
      </p:sp>
      <p:sp>
        <p:nvSpPr>
          <p:cNvPr id="29" name="">
            <a:extLst xmlns:a="http://schemas.openxmlformats.org/drawingml/2006/main">
              <a:ext uri="{FF2B5EF4-FFF2-40B4-BE49-F238E27FC236}">
                <a16:creationId xmlns:a16="http://schemas.microsoft.com/office/drawing/2014/main" id="{43700FB6-366C-4A21-915F-8A5D4A6DEA4B}"/>
              </a:ext>
            </a:extLst>
          </p:cNvPr>
          <p:cNvSpPr>
            <a:spLocks xmlns:a="http://schemas.openxmlformats.org/drawingml/2006/main" noGrp="1"/>
          </p:cNvSpPr>
          <p:nvPr/>
        </p:nvSpPr>
        <p:spPr>
          <a:xfrm xmlns:a="http://schemas.openxmlformats.org/drawingml/2006/main">
            <a:off x="457200" y="5953125"/>
            <a:ext cx="1114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4D6D68"/>
                </a:solidFill>
                <a:latin typeface="Arial"/>
                <a:ea typeface="Arial"/>
                <a:cs typeface="Arial"/>
              </a:defRPr>
            </a:pPr>
            <a:r>
              <a:rPr sz="1275" b="0">
                <a:solidFill>
                  <a:srgbClr val="4D6D68"/>
                </a:solidFill>
                <a:latin typeface="Arial"/>
                <a:ea typeface="Arial"/>
                <a:cs typeface="Arial"/>
              </a:rPr>
              <a:t>Power factor is a conditional charge and requires maximum kVAR data to quantify.</a:t>
            </a:r>
          </a:p>
        </p:txBody>
      </p:sp>
    </p:spTree>
    <p:extLst>
      <p:ext uri="{BB962C8B-B14F-4D97-AF65-F5344CB8AC3E}">
        <p14:creationId xmlns:p14="http://schemas.microsoft.com/office/powerpoint/2010/main" val="1879465697"/>
      </p:ext>
    </p:extLst>
  </p:cSld>
</p:sld>
</file>

<file path=ppt/slides/slide6.xml><?xml version="1.0" encoding="utf-8"?>
<p:sld xmlns:p="http://schemas.openxmlformats.org/presentationml/2006/main">
  <p:cSld>
    <p:bg>
      <p:bgPr>
        <a:solidFill xmlns:a="http://schemas.openxmlformats.org/drawingml/2006/main">
          <a:srgbClr val="EAF5F2"/>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69A25E5-D5DF-4481-92DB-550E2FEE1CA6}"/>
              </a:ext>
            </a:extLst>
          </p:cNvPr>
          <p:cNvSpPr>
            <a:spLocks xmlns:a="http://schemas.openxmlformats.org/drawingml/2006/main" noGrp="1"/>
          </p:cNvSpPr>
          <p:nvPr/>
        </p:nvSpPr>
        <p:spPr>
          <a:xfrm xmlns:a="http://schemas.openxmlformats.org/drawingml/2006/main">
            <a:off x="76200" y="76200"/>
            <a:ext cx="12039600" cy="914400"/>
          </a:xfrm>
          <a:prstGeom xmlns:a="http://schemas.openxmlformats.org/drawingml/2006/main" prst="roundRect">
            <a:avLst>
              <a:gd name="adj" fmla="val 22917"/>
            </a:avLst>
          </a:prstGeom>
          <a:solidFill xmlns:a="http://schemas.openxmlformats.org/drawingml/2006/main">
            <a:srgbClr val="24857B"/>
          </a:solidFill>
          <a:ln xmlns:a="http://schemas.openxmlformats.org/drawingml/2006/main" w="0">
            <a:solidFill>
              <a:srgbClr val="24857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16FC768-5622-4844-A5E9-AFC8EE9AB954}"/>
              </a:ext>
            </a:extLst>
          </p:cNvPr>
          <p:cNvSpPr>
            <a:spLocks xmlns:a="http://schemas.openxmlformats.org/drawingml/2006/main" noGrp="1"/>
          </p:cNvSpPr>
          <p:nvPr/>
        </p:nvSpPr>
        <p:spPr>
          <a:xfrm xmlns:a="http://schemas.openxmlformats.org/drawingml/2006/main">
            <a:off x="400050" y="2476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June 2025 bill: THB 2.58 million</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9d12e884facc4fb6"/>
          <a:stretch xmlns:a="http://schemas.openxmlformats.org/drawingml/2006/main"/>
        </p:blipFill>
        <p:spPr>
          <a:xfrm xmlns:a="http://schemas.openxmlformats.org/drawingml/2006/main">
            <a:off x="10096500" y="195629"/>
            <a:ext cx="1762125" cy="54219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68A91D1-9B63-43BC-9577-D9B2E8D6B0D5}"/>
              </a:ext>
            </a:extLst>
          </p:cNvPr>
          <p:cNvSpPr>
            <a:spLocks xmlns:a="http://schemas.openxmlformats.org/drawingml/2006/main" noGrp="1"/>
          </p:cNvSpPr>
          <p:nvPr/>
        </p:nvSpPr>
        <p:spPr>
          <a:xfrm xmlns:a="http://schemas.openxmlformats.org/drawingml/2006/main">
            <a:off x="400050" y="65151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4D6D68"/>
                </a:solidFill>
                <a:latin typeface="Arial"/>
                <a:ea typeface="Arial"/>
                <a:cs typeface="Arial"/>
              </a:defRPr>
            </a:pPr>
            <a:r>
              <a:rPr sz="900" b="0">
                <a:solidFill>
                  <a:srgbClr val="4D6D68"/>
                </a:solidFill>
                <a:latin typeface="Arial"/>
                <a:ea typeface="Arial"/>
                <a:cs typeface="Arial"/>
              </a:rPr>
              <a:t>Internal briefing  |  September 2026</a:t>
            </a:r>
          </a:p>
        </p:txBody>
      </p:sp>
      <p:sp>
        <p:nvSpPr>
          <p:cNvPr id="5" name="">
            <a:extLst xmlns:a="http://schemas.openxmlformats.org/drawingml/2006/main">
              <a:ext uri="{FF2B5EF4-FFF2-40B4-BE49-F238E27FC236}">
                <a16:creationId xmlns:a16="http://schemas.microsoft.com/office/drawing/2014/main" id="{B0900453-261A-4A2B-B763-06CDFFB79E38}"/>
              </a:ext>
            </a:extLst>
          </p:cNvPr>
          <p:cNvSpPr>
            <a:spLocks xmlns:a="http://schemas.openxmlformats.org/drawingml/2006/main" noGrp="1"/>
          </p:cNvSpPr>
          <p:nvPr/>
        </p:nvSpPr>
        <p:spPr>
          <a:xfrm xmlns:a="http://schemas.openxmlformats.org/drawingml/2006/main">
            <a:off x="11430000" y="651510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4D6D68"/>
                </a:solidFill>
                <a:latin typeface="Arial"/>
                <a:ea typeface="Arial"/>
                <a:cs typeface="Arial"/>
              </a:defRPr>
            </a:pPr>
            <a:r>
              <a:rPr sz="900" b="0">
                <a:solidFill>
                  <a:srgbClr val="4D6D68"/>
                </a:solidFill>
                <a:latin typeface="Arial"/>
                <a:ea typeface="Arial"/>
                <a:cs typeface="Arial"/>
              </a:rPr>
              <a:t>6</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5cdbfbc7223046c6"/>
          <a:srcRect xmlns:a="http://schemas.openxmlformats.org/drawingml/2006/main" l="0" t="1604" r="0" b="1604"/>
          <a:stretch xmlns:a="http://schemas.openxmlformats.org/drawingml/2006/main">
            <a:fillRect l="0" t="0" r="0" b="0"/>
          </a:stretch>
        </p:blipFill>
        <p:spPr>
          <a:xfrm xmlns:a="http://schemas.openxmlformats.org/drawingml/2006/main">
            <a:off x="457200" y="1257300"/>
            <a:ext cx="3476625" cy="4762500"/>
          </a:xfrm>
          <a:prstGeom xmlns:a="http://schemas.openxmlformats.org/drawingml/2006/main" prst="roundRect">
            <a:avLst>
              <a:gd name="adj" fmla="val 3836"/>
            </a:avLst>
          </a:prstGeom>
        </p:spPr>
      </p:pic>
      <p:sp>
        <p:nvSpPr>
          <p:cNvPr id="7" name="">
            <a:extLst xmlns:a="http://schemas.openxmlformats.org/drawingml/2006/main">
              <a:ext uri="{FF2B5EF4-FFF2-40B4-BE49-F238E27FC236}">
                <a16:creationId xmlns:a16="http://schemas.microsoft.com/office/drawing/2014/main" id="{A7E3D110-5C0B-4923-8355-365A83E52635}"/>
              </a:ext>
            </a:extLst>
          </p:cNvPr>
          <p:cNvSpPr>
            <a:spLocks xmlns:a="http://schemas.openxmlformats.org/drawingml/2006/main" noGrp="1"/>
          </p:cNvSpPr>
          <p:nvPr/>
        </p:nvSpPr>
        <p:spPr>
          <a:xfrm xmlns:a="http://schemas.openxmlformats.org/drawingml/2006/main">
            <a:off x="4333875" y="1362075"/>
            <a:ext cx="700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685F"/>
                </a:solidFill>
                <a:latin typeface="Arial"/>
                <a:ea typeface="Arial"/>
                <a:cs typeface="Arial"/>
              </a:defRPr>
            </a:pPr>
            <a:r>
              <a:rPr sz="1875" b="1">
                <a:solidFill>
                  <a:srgbClr val="17685F"/>
                </a:solidFill>
                <a:latin typeface="Arial"/>
                <a:ea typeface="Arial"/>
                <a:cs typeface="Arial"/>
              </a:rPr>
              <a:t>Pre-VAT subtotal: THB 2,407,767</a:t>
            </a:r>
          </a:p>
        </p:txBody>
      </p:sp>
      <p:sp>
        <p:nvSpPr>
          <p:cNvPr id="8" name="">
            <a:extLst xmlns:a="http://schemas.openxmlformats.org/drawingml/2006/main">
              <a:ext uri="{FF2B5EF4-FFF2-40B4-BE49-F238E27FC236}">
                <a16:creationId xmlns:a16="http://schemas.microsoft.com/office/drawing/2014/main" id="{BD6829B0-EB9D-41A1-AA07-0EFA1E2A0A8E}"/>
              </a:ext>
            </a:extLst>
          </p:cNvPr>
          <p:cNvSpPr>
            <a:spLocks xmlns:a="http://schemas.openxmlformats.org/drawingml/2006/main" noGrp="1"/>
          </p:cNvSpPr>
          <p:nvPr/>
        </p:nvSpPr>
        <p:spPr>
          <a:xfrm xmlns:a="http://schemas.openxmlformats.org/drawingml/2006/main">
            <a:off x="4333875" y="1809750"/>
            <a:ext cx="704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D6D68"/>
                </a:solidFill>
                <a:latin typeface="Arial"/>
                <a:ea typeface="Arial"/>
                <a:cs typeface="Arial"/>
              </a:defRPr>
            </a:pPr>
            <a:r>
              <a:rPr sz="1275" b="0">
                <a:solidFill>
                  <a:srgbClr val="4D6D68"/>
                </a:solidFill>
                <a:latin typeface="Arial"/>
                <a:ea typeface="Arial"/>
                <a:cs typeface="Arial"/>
              </a:rPr>
              <a:t>631,580 kWh  |  1,368 kW on-peak maximum  |  Ft = THB 0.1972/kWh</a:t>
            </a:r>
          </a:p>
        </p:txBody>
      </p:sp>
      <p:sp>
        <p:nvSpPr>
          <p:cNvPr id="9" name="">
            <a:extLst xmlns:a="http://schemas.openxmlformats.org/drawingml/2006/main">
              <a:ext uri="{FF2B5EF4-FFF2-40B4-BE49-F238E27FC236}">
                <a16:creationId xmlns:a16="http://schemas.microsoft.com/office/drawing/2014/main" id="{11B21F1F-792F-4868-B015-7185D3577A9A}"/>
              </a:ext>
            </a:extLst>
          </p:cNvPr>
          <p:cNvSpPr>
            <a:spLocks xmlns:a="http://schemas.openxmlformats.org/drawingml/2006/main" noGrp="1"/>
          </p:cNvSpPr>
          <p:nvPr/>
        </p:nvSpPr>
        <p:spPr>
          <a:xfrm xmlns:a="http://schemas.openxmlformats.org/drawingml/2006/main">
            <a:off x="4333875" y="2495550"/>
            <a:ext cx="3515251" cy="647700"/>
          </a:xfrm>
          <a:prstGeom xmlns:a="http://schemas.openxmlformats.org/drawingml/2006/main" prst="rect">
            <a:avLst/>
          </a:prstGeom>
          <a:solidFill xmlns:a="http://schemas.openxmlformats.org/drawingml/2006/main">
            <a:srgbClr val="E98A55"/>
          </a:solidFill>
          <a:ln xmlns:a="http://schemas.openxmlformats.org/drawingml/2006/main" w="0">
            <a:solidFill>
              <a:srgbClr val="E98A55"/>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FDB0CD1-815B-4FDD-BFB0-40D364E7C196}"/>
              </a:ext>
            </a:extLst>
          </p:cNvPr>
          <p:cNvSpPr>
            <a:spLocks xmlns:a="http://schemas.openxmlformats.org/drawingml/2006/main" noGrp="1"/>
          </p:cNvSpPr>
          <p:nvPr/>
        </p:nvSpPr>
        <p:spPr>
          <a:xfrm xmlns:a="http://schemas.openxmlformats.org/drawingml/2006/main">
            <a:off x="4333875" y="2638425"/>
            <a:ext cx="3515251"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50%</a:t>
            </a:r>
          </a:p>
        </p:txBody>
      </p:sp>
      <p:sp>
        <p:nvSpPr>
          <p:cNvPr id="11" name="">
            <a:extLst xmlns:a="http://schemas.openxmlformats.org/drawingml/2006/main">
              <a:ext uri="{FF2B5EF4-FFF2-40B4-BE49-F238E27FC236}">
                <a16:creationId xmlns:a16="http://schemas.microsoft.com/office/drawing/2014/main" id="{BFCFCEA9-21D1-4C2B-AB10-900673166563}"/>
              </a:ext>
            </a:extLst>
          </p:cNvPr>
          <p:cNvSpPr>
            <a:spLocks xmlns:a="http://schemas.openxmlformats.org/drawingml/2006/main" noGrp="1"/>
          </p:cNvSpPr>
          <p:nvPr/>
        </p:nvSpPr>
        <p:spPr>
          <a:xfrm xmlns:a="http://schemas.openxmlformats.org/drawingml/2006/main">
            <a:off x="7849126" y="2495550"/>
            <a:ext cx="2593831" cy="647700"/>
          </a:xfrm>
          <a:prstGeom xmlns:a="http://schemas.openxmlformats.org/drawingml/2006/main" prst="rect">
            <a:avLst/>
          </a:prstGeom>
          <a:solidFill xmlns:a="http://schemas.openxmlformats.org/drawingml/2006/main">
            <a:srgbClr val="3F8E73"/>
          </a:solidFill>
          <a:ln xmlns:a="http://schemas.openxmlformats.org/drawingml/2006/main" w="0">
            <a:solidFill>
              <a:srgbClr val="3F8E73"/>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F865DFF2-8B54-46DB-A172-7592E7556864}"/>
              </a:ext>
            </a:extLst>
          </p:cNvPr>
          <p:cNvSpPr>
            <a:spLocks xmlns:a="http://schemas.openxmlformats.org/drawingml/2006/main" noGrp="1"/>
          </p:cNvSpPr>
          <p:nvPr/>
        </p:nvSpPr>
        <p:spPr>
          <a:xfrm xmlns:a="http://schemas.openxmlformats.org/drawingml/2006/main">
            <a:off x="7849126" y="2638425"/>
            <a:ext cx="2593831"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37%</a:t>
            </a:r>
          </a:p>
        </p:txBody>
      </p:sp>
      <p:sp>
        <p:nvSpPr>
          <p:cNvPr id="13" name="">
            <a:extLst xmlns:a="http://schemas.openxmlformats.org/drawingml/2006/main">
              <a:ext uri="{FF2B5EF4-FFF2-40B4-BE49-F238E27FC236}">
                <a16:creationId xmlns:a16="http://schemas.microsoft.com/office/drawing/2014/main" id="{D2C1CD29-C8C2-43DD-969C-F1FDD0EE6E0B}"/>
              </a:ext>
            </a:extLst>
          </p:cNvPr>
          <p:cNvSpPr>
            <a:spLocks xmlns:a="http://schemas.openxmlformats.org/drawingml/2006/main" noGrp="1"/>
          </p:cNvSpPr>
          <p:nvPr/>
        </p:nvSpPr>
        <p:spPr>
          <a:xfrm xmlns:a="http://schemas.openxmlformats.org/drawingml/2006/main">
            <a:off x="10442958" y="2495550"/>
            <a:ext cx="528748" cy="647700"/>
          </a:xfrm>
          <a:prstGeom xmlns:a="http://schemas.openxmlformats.org/drawingml/2006/main" prst="rect">
            <a:avLst/>
          </a:prstGeom>
          <a:solidFill xmlns:a="http://schemas.openxmlformats.org/drawingml/2006/main">
            <a:srgbClr val="F7D98B"/>
          </a:solidFill>
          <a:ln xmlns:a="http://schemas.openxmlformats.org/drawingml/2006/main" w="0">
            <a:solidFill>
              <a:srgbClr val="F7D98B"/>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FB64B1AC-788D-4DD7-8DC4-2951DFB64296}"/>
              </a:ext>
            </a:extLst>
          </p:cNvPr>
          <p:cNvSpPr>
            <a:spLocks xmlns:a="http://schemas.openxmlformats.org/drawingml/2006/main" noGrp="1"/>
          </p:cNvSpPr>
          <p:nvPr/>
        </p:nvSpPr>
        <p:spPr>
          <a:xfrm xmlns:a="http://schemas.openxmlformats.org/drawingml/2006/main">
            <a:off x="10971706" y="2495550"/>
            <a:ext cx="362134" cy="647700"/>
          </a:xfrm>
          <a:prstGeom xmlns:a="http://schemas.openxmlformats.org/drawingml/2006/main" prst="rect">
            <a:avLst/>
          </a:prstGeom>
          <a:solidFill xmlns:a="http://schemas.openxmlformats.org/drawingml/2006/main">
            <a:srgbClr val="D77C7F"/>
          </a:solidFill>
          <a:ln xmlns:a="http://schemas.openxmlformats.org/drawingml/2006/main" w="0">
            <a:solidFill>
              <a:srgbClr val="D77C7F"/>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262D4B86-58F5-4954-81C0-087F910C6995}"/>
              </a:ext>
            </a:extLst>
          </p:cNvPr>
          <p:cNvSpPr>
            <a:spLocks xmlns:a="http://schemas.openxmlformats.org/drawingml/2006/main" noGrp="1"/>
          </p:cNvSpPr>
          <p:nvPr/>
        </p:nvSpPr>
        <p:spPr>
          <a:xfrm xmlns:a="http://schemas.openxmlformats.org/drawingml/2006/main">
            <a:off x="4333875" y="3381375"/>
            <a:ext cx="214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E98A55"/>
                </a:solidFill>
                <a:latin typeface="Arial"/>
                <a:ea typeface="Arial"/>
                <a:cs typeface="Arial"/>
              </a:defRPr>
            </a:pPr>
            <a:r>
              <a:rPr sz="1350" b="1">
                <a:solidFill>
                  <a:srgbClr val="E98A55"/>
                </a:solidFill>
                <a:latin typeface="Arial"/>
                <a:ea typeface="Arial"/>
                <a:cs typeface="Arial"/>
              </a:rPr>
              <a:t>Peak energy</a:t>
            </a:r>
          </a:p>
        </p:txBody>
      </p:sp>
      <p:sp>
        <p:nvSpPr>
          <p:cNvPr id="16" name="">
            <a:extLst xmlns:a="http://schemas.openxmlformats.org/drawingml/2006/main">
              <a:ext uri="{FF2B5EF4-FFF2-40B4-BE49-F238E27FC236}">
                <a16:creationId xmlns:a16="http://schemas.microsoft.com/office/drawing/2014/main" id="{4947206B-DC4B-4A65-81DA-F8F080159FC5}"/>
              </a:ext>
            </a:extLst>
          </p:cNvPr>
          <p:cNvSpPr>
            <a:spLocks xmlns:a="http://schemas.openxmlformats.org/drawingml/2006/main" noGrp="1"/>
          </p:cNvSpPr>
          <p:nvPr/>
        </p:nvSpPr>
        <p:spPr>
          <a:xfrm xmlns:a="http://schemas.openxmlformats.org/drawingml/2006/main">
            <a:off x="4333875" y="3695700"/>
            <a:ext cx="214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THB 1,208,980</a:t>
            </a:r>
          </a:p>
        </p:txBody>
      </p:sp>
      <p:sp>
        <p:nvSpPr>
          <p:cNvPr id="17" name="">
            <a:extLst xmlns:a="http://schemas.openxmlformats.org/drawingml/2006/main">
              <a:ext uri="{FF2B5EF4-FFF2-40B4-BE49-F238E27FC236}">
                <a16:creationId xmlns:a16="http://schemas.microsoft.com/office/drawing/2014/main" id="{646833A1-50A0-4725-9E8F-7A4362C96A69}"/>
              </a:ext>
            </a:extLst>
          </p:cNvPr>
          <p:cNvSpPr>
            <a:spLocks xmlns:a="http://schemas.openxmlformats.org/drawingml/2006/main" noGrp="1"/>
          </p:cNvSpPr>
          <p:nvPr/>
        </p:nvSpPr>
        <p:spPr>
          <a:xfrm xmlns:a="http://schemas.openxmlformats.org/drawingml/2006/main">
            <a:off x="6667500" y="338137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3F8E73"/>
                </a:solidFill>
                <a:latin typeface="Arial"/>
                <a:ea typeface="Arial"/>
                <a:cs typeface="Arial"/>
              </a:defRPr>
            </a:pPr>
            <a:r>
              <a:rPr sz="1350" b="1">
                <a:solidFill>
                  <a:srgbClr val="3F8E73"/>
                </a:solidFill>
                <a:latin typeface="Arial"/>
                <a:ea typeface="Arial"/>
                <a:cs typeface="Arial"/>
              </a:rPr>
              <a:t>Off-peak + holiday</a:t>
            </a:r>
          </a:p>
        </p:txBody>
      </p:sp>
      <p:sp>
        <p:nvSpPr>
          <p:cNvPr id="18" name="">
            <a:extLst xmlns:a="http://schemas.openxmlformats.org/drawingml/2006/main">
              <a:ext uri="{FF2B5EF4-FFF2-40B4-BE49-F238E27FC236}">
                <a16:creationId xmlns:a16="http://schemas.microsoft.com/office/drawing/2014/main" id="{131E9B9E-D30D-4DA2-A650-7DCC91535014}"/>
              </a:ext>
            </a:extLst>
          </p:cNvPr>
          <p:cNvSpPr>
            <a:spLocks xmlns:a="http://schemas.openxmlformats.org/drawingml/2006/main" noGrp="1"/>
          </p:cNvSpPr>
          <p:nvPr/>
        </p:nvSpPr>
        <p:spPr>
          <a:xfrm xmlns:a="http://schemas.openxmlformats.org/drawingml/2006/main">
            <a:off x="6667500" y="3695700"/>
            <a:ext cx="214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THB 892,080</a:t>
            </a:r>
          </a:p>
        </p:txBody>
      </p:sp>
      <p:sp>
        <p:nvSpPr>
          <p:cNvPr id="19" name="">
            <a:extLst xmlns:a="http://schemas.openxmlformats.org/drawingml/2006/main">
              <a:ext uri="{FF2B5EF4-FFF2-40B4-BE49-F238E27FC236}">
                <a16:creationId xmlns:a16="http://schemas.microsoft.com/office/drawing/2014/main" id="{DEE0A3BF-E097-4E68-9BF2-CB85A1EA2297}"/>
              </a:ext>
            </a:extLst>
          </p:cNvPr>
          <p:cNvSpPr>
            <a:spLocks xmlns:a="http://schemas.openxmlformats.org/drawingml/2006/main" noGrp="1"/>
          </p:cNvSpPr>
          <p:nvPr/>
        </p:nvSpPr>
        <p:spPr>
          <a:xfrm xmlns:a="http://schemas.openxmlformats.org/drawingml/2006/main">
            <a:off x="9191625" y="3381375"/>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9A6C00"/>
                </a:solidFill>
                <a:latin typeface="Arial"/>
                <a:ea typeface="Arial"/>
                <a:cs typeface="Arial"/>
              </a:defRPr>
            </a:pPr>
            <a:r>
              <a:rPr sz="1350" b="1">
                <a:solidFill>
                  <a:srgbClr val="9A6C00"/>
                </a:solidFill>
                <a:latin typeface="Arial"/>
                <a:ea typeface="Arial"/>
                <a:cs typeface="Arial"/>
              </a:rPr>
              <a:t>Demand</a:t>
            </a:r>
          </a:p>
        </p:txBody>
      </p:sp>
      <p:sp>
        <p:nvSpPr>
          <p:cNvPr id="20" name="">
            <a:extLst xmlns:a="http://schemas.openxmlformats.org/drawingml/2006/main">
              <a:ext uri="{FF2B5EF4-FFF2-40B4-BE49-F238E27FC236}">
                <a16:creationId xmlns:a16="http://schemas.microsoft.com/office/drawing/2014/main" id="{15A94E2C-C4BD-4B98-A0C3-27F7A4A59FF1}"/>
              </a:ext>
            </a:extLst>
          </p:cNvPr>
          <p:cNvSpPr>
            <a:spLocks xmlns:a="http://schemas.openxmlformats.org/drawingml/2006/main" noGrp="1"/>
          </p:cNvSpPr>
          <p:nvPr/>
        </p:nvSpPr>
        <p:spPr>
          <a:xfrm xmlns:a="http://schemas.openxmlformats.org/drawingml/2006/main">
            <a:off x="9191625" y="36957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THB 181,848</a:t>
            </a:r>
          </a:p>
        </p:txBody>
      </p:sp>
      <p:sp>
        <p:nvSpPr>
          <p:cNvPr id="21" name="">
            <a:extLst xmlns:a="http://schemas.openxmlformats.org/drawingml/2006/main">
              <a:ext uri="{FF2B5EF4-FFF2-40B4-BE49-F238E27FC236}">
                <a16:creationId xmlns:a16="http://schemas.microsoft.com/office/drawing/2014/main" id="{33511D38-4556-461F-B567-EE220E99C20F}"/>
              </a:ext>
            </a:extLst>
          </p:cNvPr>
          <p:cNvSpPr>
            <a:spLocks xmlns:a="http://schemas.openxmlformats.org/drawingml/2006/main" noGrp="1"/>
          </p:cNvSpPr>
          <p:nvPr/>
        </p:nvSpPr>
        <p:spPr>
          <a:xfrm xmlns:a="http://schemas.openxmlformats.org/drawingml/2006/main">
            <a:off x="10572750" y="3381375"/>
            <a:ext cx="76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D77C7F"/>
                </a:solidFill>
                <a:latin typeface="Arial"/>
                <a:ea typeface="Arial"/>
                <a:cs typeface="Arial"/>
              </a:defRPr>
            </a:pPr>
            <a:r>
              <a:rPr sz="1350" b="1">
                <a:solidFill>
                  <a:srgbClr val="D77C7F"/>
                </a:solidFill>
                <a:latin typeface="Arial"/>
                <a:ea typeface="Arial"/>
                <a:cs typeface="Arial"/>
              </a:rPr>
              <a:t>Ft</a:t>
            </a:r>
          </a:p>
        </p:txBody>
      </p:sp>
      <p:sp>
        <p:nvSpPr>
          <p:cNvPr id="22" name="">
            <a:extLst xmlns:a="http://schemas.openxmlformats.org/drawingml/2006/main">
              <a:ext uri="{FF2B5EF4-FFF2-40B4-BE49-F238E27FC236}">
                <a16:creationId xmlns:a16="http://schemas.microsoft.com/office/drawing/2014/main" id="{288E87EF-5989-4ABF-8F5D-348956B62D9B}"/>
              </a:ext>
            </a:extLst>
          </p:cNvPr>
          <p:cNvSpPr>
            <a:spLocks xmlns:a="http://schemas.openxmlformats.org/drawingml/2006/main" noGrp="1"/>
          </p:cNvSpPr>
          <p:nvPr/>
        </p:nvSpPr>
        <p:spPr>
          <a:xfrm xmlns:a="http://schemas.openxmlformats.org/drawingml/2006/main">
            <a:off x="10572750" y="36957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143B37"/>
                </a:solidFill>
                <a:latin typeface="Arial"/>
                <a:ea typeface="Arial"/>
                <a:cs typeface="Arial"/>
              </a:defRPr>
            </a:pPr>
            <a:r>
              <a:rPr sz="1275" b="0">
                <a:solidFill>
                  <a:srgbClr val="143B37"/>
                </a:solidFill>
                <a:latin typeface="Arial"/>
                <a:ea typeface="Arial"/>
                <a:cs typeface="Arial"/>
              </a:rPr>
              <a:t>THB 124,548</a:t>
            </a:r>
          </a:p>
        </p:txBody>
      </p:sp>
      <p:sp>
        <p:nvSpPr>
          <p:cNvPr id="23" name="">
            <a:extLst xmlns:a="http://schemas.openxmlformats.org/drawingml/2006/main">
              <a:ext uri="{FF2B5EF4-FFF2-40B4-BE49-F238E27FC236}">
                <a16:creationId xmlns:a16="http://schemas.microsoft.com/office/drawing/2014/main" id="{1F306F68-F59C-4F50-A832-74CAD311063F}"/>
              </a:ext>
            </a:extLst>
          </p:cNvPr>
          <p:cNvSpPr>
            <a:spLocks xmlns:a="http://schemas.openxmlformats.org/drawingml/2006/main" noGrp="1"/>
          </p:cNvSpPr>
          <p:nvPr/>
        </p:nvSpPr>
        <p:spPr>
          <a:xfrm xmlns:a="http://schemas.openxmlformats.org/drawingml/2006/main">
            <a:off x="4333875" y="4305300"/>
            <a:ext cx="7000875" cy="0"/>
          </a:xfrm>
          <a:prstGeom xmlns:a="http://schemas.openxmlformats.org/drawingml/2006/main" prst="line">
            <a:avLst/>
          </a:prstGeom>
          <a:noFill xmlns:a="http://schemas.openxmlformats.org/drawingml/2006/main"/>
          <a:ln xmlns:a="http://schemas.openxmlformats.org/drawingml/2006/main" w="19050">
            <a:solidFill>
              <a:srgbClr val="8AB8B0"/>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EBBE0B5E-D21E-46B7-861F-8E7378FA4BC4}"/>
              </a:ext>
            </a:extLst>
          </p:cNvPr>
          <p:cNvSpPr>
            <a:spLocks xmlns:a="http://schemas.openxmlformats.org/drawingml/2006/main" noGrp="1"/>
          </p:cNvSpPr>
          <p:nvPr/>
        </p:nvSpPr>
        <p:spPr>
          <a:xfrm xmlns:a="http://schemas.openxmlformats.org/drawingml/2006/main">
            <a:off x="4333875" y="45053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D6D68"/>
                </a:solidFill>
                <a:latin typeface="Arial"/>
                <a:ea typeface="Arial"/>
                <a:cs typeface="Arial"/>
              </a:defRPr>
            </a:pPr>
            <a:r>
              <a:rPr sz="1350" b="0">
                <a:solidFill>
                  <a:srgbClr val="4D6D68"/>
                </a:solidFill>
                <a:latin typeface="Arial"/>
                <a:ea typeface="Arial"/>
                <a:cs typeface="Arial"/>
              </a:rPr>
              <a:t>Service charge</a:t>
            </a:r>
          </a:p>
        </p:txBody>
      </p:sp>
      <p:sp>
        <p:nvSpPr>
          <p:cNvPr id="25" name="">
            <a:extLst xmlns:a="http://schemas.openxmlformats.org/drawingml/2006/main">
              <a:ext uri="{FF2B5EF4-FFF2-40B4-BE49-F238E27FC236}">
                <a16:creationId xmlns:a16="http://schemas.microsoft.com/office/drawing/2014/main" id="{A9E1FD42-CEB3-450B-96AA-6893D17DB339}"/>
              </a:ext>
            </a:extLst>
          </p:cNvPr>
          <p:cNvSpPr>
            <a:spLocks xmlns:a="http://schemas.openxmlformats.org/drawingml/2006/main" noGrp="1"/>
          </p:cNvSpPr>
          <p:nvPr/>
        </p:nvSpPr>
        <p:spPr>
          <a:xfrm xmlns:a="http://schemas.openxmlformats.org/drawingml/2006/main">
            <a:off x="8239125" y="4505325"/>
            <a:ext cx="309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143B37"/>
                </a:solidFill>
                <a:latin typeface="Arial"/>
                <a:ea typeface="Arial"/>
                <a:cs typeface="Arial"/>
              </a:defRPr>
            </a:pPr>
            <a:r>
              <a:rPr sz="1350" b="0">
                <a:solidFill>
                  <a:srgbClr val="143B37"/>
                </a:solidFill>
                <a:latin typeface="Arial"/>
                <a:ea typeface="Arial"/>
                <a:cs typeface="Arial"/>
              </a:rPr>
              <a:t>THB 312</a:t>
            </a:r>
          </a:p>
        </p:txBody>
      </p:sp>
      <p:sp>
        <p:nvSpPr>
          <p:cNvPr id="26" name="">
            <a:extLst xmlns:a="http://schemas.openxmlformats.org/drawingml/2006/main">
              <a:ext uri="{FF2B5EF4-FFF2-40B4-BE49-F238E27FC236}">
                <a16:creationId xmlns:a16="http://schemas.microsoft.com/office/drawing/2014/main" id="{CD64CAC6-3329-4239-9B34-AD84502B1919}"/>
              </a:ext>
            </a:extLst>
          </p:cNvPr>
          <p:cNvSpPr>
            <a:spLocks xmlns:a="http://schemas.openxmlformats.org/drawingml/2006/main" noGrp="1"/>
          </p:cNvSpPr>
          <p:nvPr/>
        </p:nvSpPr>
        <p:spPr>
          <a:xfrm xmlns:a="http://schemas.openxmlformats.org/drawingml/2006/main">
            <a:off x="4333875" y="48863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D6D68"/>
                </a:solidFill>
                <a:latin typeface="Arial"/>
                <a:ea typeface="Arial"/>
                <a:cs typeface="Arial"/>
              </a:defRPr>
            </a:pPr>
            <a:r>
              <a:rPr sz="1350" b="0">
                <a:solidFill>
                  <a:srgbClr val="4D6D68"/>
                </a:solidFill>
                <a:latin typeface="Arial"/>
                <a:ea typeface="Arial"/>
                <a:cs typeface="Arial"/>
              </a:rPr>
              <a:t>VAT at 7%</a:t>
            </a:r>
          </a:p>
        </p:txBody>
      </p:sp>
      <p:sp>
        <p:nvSpPr>
          <p:cNvPr id="27" name="">
            <a:extLst xmlns:a="http://schemas.openxmlformats.org/drawingml/2006/main">
              <a:ext uri="{FF2B5EF4-FFF2-40B4-BE49-F238E27FC236}">
                <a16:creationId xmlns:a16="http://schemas.microsoft.com/office/drawing/2014/main" id="{E4E23319-87D5-488D-8A92-F8AB462ACD78}"/>
              </a:ext>
            </a:extLst>
          </p:cNvPr>
          <p:cNvSpPr>
            <a:spLocks xmlns:a="http://schemas.openxmlformats.org/drawingml/2006/main" noGrp="1"/>
          </p:cNvSpPr>
          <p:nvPr/>
        </p:nvSpPr>
        <p:spPr>
          <a:xfrm xmlns:a="http://schemas.openxmlformats.org/drawingml/2006/main">
            <a:off x="8239125" y="4886325"/>
            <a:ext cx="309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143B37"/>
                </a:solidFill>
                <a:latin typeface="Arial"/>
                <a:ea typeface="Arial"/>
                <a:cs typeface="Arial"/>
              </a:defRPr>
            </a:pPr>
            <a:r>
              <a:rPr sz="1350" b="0">
                <a:solidFill>
                  <a:srgbClr val="143B37"/>
                </a:solidFill>
                <a:latin typeface="Arial"/>
                <a:ea typeface="Arial"/>
                <a:cs typeface="Arial"/>
              </a:rPr>
              <a:t>THB 168,544</a:t>
            </a:r>
          </a:p>
        </p:txBody>
      </p:sp>
      <p:sp>
        <p:nvSpPr>
          <p:cNvPr id="28" name="">
            <a:extLst xmlns:a="http://schemas.openxmlformats.org/drawingml/2006/main">
              <a:ext uri="{FF2B5EF4-FFF2-40B4-BE49-F238E27FC236}">
                <a16:creationId xmlns:a16="http://schemas.microsoft.com/office/drawing/2014/main" id="{18FE99B4-551E-49CD-8DD3-29DE14142C29}"/>
              </a:ext>
            </a:extLst>
          </p:cNvPr>
          <p:cNvSpPr>
            <a:spLocks xmlns:a="http://schemas.openxmlformats.org/drawingml/2006/main" noGrp="1"/>
          </p:cNvSpPr>
          <p:nvPr/>
        </p:nvSpPr>
        <p:spPr>
          <a:xfrm xmlns:a="http://schemas.openxmlformats.org/drawingml/2006/main">
            <a:off x="4333875" y="5381625"/>
            <a:ext cx="7000875" cy="590550"/>
          </a:xfrm>
          <a:prstGeom xmlns:a="http://schemas.openxmlformats.org/drawingml/2006/main" prst="roundRect">
            <a:avLst>
              <a:gd name="adj" fmla="val 25806"/>
            </a:avLst>
          </a:prstGeom>
          <a:solidFill xmlns:a="http://schemas.openxmlformats.org/drawingml/2006/main">
            <a:srgbClr val="17685F"/>
          </a:solidFill>
          <a:ln xmlns:a="http://schemas.openxmlformats.org/drawingml/2006/main" w="0">
            <a:solidFill>
              <a:srgbClr val="17685F"/>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455E1C61-96C6-467C-BAF8-23CFA0C3DCBD}"/>
              </a:ext>
            </a:extLst>
          </p:cNvPr>
          <p:cNvSpPr>
            <a:spLocks xmlns:a="http://schemas.openxmlformats.org/drawingml/2006/main" noGrp="1"/>
          </p:cNvSpPr>
          <p:nvPr/>
        </p:nvSpPr>
        <p:spPr>
          <a:xfrm xmlns:a="http://schemas.openxmlformats.org/drawingml/2006/main">
            <a:off x="4552950" y="55054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Amount due</a:t>
            </a:r>
          </a:p>
        </p:txBody>
      </p:sp>
      <p:sp>
        <p:nvSpPr>
          <p:cNvPr id="30" name="">
            <a:extLst xmlns:a="http://schemas.openxmlformats.org/drawingml/2006/main">
              <a:ext uri="{FF2B5EF4-FFF2-40B4-BE49-F238E27FC236}">
                <a16:creationId xmlns:a16="http://schemas.microsoft.com/office/drawing/2014/main" id="{813162BC-E594-47FF-87C1-B0D959C1C40B}"/>
              </a:ext>
            </a:extLst>
          </p:cNvPr>
          <p:cNvSpPr>
            <a:spLocks xmlns:a="http://schemas.openxmlformats.org/drawingml/2006/main" noGrp="1"/>
          </p:cNvSpPr>
          <p:nvPr/>
        </p:nvSpPr>
        <p:spPr>
          <a:xfrm xmlns:a="http://schemas.openxmlformats.org/drawingml/2006/main">
            <a:off x="8001000" y="550545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875" b="1">
                <a:solidFill>
                  <a:srgbClr val="FFFFFF"/>
                </a:solidFill>
                <a:latin typeface="Arial"/>
                <a:ea typeface="Arial"/>
                <a:cs typeface="Arial"/>
              </a:defRPr>
            </a:pPr>
            <a:r>
              <a:rPr sz="1875" b="1">
                <a:solidFill>
                  <a:srgbClr val="FFFFFF"/>
                </a:solidFill>
                <a:latin typeface="Arial"/>
                <a:ea typeface="Arial"/>
                <a:cs typeface="Arial"/>
              </a:rPr>
              <a:t>THB 2,576,311</a:t>
            </a:r>
          </a:p>
        </p:txBody>
      </p:sp>
    </p:spTree>
    <p:extLst>
      <p:ext uri="{BB962C8B-B14F-4D97-AF65-F5344CB8AC3E}">
        <p14:creationId xmlns:p14="http://schemas.microsoft.com/office/powerpoint/2010/main" val="311407850"/>
      </p:ext>
    </p:extLst>
  </p:cSld>
</p:sld>
</file>

<file path=ppt/slides/slide7.xml><?xml version="1.0" encoding="utf-8"?>
<p:sld xmlns:p="http://schemas.openxmlformats.org/presentationml/2006/main">
  <p:cSld>
    <p:bg>
      <p:bgPr>
        <a:solidFill xmlns:a="http://schemas.openxmlformats.org/drawingml/2006/main">
          <a:srgbClr val="EAF5F2"/>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3936943-DF66-4BE6-A21B-32A67B6DBCBD}"/>
              </a:ext>
            </a:extLst>
          </p:cNvPr>
          <p:cNvSpPr>
            <a:spLocks xmlns:a="http://schemas.openxmlformats.org/drawingml/2006/main" noGrp="1"/>
          </p:cNvSpPr>
          <p:nvPr/>
        </p:nvSpPr>
        <p:spPr>
          <a:xfrm xmlns:a="http://schemas.openxmlformats.org/drawingml/2006/main">
            <a:off x="76200" y="76200"/>
            <a:ext cx="12039600" cy="914400"/>
          </a:xfrm>
          <a:prstGeom xmlns:a="http://schemas.openxmlformats.org/drawingml/2006/main" prst="roundRect">
            <a:avLst>
              <a:gd name="adj" fmla="val 22917"/>
            </a:avLst>
          </a:prstGeom>
          <a:solidFill xmlns:a="http://schemas.openxmlformats.org/drawingml/2006/main">
            <a:srgbClr val="24857B"/>
          </a:solidFill>
          <a:ln xmlns:a="http://schemas.openxmlformats.org/drawingml/2006/main" w="0">
            <a:solidFill>
              <a:srgbClr val="24857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119D473-ADE5-452E-8A9D-F1DC7F8D6816}"/>
              </a:ext>
            </a:extLst>
          </p:cNvPr>
          <p:cNvSpPr>
            <a:spLocks xmlns:a="http://schemas.openxmlformats.org/drawingml/2006/main" noGrp="1"/>
          </p:cNvSpPr>
          <p:nvPr/>
        </p:nvSpPr>
        <p:spPr>
          <a:xfrm xmlns:a="http://schemas.openxmlformats.org/drawingml/2006/main">
            <a:off x="400050" y="2476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Rooftop solar avoids energy charges first</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92e3a08baf004731"/>
          <a:stretch xmlns:a="http://schemas.openxmlformats.org/drawingml/2006/main"/>
        </p:blipFill>
        <p:spPr>
          <a:xfrm xmlns:a="http://schemas.openxmlformats.org/drawingml/2006/main">
            <a:off x="10096500" y="195629"/>
            <a:ext cx="1762125" cy="54219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FE9850F-0715-4D70-8DFA-C2AC4026042D}"/>
              </a:ext>
            </a:extLst>
          </p:cNvPr>
          <p:cNvSpPr>
            <a:spLocks xmlns:a="http://schemas.openxmlformats.org/drawingml/2006/main" noGrp="1"/>
          </p:cNvSpPr>
          <p:nvPr/>
        </p:nvSpPr>
        <p:spPr>
          <a:xfrm xmlns:a="http://schemas.openxmlformats.org/drawingml/2006/main">
            <a:off x="400050" y="65151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4D6D68"/>
                </a:solidFill>
                <a:latin typeface="Arial"/>
                <a:ea typeface="Arial"/>
                <a:cs typeface="Arial"/>
              </a:defRPr>
            </a:pPr>
            <a:r>
              <a:rPr sz="900" b="0">
                <a:solidFill>
                  <a:srgbClr val="4D6D68"/>
                </a:solidFill>
                <a:latin typeface="Arial"/>
                <a:ea typeface="Arial"/>
                <a:cs typeface="Arial"/>
              </a:rPr>
              <a:t>Internal briefing  |  September 2026</a:t>
            </a:r>
          </a:p>
        </p:txBody>
      </p:sp>
      <p:sp>
        <p:nvSpPr>
          <p:cNvPr id="5" name="">
            <a:extLst xmlns:a="http://schemas.openxmlformats.org/drawingml/2006/main">
              <a:ext uri="{FF2B5EF4-FFF2-40B4-BE49-F238E27FC236}">
                <a16:creationId xmlns:a16="http://schemas.microsoft.com/office/drawing/2014/main" id="{55AB3025-E7EE-4558-B77C-23D4E19E606E}"/>
              </a:ext>
            </a:extLst>
          </p:cNvPr>
          <p:cNvSpPr>
            <a:spLocks xmlns:a="http://schemas.openxmlformats.org/drawingml/2006/main" noGrp="1"/>
          </p:cNvSpPr>
          <p:nvPr/>
        </p:nvSpPr>
        <p:spPr>
          <a:xfrm xmlns:a="http://schemas.openxmlformats.org/drawingml/2006/main">
            <a:off x="11430000" y="651510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4D6D68"/>
                </a:solidFill>
                <a:latin typeface="Arial"/>
                <a:ea typeface="Arial"/>
                <a:cs typeface="Arial"/>
              </a:defRPr>
            </a:pPr>
            <a:r>
              <a:rPr sz="900" b="0">
                <a:solidFill>
                  <a:srgbClr val="4D6D68"/>
                </a:solidFill>
                <a:latin typeface="Arial"/>
                <a:ea typeface="Arial"/>
                <a:cs typeface="Arial"/>
              </a:rPr>
              <a:t>7</a:t>
            </a:r>
          </a:p>
        </p:txBody>
      </p:sp>
      <p:sp>
        <p:nvSpPr>
          <p:cNvPr id="6" name="">
            <a:extLst xmlns:a="http://schemas.openxmlformats.org/drawingml/2006/main">
              <a:ext uri="{FF2B5EF4-FFF2-40B4-BE49-F238E27FC236}">
                <a16:creationId xmlns:a16="http://schemas.microsoft.com/office/drawing/2014/main" id="{EC1DD246-1687-4DAE-887F-0465140AAF82}"/>
              </a:ext>
            </a:extLst>
          </p:cNvPr>
          <p:cNvSpPr>
            <a:spLocks xmlns:a="http://schemas.openxmlformats.org/drawingml/2006/main" noGrp="1"/>
          </p:cNvSpPr>
          <p:nvPr/>
        </p:nvSpPr>
        <p:spPr>
          <a:xfrm xmlns:a="http://schemas.openxmlformats.org/drawingml/2006/main">
            <a:off x="495300" y="128587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685F"/>
                </a:solidFill>
                <a:latin typeface="Arial"/>
                <a:ea typeface="Arial"/>
                <a:cs typeface="Arial"/>
              </a:defRPr>
            </a:pPr>
            <a:r>
              <a:rPr sz="1800" b="1">
                <a:solidFill>
                  <a:srgbClr val="17685F"/>
                </a:solidFill>
                <a:latin typeface="Arial"/>
                <a:ea typeface="Arial"/>
                <a:cs typeface="Arial"/>
              </a:rPr>
              <a:t>How a daytime solar kWh changes the bill</a:t>
            </a:r>
          </a:p>
        </p:txBody>
      </p:sp>
      <p:sp>
        <p:nvSpPr>
          <p:cNvPr id="7" name="">
            <a:extLst xmlns:a="http://schemas.openxmlformats.org/drawingml/2006/main">
              <a:ext uri="{FF2B5EF4-FFF2-40B4-BE49-F238E27FC236}">
                <a16:creationId xmlns:a16="http://schemas.microsoft.com/office/drawing/2014/main" id="{10299C6C-5E7B-49F9-9DEF-06518F69E29B}"/>
              </a:ext>
            </a:extLst>
          </p:cNvPr>
          <p:cNvSpPr>
            <a:spLocks xmlns:a="http://schemas.openxmlformats.org/drawingml/2006/main" noGrp="1"/>
          </p:cNvSpPr>
          <p:nvPr/>
        </p:nvSpPr>
        <p:spPr>
          <a:xfrm xmlns:a="http://schemas.openxmlformats.org/drawingml/2006/main">
            <a:off x="533400" y="21145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17685F"/>
                </a:solidFill>
                <a:latin typeface="Arial"/>
                <a:ea typeface="Arial"/>
                <a:cs typeface="Arial"/>
              </a:defRPr>
            </a:pPr>
            <a:r>
              <a:rPr sz="1575" b="1">
                <a:solidFill>
                  <a:srgbClr val="17685F"/>
                </a:solidFill>
                <a:latin typeface="Arial"/>
                <a:ea typeface="Arial"/>
                <a:cs typeface="Arial"/>
              </a:rPr>
              <a:t>Peak energy</a:t>
            </a:r>
          </a:p>
        </p:txBody>
      </p:sp>
      <p:sp>
        <p:nvSpPr>
          <p:cNvPr id="8" name="">
            <a:extLst xmlns:a="http://schemas.openxmlformats.org/drawingml/2006/main">
              <a:ext uri="{FF2B5EF4-FFF2-40B4-BE49-F238E27FC236}">
                <a16:creationId xmlns:a16="http://schemas.microsoft.com/office/drawing/2014/main" id="{336EFC40-F350-4ADC-B2A5-4DC30B49A360}"/>
              </a:ext>
            </a:extLst>
          </p:cNvPr>
          <p:cNvSpPr>
            <a:spLocks xmlns:a="http://schemas.openxmlformats.org/drawingml/2006/main" noGrp="1"/>
          </p:cNvSpPr>
          <p:nvPr/>
        </p:nvSpPr>
        <p:spPr>
          <a:xfrm xmlns:a="http://schemas.openxmlformats.org/drawingml/2006/main">
            <a:off x="2695575" y="1952625"/>
            <a:ext cx="6238875" cy="742950"/>
          </a:xfrm>
          <a:prstGeom xmlns:a="http://schemas.openxmlformats.org/drawingml/2006/main" prst="roundRect">
            <a:avLst>
              <a:gd name="adj" fmla="val 20513"/>
            </a:avLst>
          </a:prstGeom>
          <a:solidFill xmlns:a="http://schemas.openxmlformats.org/drawingml/2006/main">
            <a:srgbClr val="FFFFFF"/>
          </a:solidFill>
          <a:ln xmlns:a="http://schemas.openxmlformats.org/drawingml/2006/main" w="9525">
            <a:solidFill>
              <a:srgbClr val="8AB8B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E09B2731-E66A-4353-B22F-D77DC15B5FE9}"/>
              </a:ext>
            </a:extLst>
          </p:cNvPr>
          <p:cNvSpPr>
            <a:spLocks xmlns:a="http://schemas.openxmlformats.org/drawingml/2006/main" noGrp="1"/>
          </p:cNvSpPr>
          <p:nvPr/>
        </p:nvSpPr>
        <p:spPr>
          <a:xfrm xmlns:a="http://schemas.openxmlformats.org/drawingml/2006/main">
            <a:off x="2933700" y="209550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Usually avoided when solar serves the factory during weekday daytime hours</a:t>
            </a:r>
          </a:p>
        </p:txBody>
      </p:sp>
      <p:sp>
        <p:nvSpPr>
          <p:cNvPr id="10" name="">
            <a:extLst xmlns:a="http://schemas.openxmlformats.org/drawingml/2006/main">
              <a:ext uri="{FF2B5EF4-FFF2-40B4-BE49-F238E27FC236}">
                <a16:creationId xmlns:a16="http://schemas.microsoft.com/office/drawing/2014/main" id="{C7598321-385B-40E6-86E7-D049AB93A86A}"/>
              </a:ext>
            </a:extLst>
          </p:cNvPr>
          <p:cNvSpPr>
            <a:spLocks xmlns:a="http://schemas.openxmlformats.org/drawingml/2006/main" noGrp="1"/>
          </p:cNvSpPr>
          <p:nvPr/>
        </p:nvSpPr>
        <p:spPr>
          <a:xfrm xmlns:a="http://schemas.openxmlformats.org/drawingml/2006/main">
            <a:off x="9334500" y="2095500"/>
            <a:ext cx="1809750" cy="457200"/>
          </a:xfrm>
          <a:prstGeom xmlns:a="http://schemas.openxmlformats.org/drawingml/2006/main" prst="roundRect">
            <a:avLst>
              <a:gd name="adj" fmla="val 37500"/>
            </a:avLst>
          </a:prstGeom>
          <a:solidFill xmlns:a="http://schemas.openxmlformats.org/drawingml/2006/main">
            <a:srgbClr val="70AD52"/>
          </a:solidFill>
          <a:ln xmlns:a="http://schemas.openxmlformats.org/drawingml/2006/main" w="0">
            <a:solidFill>
              <a:srgbClr val="70AD52"/>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112C4C97-7599-4A9F-AB9B-A213680FA097}"/>
              </a:ext>
            </a:extLst>
          </p:cNvPr>
          <p:cNvSpPr>
            <a:spLocks xmlns:a="http://schemas.openxmlformats.org/drawingml/2006/main" noGrp="1"/>
          </p:cNvSpPr>
          <p:nvPr/>
        </p:nvSpPr>
        <p:spPr>
          <a:xfrm xmlns:a="http://schemas.openxmlformats.org/drawingml/2006/main">
            <a:off x="9477375" y="21717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Direct value</a:t>
            </a:r>
          </a:p>
        </p:txBody>
      </p:sp>
      <p:sp>
        <p:nvSpPr>
          <p:cNvPr id="12" name="">
            <a:extLst xmlns:a="http://schemas.openxmlformats.org/drawingml/2006/main">
              <a:ext uri="{FF2B5EF4-FFF2-40B4-BE49-F238E27FC236}">
                <a16:creationId xmlns:a16="http://schemas.microsoft.com/office/drawing/2014/main" id="{A94B7B39-4959-4953-B3ED-39F0427DBE51}"/>
              </a:ext>
            </a:extLst>
          </p:cNvPr>
          <p:cNvSpPr>
            <a:spLocks xmlns:a="http://schemas.openxmlformats.org/drawingml/2006/main" noGrp="1"/>
          </p:cNvSpPr>
          <p:nvPr/>
        </p:nvSpPr>
        <p:spPr>
          <a:xfrm xmlns:a="http://schemas.openxmlformats.org/drawingml/2006/main">
            <a:off x="533400" y="30670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17685F"/>
                </a:solidFill>
                <a:latin typeface="Arial"/>
                <a:ea typeface="Arial"/>
                <a:cs typeface="Arial"/>
              </a:defRPr>
            </a:pPr>
            <a:r>
              <a:rPr sz="1575" b="1">
                <a:solidFill>
                  <a:srgbClr val="17685F"/>
                </a:solidFill>
                <a:latin typeface="Arial"/>
                <a:ea typeface="Arial"/>
                <a:cs typeface="Arial"/>
              </a:rPr>
              <a:t>Ft adjustment</a:t>
            </a:r>
          </a:p>
        </p:txBody>
      </p:sp>
      <p:sp>
        <p:nvSpPr>
          <p:cNvPr id="13" name="">
            <a:extLst xmlns:a="http://schemas.openxmlformats.org/drawingml/2006/main">
              <a:ext uri="{FF2B5EF4-FFF2-40B4-BE49-F238E27FC236}">
                <a16:creationId xmlns:a16="http://schemas.microsoft.com/office/drawing/2014/main" id="{989814D6-A2AC-46C0-A667-BCF838DBC4B0}"/>
              </a:ext>
            </a:extLst>
          </p:cNvPr>
          <p:cNvSpPr>
            <a:spLocks xmlns:a="http://schemas.openxmlformats.org/drawingml/2006/main" noGrp="1"/>
          </p:cNvSpPr>
          <p:nvPr/>
        </p:nvSpPr>
        <p:spPr>
          <a:xfrm xmlns:a="http://schemas.openxmlformats.org/drawingml/2006/main">
            <a:off x="2695575" y="2905125"/>
            <a:ext cx="6238875" cy="742950"/>
          </a:xfrm>
          <a:prstGeom xmlns:a="http://schemas.openxmlformats.org/drawingml/2006/main" prst="roundRect">
            <a:avLst>
              <a:gd name="adj" fmla="val 20513"/>
            </a:avLst>
          </a:prstGeom>
          <a:solidFill xmlns:a="http://schemas.openxmlformats.org/drawingml/2006/main">
            <a:srgbClr val="FFFFFF"/>
          </a:solidFill>
          <a:ln xmlns:a="http://schemas.openxmlformats.org/drawingml/2006/main" w="9525">
            <a:solidFill>
              <a:srgbClr val="8AB8B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828FD480-B49B-454F-A255-1154C21C7EDA}"/>
              </a:ext>
            </a:extLst>
          </p:cNvPr>
          <p:cNvSpPr>
            <a:spLocks xmlns:a="http://schemas.openxmlformats.org/drawingml/2006/main" noGrp="1"/>
          </p:cNvSpPr>
          <p:nvPr/>
        </p:nvSpPr>
        <p:spPr>
          <a:xfrm xmlns:a="http://schemas.openxmlformats.org/drawingml/2006/main">
            <a:off x="2933700" y="304800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Avoided on every grid kWh displaced by solar</a:t>
            </a:r>
          </a:p>
        </p:txBody>
      </p:sp>
      <p:sp>
        <p:nvSpPr>
          <p:cNvPr id="15" name="">
            <a:extLst xmlns:a="http://schemas.openxmlformats.org/drawingml/2006/main">
              <a:ext uri="{FF2B5EF4-FFF2-40B4-BE49-F238E27FC236}">
                <a16:creationId xmlns:a16="http://schemas.microsoft.com/office/drawing/2014/main" id="{19F585C3-D836-443A-9507-B736B74EC671}"/>
              </a:ext>
            </a:extLst>
          </p:cNvPr>
          <p:cNvSpPr>
            <a:spLocks xmlns:a="http://schemas.openxmlformats.org/drawingml/2006/main" noGrp="1"/>
          </p:cNvSpPr>
          <p:nvPr/>
        </p:nvSpPr>
        <p:spPr>
          <a:xfrm xmlns:a="http://schemas.openxmlformats.org/drawingml/2006/main">
            <a:off x="9334500" y="3048000"/>
            <a:ext cx="1809750" cy="457200"/>
          </a:xfrm>
          <a:prstGeom xmlns:a="http://schemas.openxmlformats.org/drawingml/2006/main" prst="roundRect">
            <a:avLst>
              <a:gd name="adj" fmla="val 37500"/>
            </a:avLst>
          </a:prstGeom>
          <a:solidFill xmlns:a="http://schemas.openxmlformats.org/drawingml/2006/main">
            <a:srgbClr val="70AD52"/>
          </a:solidFill>
          <a:ln xmlns:a="http://schemas.openxmlformats.org/drawingml/2006/main" w="0">
            <a:solidFill>
              <a:srgbClr val="70AD52"/>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6E537F53-F9C1-4C55-8E80-351ACAAC7541}"/>
              </a:ext>
            </a:extLst>
          </p:cNvPr>
          <p:cNvSpPr>
            <a:spLocks xmlns:a="http://schemas.openxmlformats.org/drawingml/2006/main" noGrp="1"/>
          </p:cNvSpPr>
          <p:nvPr/>
        </p:nvSpPr>
        <p:spPr>
          <a:xfrm xmlns:a="http://schemas.openxmlformats.org/drawingml/2006/main">
            <a:off x="9477375" y="31242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Direct value</a:t>
            </a:r>
          </a:p>
        </p:txBody>
      </p:sp>
      <p:sp>
        <p:nvSpPr>
          <p:cNvPr id="17" name="">
            <a:extLst xmlns:a="http://schemas.openxmlformats.org/drawingml/2006/main">
              <a:ext uri="{FF2B5EF4-FFF2-40B4-BE49-F238E27FC236}">
                <a16:creationId xmlns:a16="http://schemas.microsoft.com/office/drawing/2014/main" id="{5F08C923-4F32-4BC6-A5EB-4EA8276A5DFE}"/>
              </a:ext>
            </a:extLst>
          </p:cNvPr>
          <p:cNvSpPr>
            <a:spLocks xmlns:a="http://schemas.openxmlformats.org/drawingml/2006/main" noGrp="1"/>
          </p:cNvSpPr>
          <p:nvPr/>
        </p:nvSpPr>
        <p:spPr>
          <a:xfrm xmlns:a="http://schemas.openxmlformats.org/drawingml/2006/main">
            <a:off x="533400" y="40195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17685F"/>
                </a:solidFill>
                <a:latin typeface="Arial"/>
                <a:ea typeface="Arial"/>
                <a:cs typeface="Arial"/>
              </a:defRPr>
            </a:pPr>
            <a:r>
              <a:rPr sz="1575" b="1">
                <a:solidFill>
                  <a:srgbClr val="17685F"/>
                </a:solidFill>
                <a:latin typeface="Arial"/>
                <a:ea typeface="Arial"/>
                <a:cs typeface="Arial"/>
              </a:rPr>
              <a:t>Demand</a:t>
            </a:r>
          </a:p>
        </p:txBody>
      </p:sp>
      <p:sp>
        <p:nvSpPr>
          <p:cNvPr id="18" name="">
            <a:extLst xmlns:a="http://schemas.openxmlformats.org/drawingml/2006/main">
              <a:ext uri="{FF2B5EF4-FFF2-40B4-BE49-F238E27FC236}">
                <a16:creationId xmlns:a16="http://schemas.microsoft.com/office/drawing/2014/main" id="{318C0FD1-36A5-4506-8A00-28346A63FA41}"/>
              </a:ext>
            </a:extLst>
          </p:cNvPr>
          <p:cNvSpPr>
            <a:spLocks xmlns:a="http://schemas.openxmlformats.org/drawingml/2006/main" noGrp="1"/>
          </p:cNvSpPr>
          <p:nvPr/>
        </p:nvSpPr>
        <p:spPr>
          <a:xfrm xmlns:a="http://schemas.openxmlformats.org/drawingml/2006/main">
            <a:off x="2695575" y="3857625"/>
            <a:ext cx="6238875" cy="742950"/>
          </a:xfrm>
          <a:prstGeom xmlns:a="http://schemas.openxmlformats.org/drawingml/2006/main" prst="roundRect">
            <a:avLst>
              <a:gd name="adj" fmla="val 20513"/>
            </a:avLst>
          </a:prstGeom>
          <a:solidFill xmlns:a="http://schemas.openxmlformats.org/drawingml/2006/main">
            <a:srgbClr val="FFFFFF"/>
          </a:solidFill>
          <a:ln xmlns:a="http://schemas.openxmlformats.org/drawingml/2006/main" w="9525">
            <a:solidFill>
              <a:srgbClr val="8AB8B0"/>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B50398CB-3BB9-42E9-A4B7-281269DBC224}"/>
              </a:ext>
            </a:extLst>
          </p:cNvPr>
          <p:cNvSpPr>
            <a:spLocks xmlns:a="http://schemas.openxmlformats.org/drawingml/2006/main" noGrp="1"/>
          </p:cNvSpPr>
          <p:nvPr/>
        </p:nvSpPr>
        <p:spPr>
          <a:xfrm xmlns:a="http://schemas.openxmlformats.org/drawingml/2006/main">
            <a:off x="2933700" y="400050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Avoided only when solar lowers the single monthly on-peak maximum</a:t>
            </a:r>
          </a:p>
        </p:txBody>
      </p:sp>
      <p:sp>
        <p:nvSpPr>
          <p:cNvPr id="20" name="">
            <a:extLst xmlns:a="http://schemas.openxmlformats.org/drawingml/2006/main">
              <a:ext uri="{FF2B5EF4-FFF2-40B4-BE49-F238E27FC236}">
                <a16:creationId xmlns:a16="http://schemas.microsoft.com/office/drawing/2014/main" id="{632D1AA2-FD00-4ACE-91EB-CE5D3CF52F7E}"/>
              </a:ext>
            </a:extLst>
          </p:cNvPr>
          <p:cNvSpPr>
            <a:spLocks xmlns:a="http://schemas.openxmlformats.org/drawingml/2006/main" noGrp="1"/>
          </p:cNvSpPr>
          <p:nvPr/>
        </p:nvSpPr>
        <p:spPr>
          <a:xfrm xmlns:a="http://schemas.openxmlformats.org/drawingml/2006/main">
            <a:off x="9334500" y="4000500"/>
            <a:ext cx="1809750" cy="457200"/>
          </a:xfrm>
          <a:prstGeom xmlns:a="http://schemas.openxmlformats.org/drawingml/2006/main" prst="roundRect">
            <a:avLst>
              <a:gd name="adj" fmla="val 37500"/>
            </a:avLst>
          </a:prstGeom>
          <a:solidFill xmlns:a="http://schemas.openxmlformats.org/drawingml/2006/main">
            <a:srgbClr val="F7D98B"/>
          </a:solidFill>
          <a:ln xmlns:a="http://schemas.openxmlformats.org/drawingml/2006/main" w="0">
            <a:solidFill>
              <a:srgbClr val="F7D98B"/>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64464C90-CD99-4D9F-BA3C-7F080BAF1FC9}"/>
              </a:ext>
            </a:extLst>
          </p:cNvPr>
          <p:cNvSpPr>
            <a:spLocks xmlns:a="http://schemas.openxmlformats.org/drawingml/2006/main" noGrp="1"/>
          </p:cNvSpPr>
          <p:nvPr/>
        </p:nvSpPr>
        <p:spPr>
          <a:xfrm xmlns:a="http://schemas.openxmlformats.org/drawingml/2006/main">
            <a:off x="9477375" y="40767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a:solidFill>
                  <a:srgbClr val="143B37"/>
                </a:solidFill>
                <a:latin typeface="Arial"/>
                <a:ea typeface="Arial"/>
                <a:cs typeface="Arial"/>
              </a:defRPr>
            </a:pPr>
            <a:r>
              <a:rPr sz="1350" b="1">
                <a:solidFill>
                  <a:srgbClr val="143B37"/>
                </a:solidFill>
                <a:latin typeface="Arial"/>
                <a:ea typeface="Arial"/>
                <a:cs typeface="Arial"/>
              </a:rPr>
              <a:t>Conditional</a:t>
            </a:r>
          </a:p>
        </p:txBody>
      </p:sp>
      <p:sp>
        <p:nvSpPr>
          <p:cNvPr id="22" name="">
            <a:extLst xmlns:a="http://schemas.openxmlformats.org/drawingml/2006/main">
              <a:ext uri="{FF2B5EF4-FFF2-40B4-BE49-F238E27FC236}">
                <a16:creationId xmlns:a16="http://schemas.microsoft.com/office/drawing/2014/main" id="{72EE5B59-BF30-482C-87FC-EB39D34C68AB}"/>
              </a:ext>
            </a:extLst>
          </p:cNvPr>
          <p:cNvSpPr>
            <a:spLocks xmlns:a="http://schemas.openxmlformats.org/drawingml/2006/main" noGrp="1"/>
          </p:cNvSpPr>
          <p:nvPr/>
        </p:nvSpPr>
        <p:spPr>
          <a:xfrm xmlns:a="http://schemas.openxmlformats.org/drawingml/2006/main">
            <a:off x="533400" y="49720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17685F"/>
                </a:solidFill>
                <a:latin typeface="Arial"/>
                <a:ea typeface="Arial"/>
                <a:cs typeface="Arial"/>
              </a:defRPr>
            </a:pPr>
            <a:r>
              <a:rPr sz="1575" b="1">
                <a:solidFill>
                  <a:srgbClr val="17685F"/>
                </a:solidFill>
                <a:latin typeface="Arial"/>
                <a:ea typeface="Arial"/>
                <a:cs typeface="Arial"/>
              </a:rPr>
              <a:t>Service charge</a:t>
            </a:r>
          </a:p>
        </p:txBody>
      </p:sp>
      <p:sp>
        <p:nvSpPr>
          <p:cNvPr id="23" name="">
            <a:extLst xmlns:a="http://schemas.openxmlformats.org/drawingml/2006/main">
              <a:ext uri="{FF2B5EF4-FFF2-40B4-BE49-F238E27FC236}">
                <a16:creationId xmlns:a16="http://schemas.microsoft.com/office/drawing/2014/main" id="{1EF4B537-DFD6-4114-B311-EE594BA93D73}"/>
              </a:ext>
            </a:extLst>
          </p:cNvPr>
          <p:cNvSpPr>
            <a:spLocks xmlns:a="http://schemas.openxmlformats.org/drawingml/2006/main" noGrp="1"/>
          </p:cNvSpPr>
          <p:nvPr/>
        </p:nvSpPr>
        <p:spPr>
          <a:xfrm xmlns:a="http://schemas.openxmlformats.org/drawingml/2006/main">
            <a:off x="2695575" y="4810125"/>
            <a:ext cx="6238875" cy="742950"/>
          </a:xfrm>
          <a:prstGeom xmlns:a="http://schemas.openxmlformats.org/drawingml/2006/main" prst="roundRect">
            <a:avLst>
              <a:gd name="adj" fmla="val 20513"/>
            </a:avLst>
          </a:prstGeom>
          <a:solidFill xmlns:a="http://schemas.openxmlformats.org/drawingml/2006/main">
            <a:srgbClr val="FFFFFF"/>
          </a:solidFill>
          <a:ln xmlns:a="http://schemas.openxmlformats.org/drawingml/2006/main" w="9525">
            <a:solidFill>
              <a:srgbClr val="8AB8B0"/>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A744B40F-C447-43C0-AD90-7B91C7D14EE3}"/>
              </a:ext>
            </a:extLst>
          </p:cNvPr>
          <p:cNvSpPr>
            <a:spLocks xmlns:a="http://schemas.openxmlformats.org/drawingml/2006/main" noGrp="1"/>
          </p:cNvSpPr>
          <p:nvPr/>
        </p:nvSpPr>
        <p:spPr>
          <a:xfrm xmlns:a="http://schemas.openxmlformats.org/drawingml/2006/main">
            <a:off x="2933700" y="495300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Remains on the bill while the grid connection stays active</a:t>
            </a:r>
          </a:p>
        </p:txBody>
      </p:sp>
      <p:sp>
        <p:nvSpPr>
          <p:cNvPr id="25" name="">
            <a:extLst xmlns:a="http://schemas.openxmlformats.org/drawingml/2006/main">
              <a:ext uri="{FF2B5EF4-FFF2-40B4-BE49-F238E27FC236}">
                <a16:creationId xmlns:a16="http://schemas.microsoft.com/office/drawing/2014/main" id="{FB52AB55-A3E7-41EA-BFDD-5916E28375DF}"/>
              </a:ext>
            </a:extLst>
          </p:cNvPr>
          <p:cNvSpPr>
            <a:spLocks xmlns:a="http://schemas.openxmlformats.org/drawingml/2006/main" noGrp="1"/>
          </p:cNvSpPr>
          <p:nvPr/>
        </p:nvSpPr>
        <p:spPr>
          <a:xfrm xmlns:a="http://schemas.openxmlformats.org/drawingml/2006/main">
            <a:off x="9334500" y="4953000"/>
            <a:ext cx="1809750" cy="457200"/>
          </a:xfrm>
          <a:prstGeom xmlns:a="http://schemas.openxmlformats.org/drawingml/2006/main" prst="roundRect">
            <a:avLst>
              <a:gd name="adj" fmla="val 37500"/>
            </a:avLst>
          </a:prstGeom>
          <a:solidFill xmlns:a="http://schemas.openxmlformats.org/drawingml/2006/main">
            <a:srgbClr val="E5E9E8"/>
          </a:solidFill>
          <a:ln xmlns:a="http://schemas.openxmlformats.org/drawingml/2006/main" w="0">
            <a:solidFill>
              <a:srgbClr val="E5E9E8"/>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631C9BE7-CA4B-4D0D-98F6-688A67C00C2F}"/>
              </a:ext>
            </a:extLst>
          </p:cNvPr>
          <p:cNvSpPr>
            <a:spLocks xmlns:a="http://schemas.openxmlformats.org/drawingml/2006/main" noGrp="1"/>
          </p:cNvSpPr>
          <p:nvPr/>
        </p:nvSpPr>
        <p:spPr>
          <a:xfrm xmlns:a="http://schemas.openxmlformats.org/drawingml/2006/main">
            <a:off x="9477375" y="50292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a:solidFill>
                  <a:srgbClr val="143B37"/>
                </a:solidFill>
                <a:latin typeface="Arial"/>
                <a:ea typeface="Arial"/>
                <a:cs typeface="Arial"/>
              </a:defRPr>
            </a:pPr>
            <a:r>
              <a:rPr sz="1350" b="1">
                <a:solidFill>
                  <a:srgbClr val="143B37"/>
                </a:solidFill>
                <a:latin typeface="Arial"/>
                <a:ea typeface="Arial"/>
                <a:cs typeface="Arial"/>
              </a:rPr>
              <a:t>No change</a:t>
            </a:r>
          </a:p>
        </p:txBody>
      </p:sp>
      <p:sp>
        <p:nvSpPr>
          <p:cNvPr id="27" name="">
            <a:extLst xmlns:a="http://schemas.openxmlformats.org/drawingml/2006/main">
              <a:ext uri="{FF2B5EF4-FFF2-40B4-BE49-F238E27FC236}">
                <a16:creationId xmlns:a16="http://schemas.microsoft.com/office/drawing/2014/main" id="{E6B56954-74D3-4BB9-BF52-238B9A7F1EF4}"/>
              </a:ext>
            </a:extLst>
          </p:cNvPr>
          <p:cNvSpPr>
            <a:spLocks xmlns:a="http://schemas.openxmlformats.org/drawingml/2006/main" noGrp="1"/>
          </p:cNvSpPr>
          <p:nvPr/>
        </p:nvSpPr>
        <p:spPr>
          <a:xfrm xmlns:a="http://schemas.openxmlformats.org/drawingml/2006/main">
            <a:off x="619125" y="58578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17685F"/>
                </a:solidFill>
                <a:latin typeface="Arial"/>
                <a:ea typeface="Arial"/>
                <a:cs typeface="Arial"/>
              </a:defRPr>
            </a:pPr>
            <a:r>
              <a:rPr sz="1500" b="1">
                <a:solidFill>
                  <a:srgbClr val="17685F"/>
                </a:solidFill>
                <a:latin typeface="Arial"/>
                <a:ea typeface="Arial"/>
                <a:cs typeface="Arial"/>
              </a:rPr>
              <a:t>Surplus export has zero modeled value, so system sizing should prioritize self-consumption.</a:t>
            </a:r>
          </a:p>
        </p:txBody>
      </p:sp>
    </p:spTree>
    <p:extLst>
      <p:ext uri="{BB962C8B-B14F-4D97-AF65-F5344CB8AC3E}">
        <p14:creationId xmlns:p14="http://schemas.microsoft.com/office/powerpoint/2010/main" val="781862807"/>
      </p:ext>
    </p:extLst>
  </p:cSld>
</p:sld>
</file>

<file path=ppt/slides/slide8.xml><?xml version="1.0" encoding="utf-8"?>
<p:sld xmlns:p="http://schemas.openxmlformats.org/presentationml/2006/main">
  <p:cSld>
    <p:bg>
      <p:bgPr>
        <a:solidFill xmlns:a="http://schemas.openxmlformats.org/drawingml/2006/main">
          <a:srgbClr val="EAF5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F5DC9C2-C5C0-49E3-89C7-EDBB2FC62D1A}"/>
              </a:ext>
            </a:extLst>
          </p:cNvPr>
          <p:cNvSpPr>
            <a:spLocks xmlns:a="http://schemas.openxmlformats.org/drawingml/2006/main" noGrp="1"/>
          </p:cNvSpPr>
          <p:nvPr/>
        </p:nvSpPr>
        <p:spPr>
          <a:xfrm xmlns:a="http://schemas.openxmlformats.org/drawingml/2006/main">
            <a:off x="76200" y="76200"/>
            <a:ext cx="12039600" cy="914400"/>
          </a:xfrm>
          <a:prstGeom xmlns:a="http://schemas.openxmlformats.org/drawingml/2006/main" prst="roundRect">
            <a:avLst>
              <a:gd name="adj" fmla="val 22917"/>
            </a:avLst>
          </a:prstGeom>
          <a:solidFill xmlns:a="http://schemas.openxmlformats.org/drawingml/2006/main">
            <a:srgbClr val="24857B"/>
          </a:solidFill>
          <a:ln xmlns:a="http://schemas.openxmlformats.org/drawingml/2006/main" w="0">
            <a:solidFill>
              <a:srgbClr val="24857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A16DFC9-179E-47E8-8A65-0251608A0B5A}"/>
              </a:ext>
            </a:extLst>
          </p:cNvPr>
          <p:cNvSpPr>
            <a:spLocks xmlns:a="http://schemas.openxmlformats.org/drawingml/2006/main" noGrp="1"/>
          </p:cNvSpPr>
          <p:nvPr/>
        </p:nvSpPr>
        <p:spPr>
          <a:xfrm xmlns:a="http://schemas.openxmlformats.org/drawingml/2006/main">
            <a:off x="400050" y="2476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BESS now pays at the confirmed battery price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270bd7cc8e494db5"/>
          <a:stretch xmlns:a="http://schemas.openxmlformats.org/drawingml/2006/main"/>
        </p:blipFill>
        <p:spPr>
          <a:xfrm xmlns:a="http://schemas.openxmlformats.org/drawingml/2006/main">
            <a:off x="10096500" y="195629"/>
            <a:ext cx="1762125" cy="54219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B7A53F6-A879-41D4-83E8-B059E05472A6}"/>
              </a:ext>
            </a:extLst>
          </p:cNvPr>
          <p:cNvSpPr>
            <a:spLocks xmlns:a="http://schemas.openxmlformats.org/drawingml/2006/main" noGrp="1"/>
          </p:cNvSpPr>
          <p:nvPr/>
        </p:nvSpPr>
        <p:spPr>
          <a:xfrm xmlns:a="http://schemas.openxmlformats.org/drawingml/2006/main">
            <a:off x="400050" y="65151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4D6D68"/>
                </a:solidFill>
                <a:latin typeface="Arial"/>
                <a:ea typeface="Arial"/>
                <a:cs typeface="Arial"/>
              </a:defRPr>
            </a:pPr>
            <a:r>
              <a:rPr sz="900" b="0">
                <a:solidFill>
                  <a:srgbClr val="4D6D68"/>
                </a:solidFill>
                <a:latin typeface="Arial"/>
                <a:ea typeface="Arial"/>
                <a:cs typeface="Arial"/>
              </a:rPr>
              <a:t>Internal briefing  |  September 2026</a:t>
            </a:r>
          </a:p>
        </p:txBody>
      </p:sp>
      <p:sp>
        <p:nvSpPr>
          <p:cNvPr id="5" name="">
            <a:extLst xmlns:a="http://schemas.openxmlformats.org/drawingml/2006/main">
              <a:ext uri="{FF2B5EF4-FFF2-40B4-BE49-F238E27FC236}">
                <a16:creationId xmlns:a16="http://schemas.microsoft.com/office/drawing/2014/main" id="{83C84758-7798-4FA3-B507-8328B3C55347}"/>
              </a:ext>
            </a:extLst>
          </p:cNvPr>
          <p:cNvSpPr>
            <a:spLocks xmlns:a="http://schemas.openxmlformats.org/drawingml/2006/main" noGrp="1"/>
          </p:cNvSpPr>
          <p:nvPr/>
        </p:nvSpPr>
        <p:spPr>
          <a:xfrm xmlns:a="http://schemas.openxmlformats.org/drawingml/2006/main">
            <a:off x="11430000" y="651510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4D6D68"/>
                </a:solidFill>
                <a:latin typeface="Arial"/>
                <a:ea typeface="Arial"/>
                <a:cs typeface="Arial"/>
              </a:defRPr>
            </a:pPr>
            <a:r>
              <a:rPr sz="900" b="0">
                <a:solidFill>
                  <a:srgbClr val="4D6D68"/>
                </a:solidFill>
                <a:latin typeface="Arial"/>
                <a:ea typeface="Arial"/>
                <a:cs typeface="Arial"/>
              </a:rPr>
              <a:t>8</a:t>
            </a:r>
          </a:p>
        </p:txBody>
      </p:sp>
      <p:sp>
        <p:nvSpPr>
          <p:cNvPr id="6" name="">
            <a:extLst xmlns:a="http://schemas.openxmlformats.org/drawingml/2006/main">
              <a:ext uri="{FF2B5EF4-FFF2-40B4-BE49-F238E27FC236}">
                <a16:creationId xmlns:a16="http://schemas.microsoft.com/office/drawing/2014/main" id="{44848860-8C4A-418F-B002-A3684A22DF2A}"/>
              </a:ext>
            </a:extLst>
          </p:cNvPr>
          <p:cNvSpPr>
            <a:spLocks xmlns:a="http://schemas.openxmlformats.org/drawingml/2006/main" noGrp="1"/>
          </p:cNvSpPr>
          <p:nvPr/>
        </p:nvSpPr>
        <p:spPr>
          <a:xfrm xmlns:a="http://schemas.openxmlformats.org/drawingml/2006/main">
            <a:off x="514350" y="13525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685F"/>
                </a:solidFill>
                <a:latin typeface="Arial"/>
                <a:ea typeface="Arial"/>
                <a:cs typeface="Arial"/>
              </a:defRPr>
            </a:pPr>
            <a:r>
              <a:rPr sz="1800" b="1">
                <a:solidFill>
                  <a:srgbClr val="17685F"/>
                </a:solidFill>
                <a:latin typeface="Arial"/>
                <a:ea typeface="Arial"/>
                <a:cs typeface="Arial"/>
              </a:rPr>
              <a:t>13-hour weekday peak window</a:t>
            </a:r>
          </a:p>
        </p:txBody>
      </p:sp>
      <p:sp>
        <p:nvSpPr>
          <p:cNvPr id="7" name="">
            <a:extLst xmlns:a="http://schemas.openxmlformats.org/drawingml/2006/main">
              <a:ext uri="{FF2B5EF4-FFF2-40B4-BE49-F238E27FC236}">
                <a16:creationId xmlns:a16="http://schemas.microsoft.com/office/drawing/2014/main" id="{5CBEA241-4420-4EBD-9BB8-A858C3F5C3D2}"/>
              </a:ext>
            </a:extLst>
          </p:cNvPr>
          <p:cNvSpPr>
            <a:spLocks xmlns:a="http://schemas.openxmlformats.org/drawingml/2006/main" noGrp="1"/>
          </p:cNvSpPr>
          <p:nvPr/>
        </p:nvSpPr>
        <p:spPr>
          <a:xfrm xmlns:a="http://schemas.openxmlformats.org/drawingml/2006/main">
            <a:off x="514350" y="1924050"/>
            <a:ext cx="6286500" cy="533400"/>
          </a:xfrm>
          <a:prstGeom xmlns:a="http://schemas.openxmlformats.org/drawingml/2006/main" prst="roundRect">
            <a:avLst>
              <a:gd name="adj" fmla="val 28571"/>
            </a:avLst>
          </a:prstGeom>
          <a:solidFill xmlns:a="http://schemas.openxmlformats.org/drawingml/2006/main">
            <a:srgbClr val="E98A55"/>
          </a:solidFill>
          <a:ln xmlns:a="http://schemas.openxmlformats.org/drawingml/2006/main" w="0">
            <a:solidFill>
              <a:srgbClr val="E98A55"/>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8CB198-5F99-497D-B676-9A8887192C7F}"/>
              </a:ext>
            </a:extLst>
          </p:cNvPr>
          <p:cNvSpPr>
            <a:spLocks xmlns:a="http://schemas.openxmlformats.org/drawingml/2006/main" noGrp="1"/>
          </p:cNvSpPr>
          <p:nvPr/>
        </p:nvSpPr>
        <p:spPr>
          <a:xfrm xmlns:a="http://schemas.openxmlformats.org/drawingml/2006/main">
            <a:off x="609600" y="2543175"/>
            <a:ext cx="76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4D6D68"/>
                </a:solidFill>
                <a:latin typeface="Arial"/>
                <a:ea typeface="Arial"/>
                <a:cs typeface="Arial"/>
              </a:defRPr>
            </a:pPr>
            <a:r>
              <a:rPr sz="1200" b="0">
                <a:solidFill>
                  <a:srgbClr val="4D6D68"/>
                </a:solidFill>
                <a:latin typeface="Arial"/>
                <a:ea typeface="Arial"/>
                <a:cs typeface="Arial"/>
              </a:rPr>
              <a:t>09:00</a:t>
            </a:r>
          </a:p>
        </p:txBody>
      </p:sp>
      <p:sp>
        <p:nvSpPr>
          <p:cNvPr id="9" name="">
            <a:extLst xmlns:a="http://schemas.openxmlformats.org/drawingml/2006/main">
              <a:ext uri="{FF2B5EF4-FFF2-40B4-BE49-F238E27FC236}">
                <a16:creationId xmlns:a16="http://schemas.microsoft.com/office/drawing/2014/main" id="{51AF07B1-DC3A-4C30-B2A3-8230B13D4A5C}"/>
              </a:ext>
            </a:extLst>
          </p:cNvPr>
          <p:cNvSpPr>
            <a:spLocks xmlns:a="http://schemas.openxmlformats.org/drawingml/2006/main" noGrp="1"/>
          </p:cNvSpPr>
          <p:nvPr/>
        </p:nvSpPr>
        <p:spPr>
          <a:xfrm xmlns:a="http://schemas.openxmlformats.org/drawingml/2006/main">
            <a:off x="6038850" y="2543175"/>
            <a:ext cx="76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D6D68"/>
                </a:solidFill>
                <a:latin typeface="Arial"/>
                <a:ea typeface="Arial"/>
                <a:cs typeface="Arial"/>
              </a:defRPr>
            </a:pPr>
            <a:r>
              <a:rPr sz="1200" b="0">
                <a:solidFill>
                  <a:srgbClr val="4D6D68"/>
                </a:solidFill>
                <a:latin typeface="Arial"/>
                <a:ea typeface="Arial"/>
                <a:cs typeface="Arial"/>
              </a:rPr>
              <a:t>22:00</a:t>
            </a:r>
          </a:p>
        </p:txBody>
      </p:sp>
      <p:sp>
        <p:nvSpPr>
          <p:cNvPr id="10" name="">
            <a:extLst xmlns:a="http://schemas.openxmlformats.org/drawingml/2006/main">
              <a:ext uri="{FF2B5EF4-FFF2-40B4-BE49-F238E27FC236}">
                <a16:creationId xmlns:a16="http://schemas.microsoft.com/office/drawing/2014/main" id="{AC8D0A93-7363-4209-B10F-C1D5A6ADADE7}"/>
              </a:ext>
            </a:extLst>
          </p:cNvPr>
          <p:cNvSpPr>
            <a:spLocks xmlns:a="http://schemas.openxmlformats.org/drawingml/2006/main" noGrp="1"/>
          </p:cNvSpPr>
          <p:nvPr/>
        </p:nvSpPr>
        <p:spPr>
          <a:xfrm xmlns:a="http://schemas.openxmlformats.org/drawingml/2006/main">
            <a:off x="514350" y="2990850"/>
            <a:ext cx="628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43B37"/>
                </a:solidFill>
                <a:latin typeface="Arial"/>
                <a:ea typeface="Arial"/>
                <a:cs typeface="Arial"/>
              </a:defRPr>
            </a:pPr>
            <a:r>
              <a:rPr sz="1575" b="0">
                <a:solidFill>
                  <a:srgbClr val="143B37"/>
                </a:solidFill>
                <a:latin typeface="Arial"/>
                <a:ea typeface="Arial"/>
                <a:cs typeface="Arial"/>
              </a:rPr>
              <a:t>A battery must shift substantial energy across a long period. At 675 USD/kW that did not pay; at the confirmed 325 USD/kW it does.</a:t>
            </a:r>
          </a:p>
        </p:txBody>
      </p:sp>
      <p:sp>
        <p:nvSpPr>
          <p:cNvPr id="11" name="">
            <a:extLst xmlns:a="http://schemas.openxmlformats.org/drawingml/2006/main">
              <a:ext uri="{FF2B5EF4-FFF2-40B4-BE49-F238E27FC236}">
                <a16:creationId xmlns:a16="http://schemas.microsoft.com/office/drawing/2014/main" id="{F76EF43A-937D-4AA2-9FB0-EBC58623A34A}"/>
              </a:ext>
            </a:extLst>
          </p:cNvPr>
          <p:cNvSpPr>
            <a:spLocks xmlns:a="http://schemas.openxmlformats.org/drawingml/2006/main" noGrp="1"/>
          </p:cNvSpPr>
          <p:nvPr/>
        </p:nvSpPr>
        <p:spPr>
          <a:xfrm xmlns:a="http://schemas.openxmlformats.org/drawingml/2006/main">
            <a:off x="7448550" y="1381125"/>
            <a:ext cx="4000500" cy="2209800"/>
          </a:xfrm>
          <a:prstGeom xmlns:a="http://schemas.openxmlformats.org/drawingml/2006/main" prst="roundRect">
            <a:avLst>
              <a:gd name="adj" fmla="val 9483"/>
            </a:avLst>
          </a:prstGeom>
          <a:solidFill xmlns:a="http://schemas.openxmlformats.org/drawingml/2006/main">
            <a:srgbClr val="FFFFFF"/>
          </a:solidFill>
          <a:ln xmlns:a="http://schemas.openxmlformats.org/drawingml/2006/main" w="9525">
            <a:solidFill>
              <a:srgbClr val="8AB8B0"/>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E80AF925-9265-4DD4-A032-1D9838841B26}"/>
              </a:ext>
            </a:extLst>
          </p:cNvPr>
          <p:cNvSpPr>
            <a:spLocks xmlns:a="http://schemas.openxmlformats.org/drawingml/2006/main" noGrp="1"/>
          </p:cNvSpPr>
          <p:nvPr/>
        </p:nvSpPr>
        <p:spPr>
          <a:xfrm xmlns:a="http://schemas.openxmlformats.org/drawingml/2006/main">
            <a:off x="7734300" y="16383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17685F"/>
                </a:solidFill>
                <a:latin typeface="Arial"/>
                <a:ea typeface="Arial"/>
                <a:cs typeface="Arial"/>
              </a:defRPr>
            </a:pPr>
            <a:r>
              <a:rPr sz="1650" b="1">
                <a:solidFill>
                  <a:srgbClr val="17685F"/>
                </a:solidFill>
                <a:latin typeface="Arial"/>
                <a:ea typeface="Arial"/>
                <a:cs typeface="Arial"/>
              </a:rPr>
              <a:t>Re-solved 12 Sep 2026</a:t>
            </a:r>
          </a:p>
        </p:txBody>
      </p:sp>
      <p:sp>
        <p:nvSpPr>
          <p:cNvPr id="13" name="">
            <a:extLst xmlns:a="http://schemas.openxmlformats.org/drawingml/2006/main">
              <a:ext uri="{FF2B5EF4-FFF2-40B4-BE49-F238E27FC236}">
                <a16:creationId xmlns:a16="http://schemas.microsoft.com/office/drawing/2014/main" id="{D536DFCB-6361-42D3-B485-501A65A8E320}"/>
              </a:ext>
            </a:extLst>
          </p:cNvPr>
          <p:cNvSpPr>
            <a:spLocks xmlns:a="http://schemas.openxmlformats.org/drawingml/2006/main" noGrp="1"/>
          </p:cNvSpPr>
          <p:nvPr/>
        </p:nvSpPr>
        <p:spPr>
          <a:xfrm xmlns:a="http://schemas.openxmlformats.org/drawingml/2006/main">
            <a:off x="7734300" y="2095500"/>
            <a:ext cx="342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E98A55"/>
                </a:solidFill>
                <a:latin typeface="Arial"/>
                <a:ea typeface="Arial"/>
                <a:cs typeface="Arial"/>
              </a:defRPr>
            </a:pPr>
            <a:r>
              <a:rPr sz="3600" b="1">
                <a:solidFill>
                  <a:srgbClr val="E98A55"/>
                </a:solidFill>
                <a:latin typeface="Arial"/>
                <a:ea typeface="Arial"/>
                <a:cs typeface="Arial"/>
              </a:rPr>
              <a:t>+1.3 pp</a:t>
            </a:r>
          </a:p>
        </p:txBody>
      </p:sp>
      <p:sp>
        <p:nvSpPr>
          <p:cNvPr id="14" name="">
            <a:extLst xmlns:a="http://schemas.openxmlformats.org/drawingml/2006/main">
              <a:ext uri="{FF2B5EF4-FFF2-40B4-BE49-F238E27FC236}">
                <a16:creationId xmlns:a16="http://schemas.microsoft.com/office/drawing/2014/main" id="{A7A54A84-6B1A-45CB-8CC1-DABCA53460AF}"/>
              </a:ext>
            </a:extLst>
          </p:cNvPr>
          <p:cNvSpPr>
            <a:spLocks xmlns:a="http://schemas.openxmlformats.org/drawingml/2006/main" noGrp="1"/>
          </p:cNvSpPr>
          <p:nvPr/>
        </p:nvSpPr>
        <p:spPr>
          <a:xfrm xmlns:a="http://schemas.openxmlformats.org/drawingml/2006/main">
            <a:off x="7867650" y="29051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4D6D68"/>
                </a:solidFill>
                <a:latin typeface="Arial"/>
                <a:ea typeface="Arial"/>
                <a:cs typeface="Arial"/>
              </a:defRPr>
            </a:pPr>
            <a:r>
              <a:rPr sz="1350" b="0">
                <a:solidFill>
                  <a:srgbClr val="4D6D68"/>
                </a:solidFill>
                <a:latin typeface="Arial"/>
                <a:ea typeface="Arial"/>
                <a:cs typeface="Arial"/>
              </a:rPr>
              <a:t>incremental grid offset from adding BESS at identical PV</a:t>
            </a:r>
          </a:p>
        </p:txBody>
      </p:sp>
      <p:sp>
        <p:nvSpPr>
          <p:cNvPr id="15" name="">
            <a:extLst xmlns:a="http://schemas.openxmlformats.org/drawingml/2006/main">
              <a:ext uri="{FF2B5EF4-FFF2-40B4-BE49-F238E27FC236}">
                <a16:creationId xmlns:a16="http://schemas.microsoft.com/office/drawing/2014/main" id="{8D06CD7F-1ECD-44C3-8720-179BB6B4A615}"/>
              </a:ext>
            </a:extLst>
          </p:cNvPr>
          <p:cNvSpPr>
            <a:spLocks xmlns:a="http://schemas.openxmlformats.org/drawingml/2006/main" noGrp="1"/>
          </p:cNvSpPr>
          <p:nvPr/>
        </p:nvSpPr>
        <p:spPr>
          <a:xfrm xmlns:a="http://schemas.openxmlformats.org/drawingml/2006/main">
            <a:off x="523875" y="41719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7685F"/>
                </a:solidFill>
                <a:latin typeface="Arial"/>
                <a:ea typeface="Arial"/>
                <a:cs typeface="Arial"/>
              </a:defRPr>
            </a:pPr>
            <a:r>
              <a:rPr sz="1500" b="1">
                <a:solidFill>
                  <a:srgbClr val="17685F"/>
                </a:solidFill>
                <a:latin typeface="Arial"/>
                <a:ea typeface="Arial"/>
                <a:cs typeface="Arial"/>
              </a:rPr>
              <a:t>Conservative roof case</a:t>
            </a:r>
          </a:p>
        </p:txBody>
      </p:sp>
      <p:sp>
        <p:nvSpPr>
          <p:cNvPr id="16" name="">
            <a:extLst xmlns:a="http://schemas.openxmlformats.org/drawingml/2006/main">
              <a:ext uri="{FF2B5EF4-FFF2-40B4-BE49-F238E27FC236}">
                <a16:creationId xmlns:a16="http://schemas.microsoft.com/office/drawing/2014/main" id="{598BB7F0-D50C-486C-9214-A843F7B0DA60}"/>
              </a:ext>
            </a:extLst>
          </p:cNvPr>
          <p:cNvSpPr>
            <a:spLocks xmlns:a="http://schemas.openxmlformats.org/drawingml/2006/main" noGrp="1"/>
          </p:cNvSpPr>
          <p:nvPr/>
        </p:nvSpPr>
        <p:spPr>
          <a:xfrm xmlns:a="http://schemas.openxmlformats.org/drawingml/2006/main">
            <a:off x="523875" y="45720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43B37"/>
                </a:solidFill>
                <a:latin typeface="Arial"/>
                <a:ea typeface="Arial"/>
                <a:cs typeface="Arial"/>
              </a:defRPr>
            </a:pPr>
            <a:r>
              <a:rPr sz="1500" b="0">
                <a:solidFill>
                  <a:srgbClr val="143B37"/>
                </a:solidFill>
                <a:latin typeface="Arial"/>
                <a:ea typeface="Arial"/>
                <a:cs typeface="Arial"/>
              </a:rPr>
              <a:t>1,685 kWp PV</a:t>
            </a:r>
          </a:p>
        </p:txBody>
      </p:sp>
      <p:sp>
        <p:nvSpPr>
          <p:cNvPr id="17" name="">
            <a:extLst xmlns:a="http://schemas.openxmlformats.org/drawingml/2006/main">
              <a:ext uri="{FF2B5EF4-FFF2-40B4-BE49-F238E27FC236}">
                <a16:creationId xmlns:a16="http://schemas.microsoft.com/office/drawing/2014/main" id="{4D8EDCD1-66F1-4BE6-A250-A424719BAD5E}"/>
              </a:ext>
            </a:extLst>
          </p:cNvPr>
          <p:cNvSpPr>
            <a:spLocks xmlns:a="http://schemas.openxmlformats.org/drawingml/2006/main" noGrp="1"/>
          </p:cNvSpPr>
          <p:nvPr/>
        </p:nvSpPr>
        <p:spPr>
          <a:xfrm xmlns:a="http://schemas.openxmlformats.org/drawingml/2006/main">
            <a:off x="2857500" y="45720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43B37"/>
                </a:solidFill>
                <a:latin typeface="Arial"/>
                <a:ea typeface="Arial"/>
                <a:cs typeface="Arial"/>
              </a:defRPr>
            </a:pPr>
            <a:r>
              <a:rPr sz="1500" b="0">
                <a:solidFill>
                  <a:srgbClr val="143B37"/>
                </a:solidFill>
                <a:latin typeface="Arial"/>
                <a:ea typeface="Arial"/>
                <a:cs typeface="Arial"/>
              </a:rPr>
              <a:t>222 kW / 367 kWh BESS</a:t>
            </a:r>
          </a:p>
        </p:txBody>
      </p:sp>
      <p:sp>
        <p:nvSpPr>
          <p:cNvPr id="18" name="">
            <a:extLst xmlns:a="http://schemas.openxmlformats.org/drawingml/2006/main">
              <a:ext uri="{FF2B5EF4-FFF2-40B4-BE49-F238E27FC236}">
                <a16:creationId xmlns:a16="http://schemas.microsoft.com/office/drawing/2014/main" id="{CD93BB29-DAB1-4C8A-B729-4C0583813351}"/>
              </a:ext>
            </a:extLst>
          </p:cNvPr>
          <p:cNvSpPr>
            <a:spLocks xmlns:a="http://schemas.openxmlformats.org/drawingml/2006/main" noGrp="1"/>
          </p:cNvSpPr>
          <p:nvPr/>
        </p:nvSpPr>
        <p:spPr>
          <a:xfrm xmlns:a="http://schemas.openxmlformats.org/drawingml/2006/main">
            <a:off x="5524500" y="45720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7685F"/>
                </a:solidFill>
                <a:latin typeface="Arial"/>
                <a:ea typeface="Arial"/>
                <a:cs typeface="Arial"/>
              </a:defRPr>
            </a:pPr>
            <a:r>
              <a:rPr sz="1500" b="1">
                <a:solidFill>
                  <a:srgbClr val="17685F"/>
                </a:solidFill>
                <a:latin typeface="Arial"/>
                <a:ea typeface="Arial"/>
                <a:cs typeface="Arial"/>
              </a:rPr>
              <a:t>32.1% grid offset</a:t>
            </a:r>
          </a:p>
        </p:txBody>
      </p:sp>
      <p:sp>
        <p:nvSpPr>
          <p:cNvPr id="19" name="">
            <a:extLst xmlns:a="http://schemas.openxmlformats.org/drawingml/2006/main">
              <a:ext uri="{FF2B5EF4-FFF2-40B4-BE49-F238E27FC236}">
                <a16:creationId xmlns:a16="http://schemas.microsoft.com/office/drawing/2014/main" id="{3F7A8577-0148-4316-8188-40AB7D4E2D7D}"/>
              </a:ext>
            </a:extLst>
          </p:cNvPr>
          <p:cNvSpPr>
            <a:spLocks xmlns:a="http://schemas.openxmlformats.org/drawingml/2006/main" noGrp="1"/>
          </p:cNvSpPr>
          <p:nvPr/>
        </p:nvSpPr>
        <p:spPr>
          <a:xfrm xmlns:a="http://schemas.openxmlformats.org/drawingml/2006/main">
            <a:off x="523875" y="5048250"/>
            <a:ext cx="7000875" cy="0"/>
          </a:xfrm>
          <a:prstGeom xmlns:a="http://schemas.openxmlformats.org/drawingml/2006/main" prst="line">
            <a:avLst/>
          </a:prstGeom>
          <a:noFill xmlns:a="http://schemas.openxmlformats.org/drawingml/2006/main"/>
          <a:ln xmlns:a="http://schemas.openxmlformats.org/drawingml/2006/main" w="14288">
            <a:solidFill>
              <a:srgbClr val="8AB8B0"/>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F4B97358-2392-4B66-BADC-D28812E302C0}"/>
              </a:ext>
            </a:extLst>
          </p:cNvPr>
          <p:cNvSpPr>
            <a:spLocks xmlns:a="http://schemas.openxmlformats.org/drawingml/2006/main" noGrp="1"/>
          </p:cNvSpPr>
          <p:nvPr/>
        </p:nvSpPr>
        <p:spPr>
          <a:xfrm xmlns:a="http://schemas.openxmlformats.org/drawingml/2006/main">
            <a:off x="523875" y="52768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7685F"/>
                </a:solidFill>
                <a:latin typeface="Arial"/>
                <a:ea typeface="Arial"/>
                <a:cs typeface="Arial"/>
              </a:defRPr>
            </a:pPr>
            <a:r>
              <a:rPr sz="1500" b="1">
                <a:solidFill>
                  <a:srgbClr val="17685F"/>
                </a:solidFill>
                <a:latin typeface="Arial"/>
                <a:ea typeface="Arial"/>
                <a:cs typeface="Arial"/>
              </a:rPr>
              <a:t>Unconstrained roof case</a:t>
            </a:r>
          </a:p>
        </p:txBody>
      </p:sp>
      <p:sp>
        <p:nvSpPr>
          <p:cNvPr id="21" name="">
            <a:extLst xmlns:a="http://schemas.openxmlformats.org/drawingml/2006/main">
              <a:ext uri="{FF2B5EF4-FFF2-40B4-BE49-F238E27FC236}">
                <a16:creationId xmlns:a16="http://schemas.microsoft.com/office/drawing/2014/main" id="{EA2642E5-AADE-4E0A-B55C-7E08BA888A83}"/>
              </a:ext>
            </a:extLst>
          </p:cNvPr>
          <p:cNvSpPr>
            <a:spLocks xmlns:a="http://schemas.openxmlformats.org/drawingml/2006/main" noGrp="1"/>
          </p:cNvSpPr>
          <p:nvPr/>
        </p:nvSpPr>
        <p:spPr>
          <a:xfrm xmlns:a="http://schemas.openxmlformats.org/drawingml/2006/main">
            <a:off x="523875" y="56769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43B37"/>
                </a:solidFill>
                <a:latin typeface="Arial"/>
                <a:ea typeface="Arial"/>
                <a:cs typeface="Arial"/>
              </a:defRPr>
            </a:pPr>
            <a:r>
              <a:rPr sz="1500" b="0">
                <a:solidFill>
                  <a:srgbClr val="143B37"/>
                </a:solidFill>
                <a:latin typeface="Arial"/>
                <a:ea typeface="Arial"/>
                <a:cs typeface="Arial"/>
              </a:rPr>
              <a:t>2,847 kWp PV</a:t>
            </a:r>
          </a:p>
        </p:txBody>
      </p:sp>
      <p:sp>
        <p:nvSpPr>
          <p:cNvPr id="22" name="">
            <a:extLst xmlns:a="http://schemas.openxmlformats.org/drawingml/2006/main">
              <a:ext uri="{FF2B5EF4-FFF2-40B4-BE49-F238E27FC236}">
                <a16:creationId xmlns:a16="http://schemas.microsoft.com/office/drawing/2014/main" id="{FF133A5A-9D6C-4779-9DB5-AF9201BB28A6}"/>
              </a:ext>
            </a:extLst>
          </p:cNvPr>
          <p:cNvSpPr>
            <a:spLocks xmlns:a="http://schemas.openxmlformats.org/drawingml/2006/main" noGrp="1"/>
          </p:cNvSpPr>
          <p:nvPr/>
        </p:nvSpPr>
        <p:spPr>
          <a:xfrm xmlns:a="http://schemas.openxmlformats.org/drawingml/2006/main">
            <a:off x="2857500" y="56769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43B37"/>
                </a:solidFill>
                <a:latin typeface="Arial"/>
                <a:ea typeface="Arial"/>
                <a:cs typeface="Arial"/>
              </a:defRPr>
            </a:pPr>
            <a:r>
              <a:rPr sz="1500" b="0">
                <a:solidFill>
                  <a:srgbClr val="143B37"/>
                </a:solidFill>
                <a:latin typeface="Arial"/>
                <a:ea typeface="Arial"/>
                <a:cs typeface="Arial"/>
              </a:rPr>
              <a:t>507 kW / 1,881 kWh BESS</a:t>
            </a:r>
          </a:p>
        </p:txBody>
      </p:sp>
      <p:sp>
        <p:nvSpPr>
          <p:cNvPr id="23" name="">
            <a:extLst xmlns:a="http://schemas.openxmlformats.org/drawingml/2006/main">
              <a:ext uri="{FF2B5EF4-FFF2-40B4-BE49-F238E27FC236}">
                <a16:creationId xmlns:a16="http://schemas.microsoft.com/office/drawing/2014/main" id="{589854B8-4186-4238-B9EB-99C4A690B1D2}"/>
              </a:ext>
            </a:extLst>
          </p:cNvPr>
          <p:cNvSpPr>
            <a:spLocks xmlns:a="http://schemas.openxmlformats.org/drawingml/2006/main" noGrp="1"/>
          </p:cNvSpPr>
          <p:nvPr/>
        </p:nvSpPr>
        <p:spPr>
          <a:xfrm xmlns:a="http://schemas.openxmlformats.org/drawingml/2006/main">
            <a:off x="5524500" y="56769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7685F"/>
                </a:solidFill>
                <a:latin typeface="Arial"/>
                <a:ea typeface="Arial"/>
                <a:cs typeface="Arial"/>
              </a:defRPr>
            </a:pPr>
            <a:r>
              <a:rPr sz="1500" b="1">
                <a:solidFill>
                  <a:srgbClr val="17685F"/>
                </a:solidFill>
                <a:latin typeface="Arial"/>
                <a:ea typeface="Arial"/>
                <a:cs typeface="Arial"/>
              </a:rPr>
              <a:t>50.4% grid offset</a:t>
            </a:r>
          </a:p>
        </p:txBody>
      </p:sp>
      <p:sp>
        <p:nvSpPr>
          <p:cNvPr id="24" name="">
            <a:extLst xmlns:a="http://schemas.openxmlformats.org/drawingml/2006/main">
              <a:ext uri="{FF2B5EF4-FFF2-40B4-BE49-F238E27FC236}">
                <a16:creationId xmlns:a16="http://schemas.microsoft.com/office/drawing/2014/main" id="{45460925-85DC-4B4F-B3AC-2CC2887733E6}"/>
              </a:ext>
            </a:extLst>
          </p:cNvPr>
          <p:cNvSpPr>
            <a:spLocks xmlns:a="http://schemas.openxmlformats.org/drawingml/2006/main" noGrp="1"/>
          </p:cNvSpPr>
          <p:nvPr/>
        </p:nvSpPr>
        <p:spPr>
          <a:xfrm xmlns:a="http://schemas.openxmlformats.org/drawingml/2006/main">
            <a:off x="7905750" y="4191000"/>
            <a:ext cx="323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0">
                <a:solidFill>
                  <a:srgbClr val="143B37"/>
                </a:solidFill>
                <a:latin typeface="Arial"/>
                <a:ea typeface="Arial"/>
                <a:cs typeface="Arial"/>
              </a:defRPr>
            </a:pPr>
            <a:r>
              <a:rPr sz="1500" b="0">
                <a:solidFill>
                  <a:srgbClr val="143B37"/>
                </a:solidFill>
                <a:latin typeface="Arial"/>
                <a:ea typeface="Arial"/>
                <a:cs typeface="Arial"/>
              </a:rPr>
              <a:t>The model selects a battery in both cases, neither at a modelling limit, with the battery replaced in year 10 at 100% of install cost. The conclusion has held at three price points.</a:t>
            </a:r>
          </a:p>
        </p:txBody>
      </p:sp>
    </p:spTree>
    <p:extLst>
      <p:ext uri="{BB962C8B-B14F-4D97-AF65-F5344CB8AC3E}">
        <p14:creationId xmlns:p14="http://schemas.microsoft.com/office/powerpoint/2010/main" val="711751212"/>
      </p:ext>
    </p:extLst>
  </p:cSld>
</p:sld>
</file>

<file path=ppt/slides/slide9.xml><?xml version="1.0" encoding="utf-8"?>
<p:sld xmlns:p="http://schemas.openxmlformats.org/presentationml/2006/main">
  <p:cSld>
    <p:bg>
      <p:bgPr>
        <a:solidFill xmlns:a="http://schemas.openxmlformats.org/drawingml/2006/main">
          <a:srgbClr val="EAF5F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67CAB73-F471-4C68-96C9-3234014E7F71}"/>
              </a:ext>
            </a:extLst>
          </p:cNvPr>
          <p:cNvSpPr>
            <a:spLocks xmlns:a="http://schemas.openxmlformats.org/drawingml/2006/main" noGrp="1"/>
          </p:cNvSpPr>
          <p:nvPr/>
        </p:nvSpPr>
        <p:spPr>
          <a:xfrm xmlns:a="http://schemas.openxmlformats.org/drawingml/2006/main">
            <a:off x="76200" y="76200"/>
            <a:ext cx="12039600" cy="914400"/>
          </a:xfrm>
          <a:prstGeom xmlns:a="http://schemas.openxmlformats.org/drawingml/2006/main" prst="roundRect">
            <a:avLst>
              <a:gd name="adj" fmla="val 22917"/>
            </a:avLst>
          </a:prstGeom>
          <a:solidFill xmlns:a="http://schemas.openxmlformats.org/drawingml/2006/main">
            <a:srgbClr val="24857B"/>
          </a:solidFill>
          <a:ln xmlns:a="http://schemas.openxmlformats.org/drawingml/2006/main" w="0">
            <a:solidFill>
              <a:srgbClr val="24857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98FCEAA-D79D-46E9-9787-9D18DC5669D2}"/>
              </a:ext>
            </a:extLst>
          </p:cNvPr>
          <p:cNvSpPr>
            <a:spLocks xmlns:a="http://schemas.openxmlformats.org/drawingml/2006/main" noGrp="1"/>
          </p:cNvSpPr>
          <p:nvPr/>
        </p:nvSpPr>
        <p:spPr>
          <a:xfrm xmlns:a="http://schemas.openxmlformats.org/drawingml/2006/main">
            <a:off x="400050" y="2476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Internal diligence items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64abe1a73fa469b"/>
          <a:stretch xmlns:a="http://schemas.openxmlformats.org/drawingml/2006/main"/>
        </p:blipFill>
        <p:spPr>
          <a:xfrm xmlns:a="http://schemas.openxmlformats.org/drawingml/2006/main">
            <a:off x="10096500" y="195629"/>
            <a:ext cx="1762125" cy="54219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7A28916-FE19-4DA1-8AF5-A5B76F04A70D}"/>
              </a:ext>
            </a:extLst>
          </p:cNvPr>
          <p:cNvSpPr>
            <a:spLocks xmlns:a="http://schemas.openxmlformats.org/drawingml/2006/main" noGrp="1"/>
          </p:cNvSpPr>
          <p:nvPr/>
        </p:nvSpPr>
        <p:spPr>
          <a:xfrm xmlns:a="http://schemas.openxmlformats.org/drawingml/2006/main">
            <a:off x="400050" y="65151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4D6D68"/>
                </a:solidFill>
                <a:latin typeface="Arial"/>
                <a:ea typeface="Arial"/>
                <a:cs typeface="Arial"/>
              </a:defRPr>
            </a:pPr>
            <a:r>
              <a:rPr sz="900" b="0">
                <a:solidFill>
                  <a:srgbClr val="4D6D68"/>
                </a:solidFill>
                <a:latin typeface="Arial"/>
                <a:ea typeface="Arial"/>
                <a:cs typeface="Arial"/>
              </a:rPr>
              <a:t>Internal briefing  |  September 2026</a:t>
            </a:r>
          </a:p>
        </p:txBody>
      </p:sp>
      <p:sp>
        <p:nvSpPr>
          <p:cNvPr id="5" name="">
            <a:extLst xmlns:a="http://schemas.openxmlformats.org/drawingml/2006/main">
              <a:ext uri="{FF2B5EF4-FFF2-40B4-BE49-F238E27FC236}">
                <a16:creationId xmlns:a16="http://schemas.microsoft.com/office/drawing/2014/main" id="{BB942B23-4978-418E-9587-498F9EC5EC54}"/>
              </a:ext>
            </a:extLst>
          </p:cNvPr>
          <p:cNvSpPr>
            <a:spLocks xmlns:a="http://schemas.openxmlformats.org/drawingml/2006/main" noGrp="1"/>
          </p:cNvSpPr>
          <p:nvPr/>
        </p:nvSpPr>
        <p:spPr>
          <a:xfrm xmlns:a="http://schemas.openxmlformats.org/drawingml/2006/main">
            <a:off x="11430000" y="651510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4D6D68"/>
                </a:solidFill>
                <a:latin typeface="Arial"/>
                <a:ea typeface="Arial"/>
                <a:cs typeface="Arial"/>
              </a:defRPr>
            </a:pPr>
            <a:r>
              <a:rPr sz="900" b="0">
                <a:solidFill>
                  <a:srgbClr val="4D6D68"/>
                </a:solidFill>
                <a:latin typeface="Arial"/>
                <a:ea typeface="Arial"/>
                <a:cs typeface="Arial"/>
              </a:rPr>
              <a:t>9</a:t>
            </a:r>
          </a:p>
        </p:txBody>
      </p:sp>
      <p:sp>
        <p:nvSpPr>
          <p:cNvPr id="6" name="">
            <a:extLst xmlns:a="http://schemas.openxmlformats.org/drawingml/2006/main">
              <a:ext uri="{FF2B5EF4-FFF2-40B4-BE49-F238E27FC236}">
                <a16:creationId xmlns:a16="http://schemas.microsoft.com/office/drawing/2014/main" id="{2724D6FF-6817-4E46-89CB-DB4B1FF7D8F4}"/>
              </a:ext>
            </a:extLst>
          </p:cNvPr>
          <p:cNvSpPr>
            <a:spLocks xmlns:a="http://schemas.openxmlformats.org/drawingml/2006/main" noGrp="1"/>
          </p:cNvSpPr>
          <p:nvPr/>
        </p:nvSpPr>
        <p:spPr>
          <a:xfrm xmlns:a="http://schemas.openxmlformats.org/drawingml/2006/main">
            <a:off x="523875" y="1314450"/>
            <a:ext cx="800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685F"/>
                </a:solidFill>
                <a:latin typeface="Arial"/>
                <a:ea typeface="Arial"/>
                <a:cs typeface="Arial"/>
              </a:defRPr>
            </a:pPr>
            <a:r>
              <a:rPr sz="2325" b="1">
                <a:solidFill>
                  <a:srgbClr val="17685F"/>
                </a:solidFill>
                <a:latin typeface="Arial"/>
                <a:ea typeface="Arial"/>
                <a:cs typeface="Arial"/>
              </a:rPr>
              <a:t>The roof is the immediate project constraint</a:t>
            </a:r>
          </a:p>
        </p:txBody>
      </p:sp>
      <p:sp>
        <p:nvSpPr>
          <p:cNvPr id="7" name="">
            <a:extLst xmlns:a="http://schemas.openxmlformats.org/drawingml/2006/main">
              <a:ext uri="{FF2B5EF4-FFF2-40B4-BE49-F238E27FC236}">
                <a16:creationId xmlns:a16="http://schemas.microsoft.com/office/drawing/2014/main" id="{C1701FB9-AFD5-4FDB-8562-ED09E494AA22}"/>
              </a:ext>
            </a:extLst>
          </p:cNvPr>
          <p:cNvSpPr>
            <a:spLocks xmlns:a="http://schemas.openxmlformats.org/drawingml/2006/main" noGrp="1"/>
          </p:cNvSpPr>
          <p:nvPr/>
        </p:nvSpPr>
        <p:spPr>
          <a:xfrm xmlns:a="http://schemas.openxmlformats.org/drawingml/2006/main">
            <a:off x="523875" y="1809750"/>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D6D68"/>
                </a:solidFill>
                <a:latin typeface="Arial"/>
                <a:ea typeface="Arial"/>
                <a:cs typeface="Arial"/>
              </a:defRPr>
            </a:pPr>
            <a:r>
              <a:rPr sz="1575" b="0">
                <a:solidFill>
                  <a:srgbClr val="4D6D68"/>
                </a:solidFill>
                <a:latin typeface="Arial"/>
                <a:ea typeface="Arial"/>
                <a:cs typeface="Arial"/>
              </a:rPr>
              <a:t>The latest site feedback indicates that some roof areas may require reinforcement before PV installation.</a:t>
            </a:r>
          </a:p>
        </p:txBody>
      </p:sp>
      <p:sp>
        <p:nvSpPr>
          <p:cNvPr id="8" name="">
            <a:extLst xmlns:a="http://schemas.openxmlformats.org/drawingml/2006/main">
              <a:ext uri="{FF2B5EF4-FFF2-40B4-BE49-F238E27FC236}">
                <a16:creationId xmlns:a16="http://schemas.microsoft.com/office/drawing/2014/main" id="{5CD24F3A-4E38-4791-B5CA-78EDC5E20F5B}"/>
              </a:ext>
            </a:extLst>
          </p:cNvPr>
          <p:cNvSpPr>
            <a:spLocks xmlns:a="http://schemas.openxmlformats.org/drawingml/2006/main" noGrp="1"/>
          </p:cNvSpPr>
          <p:nvPr/>
        </p:nvSpPr>
        <p:spPr>
          <a:xfrm xmlns:a="http://schemas.openxmlformats.org/drawingml/2006/main">
            <a:off x="609600" y="2781300"/>
            <a:ext cx="714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E98A55"/>
                </a:solidFill>
                <a:latin typeface="Arial"/>
                <a:ea typeface="Arial"/>
                <a:cs typeface="Arial"/>
              </a:defRPr>
            </a:pPr>
            <a:r>
              <a:rPr sz="2400" b="1">
                <a:solidFill>
                  <a:srgbClr val="E98A55"/>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6CF48DE8-42F2-49E5-9491-898F36F0681F}"/>
              </a:ext>
            </a:extLst>
          </p:cNvPr>
          <p:cNvSpPr>
            <a:spLocks xmlns:a="http://schemas.openxmlformats.org/drawingml/2006/main" noGrp="1"/>
          </p:cNvSpPr>
          <p:nvPr/>
        </p:nvSpPr>
        <p:spPr>
          <a:xfrm xmlns:a="http://schemas.openxmlformats.org/drawingml/2006/main">
            <a:off x="1447800" y="3057525"/>
            <a:ext cx="523875" cy="0"/>
          </a:xfrm>
          <a:prstGeom xmlns:a="http://schemas.openxmlformats.org/drawingml/2006/main" prst="line">
            <a:avLst/>
          </a:prstGeom>
          <a:noFill xmlns:a="http://schemas.openxmlformats.org/drawingml/2006/main"/>
          <a:ln xmlns:a="http://schemas.openxmlformats.org/drawingml/2006/main" w="38100">
            <a:solidFill>
              <a:srgbClr val="E98A55"/>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DBCB4B0-AFEC-44C0-A05C-D296FC9051DE}"/>
              </a:ext>
            </a:extLst>
          </p:cNvPr>
          <p:cNvSpPr>
            <a:spLocks xmlns:a="http://schemas.openxmlformats.org/drawingml/2006/main" noGrp="1"/>
          </p:cNvSpPr>
          <p:nvPr/>
        </p:nvSpPr>
        <p:spPr>
          <a:xfrm xmlns:a="http://schemas.openxmlformats.org/drawingml/2006/main">
            <a:off x="2190750" y="27051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685F"/>
                </a:solidFill>
                <a:latin typeface="Arial"/>
                <a:ea typeface="Arial"/>
                <a:cs typeface="Arial"/>
              </a:defRPr>
            </a:pPr>
            <a:r>
              <a:rPr sz="1650" b="1">
                <a:solidFill>
                  <a:srgbClr val="17685F"/>
                </a:solidFill>
                <a:latin typeface="Arial"/>
                <a:ea typeface="Arial"/>
                <a:cs typeface="Arial"/>
              </a:rPr>
              <a:t>Structural capacity</a:t>
            </a:r>
          </a:p>
        </p:txBody>
      </p:sp>
      <p:sp>
        <p:nvSpPr>
          <p:cNvPr id="11" name="">
            <a:extLst xmlns:a="http://schemas.openxmlformats.org/drawingml/2006/main">
              <a:ext uri="{FF2B5EF4-FFF2-40B4-BE49-F238E27FC236}">
                <a16:creationId xmlns:a16="http://schemas.microsoft.com/office/drawing/2014/main" id="{8B152A0F-4F4A-4779-8AF0-29F3A4FF0859}"/>
              </a:ext>
            </a:extLst>
          </p:cNvPr>
          <p:cNvSpPr>
            <a:spLocks xmlns:a="http://schemas.openxmlformats.org/drawingml/2006/main" noGrp="1"/>
          </p:cNvSpPr>
          <p:nvPr/>
        </p:nvSpPr>
        <p:spPr>
          <a:xfrm xmlns:a="http://schemas.openxmlformats.org/drawingml/2006/main">
            <a:off x="2190750" y="3067050"/>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Complete an on-site structural assessment and identify reinforcement needs by building.</a:t>
            </a:r>
          </a:p>
        </p:txBody>
      </p:sp>
      <p:sp>
        <p:nvSpPr>
          <p:cNvPr id="12" name="">
            <a:extLst xmlns:a="http://schemas.openxmlformats.org/drawingml/2006/main">
              <a:ext uri="{FF2B5EF4-FFF2-40B4-BE49-F238E27FC236}">
                <a16:creationId xmlns:a16="http://schemas.microsoft.com/office/drawing/2014/main" id="{35BE11AF-5FD4-4B51-B8AE-DF40F425A27C}"/>
              </a:ext>
            </a:extLst>
          </p:cNvPr>
          <p:cNvSpPr>
            <a:spLocks xmlns:a="http://schemas.openxmlformats.org/drawingml/2006/main" noGrp="1"/>
          </p:cNvSpPr>
          <p:nvPr/>
        </p:nvSpPr>
        <p:spPr>
          <a:xfrm xmlns:a="http://schemas.openxmlformats.org/drawingml/2006/main">
            <a:off x="609600" y="3790950"/>
            <a:ext cx="714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F7D98B"/>
                </a:solidFill>
                <a:latin typeface="Arial"/>
                <a:ea typeface="Arial"/>
                <a:cs typeface="Arial"/>
              </a:defRPr>
            </a:pPr>
            <a:r>
              <a:rPr sz="2400" b="1">
                <a:solidFill>
                  <a:srgbClr val="F7D98B"/>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34F0832B-E2A1-427D-94B0-F6D6465C46D3}"/>
              </a:ext>
            </a:extLst>
          </p:cNvPr>
          <p:cNvSpPr>
            <a:spLocks xmlns:a="http://schemas.openxmlformats.org/drawingml/2006/main" noGrp="1"/>
          </p:cNvSpPr>
          <p:nvPr/>
        </p:nvSpPr>
        <p:spPr>
          <a:xfrm xmlns:a="http://schemas.openxmlformats.org/drawingml/2006/main">
            <a:off x="1447800" y="4067175"/>
            <a:ext cx="523875" cy="0"/>
          </a:xfrm>
          <a:prstGeom xmlns:a="http://schemas.openxmlformats.org/drawingml/2006/main" prst="line">
            <a:avLst/>
          </a:prstGeom>
          <a:noFill xmlns:a="http://schemas.openxmlformats.org/drawingml/2006/main"/>
          <a:ln xmlns:a="http://schemas.openxmlformats.org/drawingml/2006/main" w="38100">
            <a:solidFill>
              <a:srgbClr val="F7D98B"/>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37946E3E-659F-4EBC-B733-D94E20A17D0C}"/>
              </a:ext>
            </a:extLst>
          </p:cNvPr>
          <p:cNvSpPr>
            <a:spLocks xmlns:a="http://schemas.openxmlformats.org/drawingml/2006/main" noGrp="1"/>
          </p:cNvSpPr>
          <p:nvPr/>
        </p:nvSpPr>
        <p:spPr>
          <a:xfrm xmlns:a="http://schemas.openxmlformats.org/drawingml/2006/main">
            <a:off x="2190750" y="371475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685F"/>
                </a:solidFill>
                <a:latin typeface="Arial"/>
                <a:ea typeface="Arial"/>
                <a:cs typeface="Arial"/>
              </a:defRPr>
            </a:pPr>
            <a:r>
              <a:rPr sz="1650" b="1">
                <a:solidFill>
                  <a:srgbClr val="17685F"/>
                </a:solidFill>
                <a:latin typeface="Arial"/>
                <a:ea typeface="Arial"/>
                <a:cs typeface="Arial"/>
              </a:rPr>
              <a:t>Power factor</a:t>
            </a:r>
          </a:p>
        </p:txBody>
      </p:sp>
      <p:sp>
        <p:nvSpPr>
          <p:cNvPr id="15" name="">
            <a:extLst xmlns:a="http://schemas.openxmlformats.org/drawingml/2006/main">
              <a:ext uri="{FF2B5EF4-FFF2-40B4-BE49-F238E27FC236}">
                <a16:creationId xmlns:a16="http://schemas.microsoft.com/office/drawing/2014/main" id="{293E4883-DEE8-4EC6-8AF2-42C908F08223}"/>
              </a:ext>
            </a:extLst>
          </p:cNvPr>
          <p:cNvSpPr>
            <a:spLocks xmlns:a="http://schemas.openxmlformats.org/drawingml/2006/main" noGrp="1"/>
          </p:cNvSpPr>
          <p:nvPr/>
        </p:nvSpPr>
        <p:spPr>
          <a:xfrm xmlns:a="http://schemas.openxmlformats.org/drawingml/2006/main">
            <a:off x="2190750" y="4076700"/>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Collect monthly maximum kVAR data and confirm whether any excess reactive-demand charge applies.</a:t>
            </a:r>
          </a:p>
        </p:txBody>
      </p:sp>
      <p:sp>
        <p:nvSpPr>
          <p:cNvPr id="16" name="">
            <a:extLst xmlns:a="http://schemas.openxmlformats.org/drawingml/2006/main">
              <a:ext uri="{FF2B5EF4-FFF2-40B4-BE49-F238E27FC236}">
                <a16:creationId xmlns:a16="http://schemas.microsoft.com/office/drawing/2014/main" id="{C8073DE1-E736-4585-A470-9E1570943388}"/>
              </a:ext>
            </a:extLst>
          </p:cNvPr>
          <p:cNvSpPr>
            <a:spLocks xmlns:a="http://schemas.openxmlformats.org/drawingml/2006/main" noGrp="1"/>
          </p:cNvSpPr>
          <p:nvPr/>
        </p:nvSpPr>
        <p:spPr>
          <a:xfrm xmlns:a="http://schemas.openxmlformats.org/drawingml/2006/main">
            <a:off x="609600" y="4800600"/>
            <a:ext cx="714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3F8E73"/>
                </a:solidFill>
                <a:latin typeface="Arial"/>
                <a:ea typeface="Arial"/>
                <a:cs typeface="Arial"/>
              </a:defRPr>
            </a:pPr>
            <a:r>
              <a:rPr sz="2400" b="1">
                <a:solidFill>
                  <a:srgbClr val="3F8E73"/>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87ED9954-7E3F-46A3-9A08-F9ED973F637F}"/>
              </a:ext>
            </a:extLst>
          </p:cNvPr>
          <p:cNvSpPr>
            <a:spLocks xmlns:a="http://schemas.openxmlformats.org/drawingml/2006/main" noGrp="1"/>
          </p:cNvSpPr>
          <p:nvPr/>
        </p:nvSpPr>
        <p:spPr>
          <a:xfrm xmlns:a="http://schemas.openxmlformats.org/drawingml/2006/main">
            <a:off x="1447800" y="5076825"/>
            <a:ext cx="523875" cy="0"/>
          </a:xfrm>
          <a:prstGeom xmlns:a="http://schemas.openxmlformats.org/drawingml/2006/main" prst="line">
            <a:avLst/>
          </a:prstGeom>
          <a:noFill xmlns:a="http://schemas.openxmlformats.org/drawingml/2006/main"/>
          <a:ln xmlns:a="http://schemas.openxmlformats.org/drawingml/2006/main" w="38100">
            <a:solidFill>
              <a:srgbClr val="3F8E73"/>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B1265959-FA8B-4B94-A2E4-2D534AF00E07}"/>
              </a:ext>
            </a:extLst>
          </p:cNvPr>
          <p:cNvSpPr>
            <a:spLocks xmlns:a="http://schemas.openxmlformats.org/drawingml/2006/main" noGrp="1"/>
          </p:cNvSpPr>
          <p:nvPr/>
        </p:nvSpPr>
        <p:spPr>
          <a:xfrm xmlns:a="http://schemas.openxmlformats.org/drawingml/2006/main">
            <a:off x="2190750" y="472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685F"/>
                </a:solidFill>
                <a:latin typeface="Arial"/>
                <a:ea typeface="Arial"/>
                <a:cs typeface="Arial"/>
              </a:defRPr>
            </a:pPr>
            <a:r>
              <a:rPr sz="1650" b="1">
                <a:solidFill>
                  <a:srgbClr val="17685F"/>
                </a:solidFill>
                <a:latin typeface="Arial"/>
                <a:ea typeface="Arial"/>
                <a:cs typeface="Arial"/>
              </a:rPr>
              <a:t>Export and Ft</a:t>
            </a:r>
          </a:p>
        </p:txBody>
      </p:sp>
      <p:sp>
        <p:nvSpPr>
          <p:cNvPr id="19" name="">
            <a:extLst xmlns:a="http://schemas.openxmlformats.org/drawingml/2006/main">
              <a:ext uri="{FF2B5EF4-FFF2-40B4-BE49-F238E27FC236}">
                <a16:creationId xmlns:a16="http://schemas.microsoft.com/office/drawing/2014/main" id="{2841DAC7-2CC7-419D-9129-28DB104A6408}"/>
              </a:ext>
            </a:extLst>
          </p:cNvPr>
          <p:cNvSpPr>
            <a:spLocks xmlns:a="http://schemas.openxmlformats.org/drawingml/2006/main" noGrp="1"/>
          </p:cNvSpPr>
          <p:nvPr/>
        </p:nvSpPr>
        <p:spPr>
          <a:xfrm xmlns:a="http://schemas.openxmlformats.org/drawingml/2006/main">
            <a:off x="2190750" y="5086350"/>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43B37"/>
                </a:solidFill>
                <a:latin typeface="Arial"/>
                <a:ea typeface="Arial"/>
                <a:cs typeface="Arial"/>
              </a:defRPr>
            </a:pPr>
            <a:r>
              <a:rPr sz="1350" b="0">
                <a:solidFill>
                  <a:srgbClr val="143B37"/>
                </a:solidFill>
                <a:latin typeface="Arial"/>
                <a:ea typeface="Arial"/>
                <a:cs typeface="Arial"/>
              </a:rPr>
              <a:t>Keep zero export value in sizing assumptions and retain the Ft period used in each bill comparison.</a:t>
            </a:r>
          </a:p>
        </p:txBody>
      </p:sp>
    </p:spTree>
    <p:extLst>
      <p:ext uri="{BB962C8B-B14F-4D97-AF65-F5344CB8AC3E}">
        <p14:creationId xmlns:p14="http://schemas.microsoft.com/office/powerpoint/2010/main" val="1776323545"/>
      </p:ext>
    </p:extLst>
  </p:cSld>
</p:sld>
</file>

<file path=ppt/slides/slide10.xml><?xml version="1.0" encoding="utf-8"?>
<p:sld xmlns:p="http://schemas.openxmlformats.org/presentationml/2006/main">
  <p:cSld>
    <p:bg>
      <p:bgPr>
        <a:solidFill xmlns:a="http://schemas.openxmlformats.org/drawingml/2006/main">
          <a:srgbClr val="EA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62DE15B-431E-4E62-A2A4-3105A778AFAC}"/>
              </a:ext>
            </a:extLst>
          </p:cNvPr>
          <p:cNvSpPr>
            <a:spLocks xmlns:a="http://schemas.openxmlformats.org/drawingml/2006/main" noGrp="1"/>
          </p:cNvSpPr>
          <p:nvPr/>
        </p:nvSpPr>
        <p:spPr>
          <a:xfrm xmlns:a="http://schemas.openxmlformats.org/drawingml/2006/main">
            <a:off x="76200" y="76200"/>
            <a:ext cx="12039600" cy="914400"/>
          </a:xfrm>
          <a:prstGeom xmlns:a="http://schemas.openxmlformats.org/drawingml/2006/main" prst="roundRect">
            <a:avLst>
              <a:gd name="adj" fmla="val 22917"/>
            </a:avLst>
          </a:prstGeom>
          <a:solidFill xmlns:a="http://schemas.openxmlformats.org/drawingml/2006/main">
            <a:srgbClr val="24857B"/>
          </a:solidFill>
          <a:ln xmlns:a="http://schemas.openxmlformats.org/drawingml/2006/main" w="0">
            <a:solidFill>
              <a:srgbClr val="24857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61C447E-C8A6-4E9F-A8DD-9D87D8B4CD1C}"/>
              </a:ext>
            </a:extLst>
          </p:cNvPr>
          <p:cNvSpPr>
            <a:spLocks xmlns:a="http://schemas.openxmlformats.org/drawingml/2006/main" noGrp="1"/>
          </p:cNvSpPr>
          <p:nvPr/>
        </p:nvSpPr>
        <p:spPr>
          <a:xfrm xmlns:a="http://schemas.openxmlformats.org/drawingml/2006/main">
            <a:off x="400050" y="2476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What KEEN should take away</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f4d35ddf19e4b35"/>
          <a:stretch xmlns:a="http://schemas.openxmlformats.org/drawingml/2006/main"/>
        </p:blipFill>
        <p:spPr>
          <a:xfrm xmlns:a="http://schemas.openxmlformats.org/drawingml/2006/main">
            <a:off x="10096500" y="195629"/>
            <a:ext cx="1762125" cy="54219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A10E168-7CD6-44FD-AF71-8A7D68B52837}"/>
              </a:ext>
            </a:extLst>
          </p:cNvPr>
          <p:cNvSpPr>
            <a:spLocks xmlns:a="http://schemas.openxmlformats.org/drawingml/2006/main" noGrp="1"/>
          </p:cNvSpPr>
          <p:nvPr/>
        </p:nvSpPr>
        <p:spPr>
          <a:xfrm xmlns:a="http://schemas.openxmlformats.org/drawingml/2006/main">
            <a:off x="400050" y="65151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4D6D68"/>
                </a:solidFill>
                <a:latin typeface="Arial"/>
                <a:ea typeface="Arial"/>
                <a:cs typeface="Arial"/>
              </a:defRPr>
            </a:pPr>
            <a:r>
              <a:rPr sz="900" b="0">
                <a:solidFill>
                  <a:srgbClr val="4D6D68"/>
                </a:solidFill>
                <a:latin typeface="Arial"/>
                <a:ea typeface="Arial"/>
                <a:cs typeface="Arial"/>
              </a:rPr>
              <a:t>Internal briefing  |  September 2026</a:t>
            </a:r>
          </a:p>
        </p:txBody>
      </p:sp>
      <p:sp>
        <p:nvSpPr>
          <p:cNvPr id="5" name="">
            <a:extLst xmlns:a="http://schemas.openxmlformats.org/drawingml/2006/main">
              <a:ext uri="{FF2B5EF4-FFF2-40B4-BE49-F238E27FC236}">
                <a16:creationId xmlns:a16="http://schemas.microsoft.com/office/drawing/2014/main" id="{EEE76CCE-60A7-482A-B278-B2739826E41F}"/>
              </a:ext>
            </a:extLst>
          </p:cNvPr>
          <p:cNvSpPr>
            <a:spLocks xmlns:a="http://schemas.openxmlformats.org/drawingml/2006/main" noGrp="1"/>
          </p:cNvSpPr>
          <p:nvPr/>
        </p:nvSpPr>
        <p:spPr>
          <a:xfrm xmlns:a="http://schemas.openxmlformats.org/drawingml/2006/main">
            <a:off x="11430000" y="651510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4D6D68"/>
                </a:solidFill>
                <a:latin typeface="Arial"/>
                <a:ea typeface="Arial"/>
                <a:cs typeface="Arial"/>
              </a:defRPr>
            </a:pPr>
            <a:r>
              <a:rPr sz="900" b="0">
                <a:solidFill>
                  <a:srgbClr val="4D6D68"/>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DBEA4558-3940-46C2-BB0D-72BEC232BBD2}"/>
              </a:ext>
            </a:extLst>
          </p:cNvPr>
          <p:cNvSpPr>
            <a:spLocks xmlns:a="http://schemas.openxmlformats.org/drawingml/2006/main" noGrp="1"/>
          </p:cNvSpPr>
          <p:nvPr/>
        </p:nvSpPr>
        <p:spPr>
          <a:xfrm xmlns:a="http://schemas.openxmlformats.org/drawingml/2006/main">
            <a:off x="571500" y="1381125"/>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50" b="1">
                <a:solidFill>
                  <a:srgbClr val="E98A55"/>
                </a:solidFill>
                <a:latin typeface="Arial"/>
                <a:ea typeface="Arial"/>
                <a:cs typeface="Arial"/>
              </a:defRPr>
            </a:pPr>
            <a:r>
              <a:rPr sz="3150" b="1">
                <a:solidFill>
                  <a:srgbClr val="E98A55"/>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10835F3F-345A-4555-91B8-CBFAB4C1B5EA}"/>
              </a:ext>
            </a:extLst>
          </p:cNvPr>
          <p:cNvSpPr>
            <a:spLocks xmlns:a="http://schemas.openxmlformats.org/drawingml/2006/main" noGrp="1"/>
          </p:cNvSpPr>
          <p:nvPr/>
        </p:nvSpPr>
        <p:spPr>
          <a:xfrm xmlns:a="http://schemas.openxmlformats.org/drawingml/2006/main">
            <a:off x="1524000" y="142875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685F"/>
                </a:solidFill>
                <a:latin typeface="Arial"/>
                <a:ea typeface="Arial"/>
                <a:cs typeface="Arial"/>
              </a:defRPr>
            </a:pPr>
            <a:r>
              <a:rPr sz="1875" b="1">
                <a:solidFill>
                  <a:srgbClr val="17685F"/>
                </a:solidFill>
                <a:latin typeface="Arial"/>
                <a:ea typeface="Arial"/>
                <a:cs typeface="Arial"/>
              </a:rPr>
              <a:t>The tariff is energy-heavy</a:t>
            </a:r>
          </a:p>
        </p:txBody>
      </p:sp>
      <p:sp>
        <p:nvSpPr>
          <p:cNvPr id="8" name="">
            <a:extLst xmlns:a="http://schemas.openxmlformats.org/drawingml/2006/main">
              <a:ext uri="{FF2B5EF4-FFF2-40B4-BE49-F238E27FC236}">
                <a16:creationId xmlns:a16="http://schemas.microsoft.com/office/drawing/2014/main" id="{11D82CF2-18BB-4C3A-91E3-A9FEB7AC323A}"/>
              </a:ext>
            </a:extLst>
          </p:cNvPr>
          <p:cNvSpPr>
            <a:spLocks xmlns:a="http://schemas.openxmlformats.org/drawingml/2006/main" noGrp="1"/>
          </p:cNvSpPr>
          <p:nvPr/>
        </p:nvSpPr>
        <p:spPr>
          <a:xfrm xmlns:a="http://schemas.openxmlformats.org/drawingml/2006/main">
            <a:off x="1524000" y="1847850"/>
            <a:ext cx="885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43B37"/>
                </a:solidFill>
                <a:latin typeface="Arial"/>
                <a:ea typeface="Arial"/>
                <a:cs typeface="Arial"/>
              </a:defRPr>
            </a:pPr>
            <a:r>
              <a:rPr sz="1500" b="0">
                <a:solidFill>
                  <a:srgbClr val="143B37"/>
                </a:solidFill>
                <a:latin typeface="Arial"/>
                <a:ea typeface="Arial"/>
                <a:cs typeface="Arial"/>
              </a:rPr>
              <a:t>Peak and off-peak energy made up 87% of the June 2025 pre-VAT bill.</a:t>
            </a:r>
          </a:p>
        </p:txBody>
      </p:sp>
      <p:sp>
        <p:nvSpPr>
          <p:cNvPr id="9" name="">
            <a:extLst xmlns:a="http://schemas.openxmlformats.org/drawingml/2006/main">
              <a:ext uri="{FF2B5EF4-FFF2-40B4-BE49-F238E27FC236}">
                <a16:creationId xmlns:a16="http://schemas.microsoft.com/office/drawing/2014/main" id="{86224657-3634-4B97-B390-2CE73EC885DB}"/>
              </a:ext>
            </a:extLst>
          </p:cNvPr>
          <p:cNvSpPr>
            <a:spLocks xmlns:a="http://schemas.openxmlformats.org/drawingml/2006/main" noGrp="1"/>
          </p:cNvSpPr>
          <p:nvPr/>
        </p:nvSpPr>
        <p:spPr>
          <a:xfrm xmlns:a="http://schemas.openxmlformats.org/drawingml/2006/main">
            <a:off x="1524000" y="2333625"/>
            <a:ext cx="9191625" cy="0"/>
          </a:xfrm>
          <a:prstGeom xmlns:a="http://schemas.openxmlformats.org/drawingml/2006/main" prst="line">
            <a:avLst/>
          </a:prstGeom>
          <a:noFill xmlns:a="http://schemas.openxmlformats.org/drawingml/2006/main"/>
          <a:ln xmlns:a="http://schemas.openxmlformats.org/drawingml/2006/main" w="14288">
            <a:solidFill>
              <a:srgbClr val="8AB8B0"/>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EFDD1F3-12D0-433E-AC90-9F603B93DEA9}"/>
              </a:ext>
            </a:extLst>
          </p:cNvPr>
          <p:cNvSpPr>
            <a:spLocks xmlns:a="http://schemas.openxmlformats.org/drawingml/2006/main" noGrp="1"/>
          </p:cNvSpPr>
          <p:nvPr/>
        </p:nvSpPr>
        <p:spPr>
          <a:xfrm xmlns:a="http://schemas.openxmlformats.org/drawingml/2006/main">
            <a:off x="571500" y="257175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50" b="1">
                <a:solidFill>
                  <a:srgbClr val="3F8E73"/>
                </a:solidFill>
                <a:latin typeface="Arial"/>
                <a:ea typeface="Arial"/>
                <a:cs typeface="Arial"/>
              </a:defRPr>
            </a:pPr>
            <a:r>
              <a:rPr sz="3150" b="1">
                <a:solidFill>
                  <a:srgbClr val="3F8E73"/>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8E80AAEE-07FB-480D-937D-4071A4144358}"/>
              </a:ext>
            </a:extLst>
          </p:cNvPr>
          <p:cNvSpPr>
            <a:spLocks xmlns:a="http://schemas.openxmlformats.org/drawingml/2006/main" noGrp="1"/>
          </p:cNvSpPr>
          <p:nvPr/>
        </p:nvSpPr>
        <p:spPr>
          <a:xfrm xmlns:a="http://schemas.openxmlformats.org/drawingml/2006/main">
            <a:off x="1524000" y="2619375"/>
            <a:ext cx="876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685F"/>
                </a:solidFill>
                <a:latin typeface="Arial"/>
                <a:ea typeface="Arial"/>
                <a:cs typeface="Arial"/>
              </a:defRPr>
            </a:pPr>
            <a:r>
              <a:rPr sz="1875" b="1">
                <a:solidFill>
                  <a:srgbClr val="17685F"/>
                </a:solidFill>
                <a:latin typeface="Arial"/>
                <a:ea typeface="Arial"/>
                <a:cs typeface="Arial"/>
              </a:rPr>
              <a:t>Solar value comes mainly from displaced daytime energy and Ft</a:t>
            </a:r>
          </a:p>
        </p:txBody>
      </p:sp>
      <p:sp>
        <p:nvSpPr>
          <p:cNvPr id="12" name="">
            <a:extLst xmlns:a="http://schemas.openxmlformats.org/drawingml/2006/main">
              <a:ext uri="{FF2B5EF4-FFF2-40B4-BE49-F238E27FC236}">
                <a16:creationId xmlns:a16="http://schemas.microsoft.com/office/drawing/2014/main" id="{0F8B1633-209D-4794-99FC-8CAEC0091B0A}"/>
              </a:ext>
            </a:extLst>
          </p:cNvPr>
          <p:cNvSpPr>
            <a:spLocks xmlns:a="http://schemas.openxmlformats.org/drawingml/2006/main" noGrp="1"/>
          </p:cNvSpPr>
          <p:nvPr/>
        </p:nvSpPr>
        <p:spPr>
          <a:xfrm xmlns:a="http://schemas.openxmlformats.org/drawingml/2006/main">
            <a:off x="1524000" y="3038475"/>
            <a:ext cx="885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43B37"/>
                </a:solidFill>
                <a:latin typeface="Arial"/>
                <a:ea typeface="Arial"/>
                <a:cs typeface="Arial"/>
              </a:defRPr>
            </a:pPr>
            <a:r>
              <a:rPr sz="1500" b="0">
                <a:solidFill>
                  <a:srgbClr val="143B37"/>
                </a:solidFill>
                <a:latin typeface="Arial"/>
                <a:ea typeface="Arial"/>
                <a:cs typeface="Arial"/>
              </a:rPr>
              <a:t>Demand savings depend on whether solar output lowers the monthly on-peak maximum.</a:t>
            </a:r>
          </a:p>
        </p:txBody>
      </p:sp>
      <p:sp>
        <p:nvSpPr>
          <p:cNvPr id="13" name="">
            <a:extLst xmlns:a="http://schemas.openxmlformats.org/drawingml/2006/main">
              <a:ext uri="{FF2B5EF4-FFF2-40B4-BE49-F238E27FC236}">
                <a16:creationId xmlns:a16="http://schemas.microsoft.com/office/drawing/2014/main" id="{C1649E9A-603C-44BF-A254-1562A594D8EA}"/>
              </a:ext>
            </a:extLst>
          </p:cNvPr>
          <p:cNvSpPr>
            <a:spLocks xmlns:a="http://schemas.openxmlformats.org/drawingml/2006/main" noGrp="1"/>
          </p:cNvSpPr>
          <p:nvPr/>
        </p:nvSpPr>
        <p:spPr>
          <a:xfrm xmlns:a="http://schemas.openxmlformats.org/drawingml/2006/main">
            <a:off x="1524000" y="3524250"/>
            <a:ext cx="9191625" cy="0"/>
          </a:xfrm>
          <a:prstGeom xmlns:a="http://schemas.openxmlformats.org/drawingml/2006/main" prst="line">
            <a:avLst/>
          </a:prstGeom>
          <a:noFill xmlns:a="http://schemas.openxmlformats.org/drawingml/2006/main"/>
          <a:ln xmlns:a="http://schemas.openxmlformats.org/drawingml/2006/main" w="14288">
            <a:solidFill>
              <a:srgbClr val="8AB8B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78843348-1F3E-4897-80B0-BF47F2258841}"/>
              </a:ext>
            </a:extLst>
          </p:cNvPr>
          <p:cNvSpPr>
            <a:spLocks xmlns:a="http://schemas.openxmlformats.org/drawingml/2006/main" noGrp="1"/>
          </p:cNvSpPr>
          <p:nvPr/>
        </p:nvSpPr>
        <p:spPr>
          <a:xfrm xmlns:a="http://schemas.openxmlformats.org/drawingml/2006/main">
            <a:off x="571500" y="3762375"/>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50" b="1">
                <a:solidFill>
                  <a:srgbClr val="D77C7F"/>
                </a:solidFill>
                <a:latin typeface="Arial"/>
                <a:ea typeface="Arial"/>
                <a:cs typeface="Arial"/>
              </a:defRPr>
            </a:pPr>
            <a:r>
              <a:rPr sz="3150" b="1">
                <a:solidFill>
                  <a:srgbClr val="D77C7F"/>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B937E76A-FF54-4223-906F-D95AF9D23D16}"/>
              </a:ext>
            </a:extLst>
          </p:cNvPr>
          <p:cNvSpPr>
            <a:spLocks xmlns:a="http://schemas.openxmlformats.org/drawingml/2006/main" noGrp="1"/>
          </p:cNvSpPr>
          <p:nvPr/>
        </p:nvSpPr>
        <p:spPr>
          <a:xfrm xmlns:a="http://schemas.openxmlformats.org/drawingml/2006/main">
            <a:off x="1524000" y="381000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685F"/>
                </a:solidFill>
                <a:latin typeface="Arial"/>
                <a:ea typeface="Arial"/>
                <a:cs typeface="Arial"/>
              </a:defRPr>
            </a:pPr>
            <a:r>
              <a:rPr sz="1875" b="1">
                <a:solidFill>
                  <a:srgbClr val="17685F"/>
                </a:solidFill>
                <a:latin typeface="Arial"/>
                <a:ea typeface="Arial"/>
                <a:cs typeface="Arial"/>
              </a:rPr>
              <a:t>BESS is now economic and belongs in the sizing decision</a:t>
            </a:r>
          </a:p>
        </p:txBody>
      </p:sp>
      <p:sp>
        <p:nvSpPr>
          <p:cNvPr id="16" name="">
            <a:extLst xmlns:a="http://schemas.openxmlformats.org/drawingml/2006/main">
              <a:ext uri="{FF2B5EF4-FFF2-40B4-BE49-F238E27FC236}">
                <a16:creationId xmlns:a16="http://schemas.microsoft.com/office/drawing/2014/main" id="{7EDC181E-F198-4D5C-A6F5-73F40EC3AD1D}"/>
              </a:ext>
            </a:extLst>
          </p:cNvPr>
          <p:cNvSpPr>
            <a:spLocks xmlns:a="http://schemas.openxmlformats.org/drawingml/2006/main" noGrp="1"/>
          </p:cNvSpPr>
          <p:nvPr/>
        </p:nvSpPr>
        <p:spPr>
          <a:xfrm xmlns:a="http://schemas.openxmlformats.org/drawingml/2006/main">
            <a:off x="1524000" y="4229100"/>
            <a:ext cx="9286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43B37"/>
                </a:solidFill>
                <a:latin typeface="Arial"/>
                <a:ea typeface="Arial"/>
                <a:cs typeface="Arial"/>
              </a:defRPr>
            </a:pPr>
            <a:r>
              <a:rPr sz="1500" b="0">
                <a:solidFill>
                  <a:srgbClr val="143B37"/>
                </a:solidFill>
                <a:latin typeface="Arial"/>
                <a:ea typeface="Arial"/>
                <a:cs typeface="Arial"/>
              </a:rPr>
              <a:t>At the confirmed battery price, with a full-price year-10 replacement, the model selects storage in both cases that permit it. Our earlier no-battery advice stays withdrawn.</a:t>
            </a:r>
          </a:p>
        </p:txBody>
      </p:sp>
      <p:sp>
        <p:nvSpPr>
          <p:cNvPr id="17" name="">
            <a:extLst xmlns:a="http://schemas.openxmlformats.org/drawingml/2006/main">
              <a:ext uri="{FF2B5EF4-FFF2-40B4-BE49-F238E27FC236}">
                <a16:creationId xmlns:a16="http://schemas.microsoft.com/office/drawing/2014/main" id="{759819D3-6B89-4BD9-B77C-88DE0CB0CA19}"/>
              </a:ext>
            </a:extLst>
          </p:cNvPr>
          <p:cNvSpPr>
            <a:spLocks xmlns:a="http://schemas.openxmlformats.org/drawingml/2006/main" noGrp="1"/>
          </p:cNvSpPr>
          <p:nvPr/>
        </p:nvSpPr>
        <p:spPr>
          <a:xfrm xmlns:a="http://schemas.openxmlformats.org/drawingml/2006/main">
            <a:off x="1524000" y="4857750"/>
            <a:ext cx="9191625" cy="0"/>
          </a:xfrm>
          <a:prstGeom xmlns:a="http://schemas.openxmlformats.org/drawingml/2006/main" prst="line">
            <a:avLst/>
          </a:prstGeom>
          <a:noFill xmlns:a="http://schemas.openxmlformats.org/drawingml/2006/main"/>
          <a:ln xmlns:a="http://schemas.openxmlformats.org/drawingml/2006/main" w="14288">
            <a:solidFill>
              <a:srgbClr val="8AB8B0"/>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AFDC1C8C-D85A-48E0-A3AC-7DA0C43F8A90}"/>
              </a:ext>
            </a:extLst>
          </p:cNvPr>
          <p:cNvSpPr>
            <a:spLocks xmlns:a="http://schemas.openxmlformats.org/drawingml/2006/main" noGrp="1"/>
          </p:cNvSpPr>
          <p:nvPr/>
        </p:nvSpPr>
        <p:spPr>
          <a:xfrm xmlns:a="http://schemas.openxmlformats.org/drawingml/2006/main">
            <a:off x="571500" y="5095875"/>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50" b="1">
                <a:solidFill>
                  <a:srgbClr val="F7D98B"/>
                </a:solidFill>
                <a:latin typeface="Arial"/>
                <a:ea typeface="Arial"/>
                <a:cs typeface="Arial"/>
              </a:defRPr>
            </a:pPr>
            <a:r>
              <a:rPr sz="3150" b="1">
                <a:solidFill>
                  <a:srgbClr val="F7D98B"/>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C4577E4B-F9E3-4C40-9E3B-C24D63F2B0D5}"/>
              </a:ext>
            </a:extLst>
          </p:cNvPr>
          <p:cNvSpPr>
            <a:spLocks xmlns:a="http://schemas.openxmlformats.org/drawingml/2006/main" noGrp="1"/>
          </p:cNvSpPr>
          <p:nvPr/>
        </p:nvSpPr>
        <p:spPr>
          <a:xfrm xmlns:a="http://schemas.openxmlformats.org/drawingml/2006/main">
            <a:off x="1524000" y="514350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685F"/>
                </a:solidFill>
                <a:latin typeface="Arial"/>
                <a:ea typeface="Arial"/>
                <a:cs typeface="Arial"/>
              </a:defRPr>
            </a:pPr>
            <a:r>
              <a:rPr sz="1875" b="1">
                <a:solidFill>
                  <a:srgbClr val="17685F"/>
                </a:solidFill>
                <a:latin typeface="Arial"/>
                <a:ea typeface="Arial"/>
                <a:cs typeface="Arial"/>
              </a:rPr>
              <a:t>Structural diligence comes before final sizing</a:t>
            </a:r>
          </a:p>
        </p:txBody>
      </p:sp>
      <p:sp>
        <p:nvSpPr>
          <p:cNvPr id="20" name="">
            <a:extLst xmlns:a="http://schemas.openxmlformats.org/drawingml/2006/main">
              <a:ext uri="{FF2B5EF4-FFF2-40B4-BE49-F238E27FC236}">
                <a16:creationId xmlns:a16="http://schemas.microsoft.com/office/drawing/2014/main" id="{5FC1B725-95BF-4746-83FC-293CB709C2BD}"/>
              </a:ext>
            </a:extLst>
          </p:cNvPr>
          <p:cNvSpPr>
            <a:spLocks xmlns:a="http://schemas.openxmlformats.org/drawingml/2006/main" noGrp="1"/>
          </p:cNvSpPr>
          <p:nvPr/>
        </p:nvSpPr>
        <p:spPr>
          <a:xfrm xmlns:a="http://schemas.openxmlformats.org/drawingml/2006/main">
            <a:off x="1524000" y="5562600"/>
            <a:ext cx="914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43B37"/>
                </a:solidFill>
                <a:latin typeface="Arial"/>
                <a:ea typeface="Arial"/>
                <a:cs typeface="Arial"/>
              </a:defRPr>
            </a:pPr>
            <a:r>
              <a:rPr sz="1500" b="0">
                <a:solidFill>
                  <a:srgbClr val="143B37"/>
                </a:solidFill>
                <a:latin typeface="Arial"/>
                <a:ea typeface="Arial"/>
                <a:cs typeface="Arial"/>
              </a:rPr>
              <a:t>Confirm usable roof capacity, reinforcement cost, and power-factor exposure before contractor comparison.</a:t>
            </a:r>
          </a:p>
        </p:txBody>
      </p:sp>
    </p:spTree>
    <p:extLst>
      <p:ext uri="{BB962C8B-B14F-4D97-AF65-F5344CB8AC3E}">
        <p14:creationId xmlns:p14="http://schemas.microsoft.com/office/powerpoint/2010/main" val="3036294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2026-09-07T14:08:10.8170000Z</dcterms:created>
  <dcterms:modified xsi:type="dcterms:W3CDTF">2026-09-07T14:08:10.8170000Z</dcterms:modified>
</coreProperties>
</file>
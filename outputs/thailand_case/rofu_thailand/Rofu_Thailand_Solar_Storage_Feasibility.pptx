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MWh</c:v>
                </c:pt>
              </c:strCache>
            </c:strRef>
          </c:tx>
          <c:spPr>
            <a:solidFill>
              <a:srgbClr val="3F8E73"/>
            </a:solidFill>
            <a:effectLst/>
          </c:spPr>
          <c:invertIfNegative val="0"/>
          <c:dLbls>
            <c:numFmt formatCode="#,##0" sourceLinked="0"/>
            <c:txPr>
              <a:bodyPr/>
              <a:lstStyle/>
              <a:p>
                <a:pPr>
                  <a:defRPr b="0" i="0" strike="noStrike" sz="900" u="none">
                    <a:solidFill>
                      <a:srgbClr val="143B37"/>
                    </a:solidFill>
                    <a:latin typeface="Arial"/>
                  </a:defRPr>
                </a:pPr>
              </a:p>
            </c:txPr>
            <c:showLegendKey val="0"/>
            <c:showVal val="1"/>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554</c:v>
                </c:pt>
                <c:pt idx="1">
                  <c:v>556</c:v>
                </c:pt>
                <c:pt idx="2">
                  <c:v>636</c:v>
                </c:pt>
                <c:pt idx="3">
                  <c:v>538</c:v>
                </c:pt>
                <c:pt idx="4">
                  <c:v>666</c:v>
                </c:pt>
                <c:pt idx="5">
                  <c:v>727</c:v>
                </c:pt>
                <c:pt idx="6">
                  <c:v>645</c:v>
                </c:pt>
                <c:pt idx="7">
                  <c:v>590</c:v>
                </c:pt>
                <c:pt idx="8">
                  <c:v>620</c:v>
                </c:pt>
                <c:pt idx="9">
                  <c:v>606</c:v>
                </c:pt>
                <c:pt idx="10">
                  <c:v>586</c:v>
                </c:pt>
                <c:pt idx="11">
                  <c:v>511</c:v>
                </c:pt>
              </c:numCache>
            </c:numRef>
          </c:val>
        </c:ser>
        <c:dLbls>
          <c:numFmt formatCode="#,##0" sourceLinked="0"/>
          <c:txPr>
            <a:bodyPr/>
            <a:lstStyle/>
            <a:p>
              <a:pPr>
                <a:defRPr b="0" i="0" strike="noStrike" sz="900" u="none">
                  <a:solidFill>
                    <a:srgbClr val="143B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850"/>
          <c:min val="0"/>
        </c:scaling>
        <c:delete val="1"/>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kW</c:v>
                </c:pt>
              </c:strCache>
            </c:strRef>
          </c:tx>
          <c:spPr>
            <a:solidFill>
              <a:srgbClr val="17685F"/>
            </a:solidFill>
            <a:ln w="31750" cap="flat">
              <a:solidFill>
                <a:srgbClr val="17685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685F"/>
              </a:solidFill>
              <a:ln w="9525" cap="flat">
                <a:solidFill>
                  <a:srgbClr val="17685F"/>
                </a:solidFill>
                <a:prstDash val="solid"/>
                <a:round/>
              </a:ln>
              <a:effectLst/>
            </c:spPr>
          </c:marker>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544</c:v>
                </c:pt>
                <c:pt idx="1">
                  <c:v>680</c:v>
                </c:pt>
                <c:pt idx="2">
                  <c:v>679</c:v>
                </c:pt>
                <c:pt idx="3">
                  <c:v>670</c:v>
                </c:pt>
                <c:pt idx="4">
                  <c:v>631</c:v>
                </c:pt>
                <c:pt idx="5">
                  <c:v>504</c:v>
                </c:pt>
                <c:pt idx="6">
                  <c:v>530</c:v>
                </c:pt>
                <c:pt idx="7">
                  <c:v>780</c:v>
                </c:pt>
                <c:pt idx="8">
                  <c:v>1128</c:v>
                </c:pt>
                <c:pt idx="9">
                  <c:v>1152</c:v>
                </c:pt>
                <c:pt idx="10">
                  <c:v>1154</c:v>
                </c:pt>
                <c:pt idx="11">
                  <c:v>1013</c:v>
                </c:pt>
                <c:pt idx="12">
                  <c:v>846</c:v>
                </c:pt>
                <c:pt idx="13">
                  <c:v>1150</c:v>
                </c:pt>
                <c:pt idx="14">
                  <c:v>1150</c:v>
                </c:pt>
                <c:pt idx="15">
                  <c:v>1141</c:v>
                </c:pt>
                <c:pt idx="16">
                  <c:v>1067</c:v>
                </c:pt>
                <c:pt idx="17">
                  <c:v>725</c:v>
                </c:pt>
                <c:pt idx="18">
                  <c:v>762</c:v>
                </c:pt>
                <c:pt idx="19">
                  <c:v>708</c:v>
                </c:pt>
                <c:pt idx="20">
                  <c:v>723</c:v>
                </c:pt>
                <c:pt idx="21">
                  <c:v>706</c:v>
                </c:pt>
                <c:pt idx="22">
                  <c:v>695</c:v>
                </c:pt>
                <c:pt idx="23">
                  <c:v>682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1400"/>
          <c:min val="0"/>
        </c:scaling>
        <c:delete val="0"/>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Bill</c:v>
                </c:pt>
              </c:strCache>
            </c:strRef>
          </c:tx>
          <c:spPr>
            <a:solidFill>
              <a:schemeClr val="accent1"/>
            </a:solidFill>
            <a:ln w="9525" cap="flat">
              <a:solidFill>
                <a:srgbClr val="F9F9F9"/>
              </a:solidFill>
              <a:prstDash val="solid"/>
              <a:round/>
            </a:ln>
            <a:effectLst/>
          </c:spPr>
          <c:dPt>
            <c:idx val="0"/>
            <c:bubble3D val="0"/>
            <c:spPr>
              <a:solidFill>
                <a:srgbClr val="E98A55"/>
              </a:solidFill>
              <a:effectLst/>
            </c:spPr>
          </c:dPt>
          <c:dPt>
            <c:idx val="1"/>
            <c:bubble3D val="0"/>
            <c:spPr>
              <a:solidFill>
                <a:srgbClr val="3F8E73"/>
              </a:solidFill>
              <a:effectLst/>
            </c:spPr>
          </c:dPt>
          <c:dPt>
            <c:idx val="2"/>
            <c:bubble3D val="0"/>
            <c:spPr>
              <a:solidFill>
                <a:srgbClr val="F7D98B"/>
              </a:solidFill>
              <a:effectLst/>
            </c:spPr>
          </c:dPt>
          <c:dPt>
            <c:idx val="3"/>
            <c:bubble3D val="0"/>
            <c:spPr>
              <a:solidFill>
                <a:srgbClr val="D77C7F"/>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Peak energy</c:v>
                </c:pt>
                <c:pt idx="1">
                  <c:v>Off-peak energy</c:v>
                </c:pt>
                <c:pt idx="2">
                  <c:v>Demand</c:v>
                </c:pt>
                <c:pt idx="3">
                  <c:v>Ft</c:v>
                </c:pt>
              </c:strCache>
            </c:strRef>
          </c:cat>
          <c:val>
            <c:numRef>
              <c:f>Sheet1!$B$2:$B$5</c:f>
              <c:numCache>
                <c:ptCount val="4"/>
                <c:pt idx="0">
                  <c:v>1203884</c:v>
                </c:pt>
                <c:pt idx="1">
                  <c:v>890874</c:v>
                </c:pt>
                <c:pt idx="2">
                  <c:v>181848</c:v>
                </c:pt>
                <c:pt idx="3">
                  <c:v>124548</c:v>
                </c:pt>
              </c:numCache>
            </c:numRef>
          </c:val>
        </c:ser>
        <c:firstSliceAng val="0"/>
        <c:holeSize val="55"/>
      </c:doughnutChart>
      <c:spPr>
        <a:solidFill>
          <a:srgbClr val="FFFFFF"/>
        </a:solidFill>
        <a:ln>
          <a:noFill/>
        </a:ln>
        <a:effectLst/>
      </c:spPr>
    </c:plotArea>
    <c:legend>
      <c:legendPos val="r"/>
      <c:overlay val="0"/>
      <c:txPr>
        <a:bodyPr/>
        <a:lstStyle/>
        <a:p>
          <a:pPr>
            <a:defRPr sz="1000">
              <a:solidFill>
                <a:srgbClr val="143B37"/>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Equity NPV</c:v>
                </c:pt>
              </c:strCache>
            </c:strRef>
          </c:tx>
          <c:spPr>
            <a:solidFill>
              <a:srgbClr val="3F8E73"/>
            </a:solidFill>
            <a:effectLst/>
          </c:spPr>
          <c:invertIfNegative val="0"/>
          <c:dLbls>
            <c:numFmt formatCode="#,##0"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cat>
            <c:multiLvlStrRef>
              <c:f>Sheet1!$A$2:$A$7</c:f>
              <c:multiLvlStrCache>
                <c:ptCount val="6"/>
                <c:lvl>
                  <c:pt idx="0">
                    <c:v>1. Roof, low</c:v>
                  </c:pt>
                  <c:pt idx="1">
                    <c:v>2. Roof, mid</c:v>
                  </c:pt>
                  <c:pt idx="2">
                    <c:v>3. Roof, high</c:v>
                  </c:pt>
                  <c:pt idx="3">
                    <c:v>4. No roof limit</c:v>
                  </c:pt>
                  <c:pt idx="4">
                    <c:v>5. Roof, low, with storage</c:v>
                  </c:pt>
                  <c:pt idx="5">
                    <c:v>6. No roof limit, with storage</c:v>
                  </c:pt>
                </c:lvl>
              </c:multiLvlStrCache>
            </c:multiLvlStrRef>
          </c:cat>
          <c:val>
            <c:numRef>
              <c:f>Sheet1!$B$2:$B$7</c:f>
              <c:numCache>
                <c:formatCode>General</c:formatCode>
                <c:ptCount val="6"/>
                <c:pt idx="0">
                  <c:v>1304997</c:v>
                </c:pt>
                <c:pt idx="1">
                  <c:v>1415588</c:v>
                </c:pt>
                <c:pt idx="2">
                  <c:v>1506642</c:v>
                </c:pt>
                <c:pt idx="3">
                  <c:v>1610103</c:v>
                </c:pt>
                <c:pt idx="4">
                  <c:v>1353566</c:v>
                </c:pt>
                <c:pt idx="5">
                  <c:v>1855912</c:v>
                </c:pt>
              </c:numCache>
            </c:numRef>
          </c:val>
        </c:ser>
        <c:dLbls>
          <c:numFmt formatCode="#,##0"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2300000"/>
          <c:min val="0"/>
        </c:scaling>
        <c:delete val="1"/>
        <c:axPos val="b"/>
        <c:majorGridlines>
          <c:spPr>
            <a:ln w="6350" cap="flat">
              <a:solidFill>
                <a:srgbClr val="D5E3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Equity IRR</c:v>
                </c:pt>
              </c:strCache>
            </c:strRef>
          </c:tx>
          <c:spPr>
            <a:solidFill>
              <a:srgbClr val="E98A55"/>
            </a:solidFill>
            <a:effectLst/>
          </c:spPr>
          <c:invertIfNegative val="0"/>
          <c:dLbls>
            <c:numFmt formatCode="0.0&quot;%&quot;"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66.4</c:v>
                </c:pt>
                <c:pt idx="1">
                  <c:v>64.5</c:v>
                </c:pt>
                <c:pt idx="2">
                  <c:v>62.2</c:v>
                </c:pt>
                <c:pt idx="3">
                  <c:v>56.1</c:v>
                </c:pt>
                <c:pt idx="4">
                  <c:v>64.2</c:v>
                </c:pt>
                <c:pt idx="5">
                  <c:v>49.6</c:v>
                </c:pt>
              </c:numCache>
            </c:numRef>
          </c:val>
        </c:ser>
        <c:dLbls>
          <c:numFmt formatCode="0.0&quot;%&quot;"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PV to load</c:v>
                </c:pt>
              </c:strCache>
            </c:strRef>
          </c:tx>
          <c:spPr>
            <a:solidFill>
              <a:srgbClr val="F7D98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0</c:v>
                </c:pt>
                <c:pt idx="1">
                  <c:v>0</c:v>
                </c:pt>
                <c:pt idx="2">
                  <c:v>0</c:v>
                </c:pt>
                <c:pt idx="3">
                  <c:v>0</c:v>
                </c:pt>
                <c:pt idx="4">
                  <c:v>0</c:v>
                </c:pt>
                <c:pt idx="5">
                  <c:v>0</c:v>
                </c:pt>
                <c:pt idx="6">
                  <c:v>50</c:v>
                </c:pt>
                <c:pt idx="7">
                  <c:v>366</c:v>
                </c:pt>
                <c:pt idx="8">
                  <c:v>739</c:v>
                </c:pt>
                <c:pt idx="9">
                  <c:v>983</c:v>
                </c:pt>
                <c:pt idx="10">
                  <c:v>1068</c:v>
                </c:pt>
                <c:pt idx="11">
                  <c:v>976</c:v>
                </c:pt>
                <c:pt idx="12">
                  <c:v>825</c:v>
                </c:pt>
                <c:pt idx="13">
                  <c:v>1089</c:v>
                </c:pt>
                <c:pt idx="14">
                  <c:v>1046</c:v>
                </c:pt>
                <c:pt idx="15">
                  <c:v>840</c:v>
                </c:pt>
                <c:pt idx="16">
                  <c:v>495</c:v>
                </c:pt>
                <c:pt idx="17">
                  <c:v>122</c:v>
                </c:pt>
                <c:pt idx="18">
                  <c:v>1</c:v>
                </c:pt>
                <c:pt idx="19">
                  <c:v>0</c:v>
                </c:pt>
                <c:pt idx="20">
                  <c:v>0</c:v>
                </c:pt>
                <c:pt idx="21">
                  <c:v>0</c:v>
                </c:pt>
                <c:pt idx="22">
                  <c:v>0</c:v>
                </c:pt>
                <c:pt idx="23">
                  <c:v>0</c:v>
                </c:pt>
              </c:numCache>
            </c:numRef>
          </c:val>
        </c:ser>
        <c:ser>
          <c:idx val="1"/>
          <c:order val="1"/>
          <c:tx>
            <c:strRef>
              <c:f>Sheet1!$C$1</c:f>
              <c:strCache>
                <c:ptCount val="1"/>
                <c:pt idx="0">
                  <c:v>Battery to load</c:v>
                </c:pt>
              </c:strCache>
            </c:strRef>
          </c:tx>
          <c:spPr>
            <a:solidFill>
              <a:srgbClr val="3F8E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Sheet1!$C$2:$C$25</c:f>
              <c:numCache>
                <c:formatCode>General</c:formatCode>
                <c:ptCount val="24"/>
                <c:pt idx="0">
                  <c:v>4</c:v>
                </c:pt>
                <c:pt idx="1">
                  <c:v>6</c:v>
                </c:pt>
                <c:pt idx="2">
                  <c:v>8</c:v>
                </c:pt>
                <c:pt idx="3">
                  <c:v>16</c:v>
                </c:pt>
                <c:pt idx="4">
                  <c:v>47</c:v>
                </c:pt>
                <c:pt idx="5">
                  <c:v>59</c:v>
                </c:pt>
                <c:pt idx="6">
                  <c:v>71</c:v>
                </c:pt>
                <c:pt idx="7">
                  <c:v>60</c:v>
                </c:pt>
                <c:pt idx="8">
                  <c:v>53</c:v>
                </c:pt>
                <c:pt idx="9">
                  <c:v>76</c:v>
                </c:pt>
                <c:pt idx="10">
                  <c:v>35</c:v>
                </c:pt>
                <c:pt idx="11">
                  <c:v>12</c:v>
                </c:pt>
                <c:pt idx="12">
                  <c:v>3</c:v>
                </c:pt>
                <c:pt idx="13">
                  <c:v>5</c:v>
                </c:pt>
                <c:pt idx="14">
                  <c:v>6</c:v>
                </c:pt>
                <c:pt idx="15">
                  <c:v>14</c:v>
                </c:pt>
                <c:pt idx="16">
                  <c:v>37</c:v>
                </c:pt>
                <c:pt idx="17">
                  <c:v>49</c:v>
                </c:pt>
                <c:pt idx="18">
                  <c:v>146</c:v>
                </c:pt>
                <c:pt idx="19">
                  <c:v>137</c:v>
                </c:pt>
                <c:pt idx="20">
                  <c:v>240</c:v>
                </c:pt>
                <c:pt idx="21">
                  <c:v>308</c:v>
                </c:pt>
                <c:pt idx="22">
                  <c:v>3</c:v>
                </c:pt>
                <c:pt idx="23">
                  <c:v>4</c:v>
                </c:pt>
              </c:numCache>
            </c:numRef>
          </c:val>
        </c:ser>
        <c:ser>
          <c:idx val="2"/>
          <c:order val="2"/>
          <c:tx>
            <c:strRef>
              <c:f>Sheet1!$D$1</c:f>
              <c:strCache>
                <c:ptCount val="1"/>
                <c:pt idx="0">
                  <c:v>Grid to load</c:v>
                </c:pt>
              </c:strCache>
            </c:strRef>
          </c:tx>
          <c:spPr>
            <a:solidFill>
              <a:srgbClr val="B7D9D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Sheet1!$D$2:$D$25</c:f>
              <c:numCache>
                <c:formatCode>General</c:formatCode>
                <c:ptCount val="24"/>
                <c:pt idx="0">
                  <c:v>540</c:v>
                </c:pt>
                <c:pt idx="1">
                  <c:v>673</c:v>
                </c:pt>
                <c:pt idx="2">
                  <c:v>671</c:v>
                </c:pt>
                <c:pt idx="3">
                  <c:v>654</c:v>
                </c:pt>
                <c:pt idx="4">
                  <c:v>585</c:v>
                </c:pt>
                <c:pt idx="5">
                  <c:v>445</c:v>
                </c:pt>
                <c:pt idx="6">
                  <c:v>410</c:v>
                </c:pt>
                <c:pt idx="7">
                  <c:v>355</c:v>
                </c:pt>
                <c:pt idx="8">
                  <c:v>336</c:v>
                </c:pt>
                <c:pt idx="9">
                  <c:v>94</c:v>
                </c:pt>
                <c:pt idx="10">
                  <c:v>51</c:v>
                </c:pt>
                <c:pt idx="11">
                  <c:v>25</c:v>
                </c:pt>
                <c:pt idx="12">
                  <c:v>18</c:v>
                </c:pt>
                <c:pt idx="13">
                  <c:v>56</c:v>
                </c:pt>
                <c:pt idx="14">
                  <c:v>98</c:v>
                </c:pt>
                <c:pt idx="15">
                  <c:v>287</c:v>
                </c:pt>
                <c:pt idx="16">
                  <c:v>534</c:v>
                </c:pt>
                <c:pt idx="17">
                  <c:v>554</c:v>
                </c:pt>
                <c:pt idx="18">
                  <c:v>615</c:v>
                </c:pt>
                <c:pt idx="19">
                  <c:v>571</c:v>
                </c:pt>
                <c:pt idx="20">
                  <c:v>482</c:v>
                </c:pt>
                <c:pt idx="21">
                  <c:v>398</c:v>
                </c:pt>
                <c:pt idx="22">
                  <c:v>692</c:v>
                </c:pt>
                <c:pt idx="23">
                  <c:v>678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1300"/>
          <c:min val="0"/>
        </c:scaling>
        <c:delete val="0"/>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solidFill>
                <a:srgbClr val="143B37"/>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Case 5: roof, low, with storage</c:v>
                </c:pt>
              </c:strCache>
            </c:strRef>
          </c:tx>
          <c:spPr>
            <a:solidFill>
              <a:srgbClr val="3F8E73"/>
            </a:solidFill>
            <a:ln w="31750" cap="flat">
              <a:solidFill>
                <a:srgbClr val="3F8E73"/>
              </a:solidFill>
              <a:prstDash val="solid"/>
              <a:round/>
            </a:ln>
            <a:effectLst/>
          </c:spPr>
          <c:invertIfNegative val="0"/>
          <c:dLbls>
            <c:numFmt formatCode="0.00" sourceLinked="0"/>
            <c:txPr>
              <a:bodyPr/>
              <a:lstStyle/>
              <a:p>
                <a:pPr>
                  <a:defRPr b="0" i="0" strike="noStrike" sz="900" u="none">
                    <a:solidFill>
                      <a:srgbClr val="143B37"/>
                    </a:solidFill>
                    <a:latin typeface="Arial"/>
                  </a:defRPr>
                </a:pPr>
              </a:p>
            </c:txPr>
            <c:dLblPos val="t"/>
            <c:showLegendKey val="0"/>
            <c:showVal val="1"/>
            <c:showCatName val="0"/>
            <c:showSerName val="0"/>
            <c:showPercent val="0"/>
            <c:showBubbleSize val="0"/>
            <c:showLeaderLines val="0"/>
          </c:dLbls>
          <c:marker>
            <c:symbol val="circle"/>
            <c:size val="6"/>
            <c:spPr>
              <a:solidFill>
                <a:srgbClr val="3F8E73"/>
              </a:solidFill>
              <a:ln w="9525" cap="flat">
                <a:solidFill>
                  <a:srgbClr val="3F8E73"/>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Sheet1!$B$2:$B$11</c:f>
              <c:numCache>
                <c:formatCode>General</c:formatCode>
                <c:ptCount val="10"/>
                <c:pt idx="0">
                  <c:v>2.93</c:v>
                </c:pt>
                <c:pt idx="1">
                  <c:v>2.98</c:v>
                </c:pt>
                <c:pt idx="2">
                  <c:v>3.03</c:v>
                </c:pt>
                <c:pt idx="3">
                  <c:v>3.09</c:v>
                </c:pt>
                <c:pt idx="4">
                  <c:v>3.15</c:v>
                </c:pt>
                <c:pt idx="5">
                  <c:v>2.79</c:v>
                </c:pt>
                <c:pt idx="6">
                  <c:v>2.85</c:v>
                </c:pt>
                <c:pt idx="7">
                  <c:v>2.91</c:v>
                </c:pt>
                <c:pt idx="8">
                  <c:v>2.97</c:v>
                </c:pt>
                <c:pt idx="9">
                  <c:v>2.21</c:v>
                </c:pt>
              </c:numCache>
            </c:numRef>
          </c:val>
          <c:smooth val="0"/>
        </c:ser>
        <c:ser>
          <c:idx val="1"/>
          <c:order val="1"/>
          <c:tx>
            <c:strRef>
              <c:f>Sheet1!$C$1</c:f>
              <c:strCache>
                <c:ptCount val="1"/>
                <c:pt idx="0">
                  <c:v>Case 6: no roof limit, with storage</c:v>
                </c:pt>
              </c:strCache>
            </c:strRef>
          </c:tx>
          <c:spPr>
            <a:solidFill>
              <a:srgbClr val="E98A55"/>
            </a:solidFill>
            <a:ln w="31750" cap="flat">
              <a:solidFill>
                <a:srgbClr val="E98A55"/>
              </a:solidFill>
              <a:prstDash val="solid"/>
              <a:round/>
            </a:ln>
            <a:effectLst/>
          </c:spPr>
          <c:invertIfNegative val="0"/>
          <c:dLbls>
            <c:numFmt formatCode="0.00" sourceLinked="0"/>
            <c:txPr>
              <a:bodyPr/>
              <a:lstStyle/>
              <a:p>
                <a:pPr>
                  <a:defRPr b="0" i="0" strike="noStrike" sz="900" u="none">
                    <a:solidFill>
                      <a:srgbClr val="143B37"/>
                    </a:solidFill>
                    <a:latin typeface="Arial"/>
                  </a:defRPr>
                </a:pPr>
              </a:p>
            </c:txPr>
            <c:dLblPos val="t"/>
            <c:showLegendKey val="0"/>
            <c:showVal val="1"/>
            <c:showCatName val="0"/>
            <c:showSerName val="0"/>
            <c:showPercent val="0"/>
            <c:showBubbleSize val="0"/>
            <c:showLeaderLines val="0"/>
          </c:dLbls>
          <c:marker>
            <c:symbol val="circle"/>
            <c:size val="6"/>
            <c:spPr>
              <a:solidFill>
                <a:srgbClr val="E98A55"/>
              </a:solidFill>
              <a:ln w="9525" cap="flat">
                <a:solidFill>
                  <a:srgbClr val="E98A55"/>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Sheet1!$C$2:$C$11</c:f>
              <c:numCache>
                <c:formatCode>General</c:formatCode>
                <c:ptCount val="10"/>
                <c:pt idx="0">
                  <c:v>2.49</c:v>
                </c:pt>
                <c:pt idx="1">
                  <c:v>2.54</c:v>
                </c:pt>
                <c:pt idx="2">
                  <c:v>2.58</c:v>
                </c:pt>
                <c:pt idx="3">
                  <c:v>2.63</c:v>
                </c:pt>
                <c:pt idx="4">
                  <c:v>2.68</c:v>
                </c:pt>
                <c:pt idx="5">
                  <c:v>2.31</c:v>
                </c:pt>
                <c:pt idx="6">
                  <c:v>2.36</c:v>
                </c:pt>
                <c:pt idx="7">
                  <c:v>2.41</c:v>
                </c:pt>
                <c:pt idx="8">
                  <c:v>2.46</c:v>
                </c:pt>
                <c:pt idx="9">
                  <c:v>0.64</c:v>
                </c:pt>
              </c:numCache>
            </c:numRef>
          </c:val>
          <c:smooth val="0"/>
        </c:ser>
        <c:dLbls>
          <c:numFmt formatCode="0.00" sourceLinked="0"/>
          <c:txPr>
            <a:bodyPr/>
            <a:lstStyle/>
            <a:p>
              <a:pPr>
                <a:defRPr b="0" i="0" strike="noStrike" sz="900" u="none">
                  <a:solidFill>
                    <a:srgbClr val="143B37"/>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solidFill>
                <a:srgbClr val="143B37"/>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USD/kWp</c:v>
                </c:pt>
              </c:strCache>
            </c:strRef>
          </c:tx>
          <c:spPr>
            <a:solidFill>
              <a:srgbClr val="17685F"/>
            </a:solidFill>
            <a:effectLst/>
          </c:spPr>
          <c:invertIfNegative val="0"/>
          <c:dLbls>
            <c:numFmt formatCode="#,##0"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dPt>
            <c:idx val="0"/>
            <c:invertIfNegative val="0"/>
            <c:bubble3D val="0"/>
            <c:spPr>
              <a:solidFill>
                <a:srgbClr val="17685F"/>
              </a:solidFill>
              <a:effectLst/>
            </c:spPr>
          </c:dPt>
          <c:dPt>
            <c:idx val="1"/>
            <c:invertIfNegative val="0"/>
            <c:bubble3D val="0"/>
            <c:spPr>
              <a:solidFill>
                <a:srgbClr val="B7D9D2"/>
              </a:solidFill>
              <a:effectLst/>
            </c:spPr>
          </c:dPt>
          <c:dPt>
            <c:idx val="2"/>
            <c:invertIfNegative val="0"/>
            <c:bubble3D val="0"/>
            <c:spPr>
              <a:solidFill>
                <a:srgbClr val="B7D9D2"/>
              </a:solidFill>
              <a:effectLst/>
            </c:spPr>
          </c:dPt>
          <c:dPt>
            <c:idx val="3"/>
            <c:invertIfNegative val="0"/>
            <c:bubble3D val="0"/>
            <c:spPr>
              <a:solidFill>
                <a:srgbClr val="B7D9D2"/>
              </a:solidFill>
              <a:effectLst/>
            </c:spPr>
          </c:dPt>
          <c:cat>
            <c:multiLvlStrRef>
              <c:f>Sheet1!$A$2:$A$5</c:f>
              <c:multiLvlStrCache>
                <c:ptCount val="4"/>
                <c:lvl>
                  <c:pt idx="0">
                    <c:v>This study (Keen quotation)</c:v>
                  </c:pt>
                  <c:pt idx="1">
                    <c:v>Krungsri low</c:v>
                  </c:pt>
                  <c:pt idx="2">
                    <c:v>Krungsri high</c:v>
                  </c:pt>
                  <c:pt idx="3">
                    <c:v>MDPI 2025</c:v>
                  </c:pt>
                </c:lvl>
              </c:multiLvlStrCache>
            </c:multiLvlStrRef>
          </c:cat>
          <c:val>
            <c:numRef>
              <c:f>Sheet1!$B$2:$B$5</c:f>
              <c:numCache>
                <c:formatCode>General</c:formatCode>
                <c:ptCount val="4"/>
                <c:pt idx="0">
                  <c:v>500</c:v>
                </c:pt>
                <c:pt idx="1">
                  <c:v>615</c:v>
                </c:pt>
                <c:pt idx="2">
                  <c:v>769</c:v>
                </c:pt>
                <c:pt idx="3">
                  <c:v>767</c:v>
                </c:pt>
              </c:numCache>
            </c:numRef>
          </c:val>
        </c:ser>
        <c:dLbls>
          <c:numFmt formatCode="#,##0"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900"/>
          <c:min val="0"/>
        </c:scaling>
        <c:delete val="1"/>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Curtailed</c:v>
                </c:pt>
              </c:strCache>
            </c:strRef>
          </c:tx>
          <c:spPr>
            <a:solidFill>
              <a:srgbClr val="E98A55"/>
            </a:solidFill>
            <a:effectLst/>
          </c:spPr>
          <c:invertIfNegative val="0"/>
          <c:dLbls>
            <c:numFmt formatCode="0.0&quot;%&quot;"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8.6</c:v>
                </c:pt>
                <c:pt idx="1">
                  <c:v>10.7</c:v>
                </c:pt>
                <c:pt idx="2">
                  <c:v>13</c:v>
                </c:pt>
                <c:pt idx="3">
                  <c:v>19.2</c:v>
                </c:pt>
                <c:pt idx="4">
                  <c:v>6.5</c:v>
                </c:pt>
                <c:pt idx="5">
                  <c:v>12.7</c:v>
                </c:pt>
              </c:numCache>
            </c:numRef>
          </c:val>
        </c:ser>
        <c:dLbls>
          <c:numFmt formatCode="0.0&quot;%&quot;" sourceLinked="0"/>
          <c:txPr>
            <a:bodyPr/>
            <a:lstStyle/>
            <a:p>
              <a:pPr>
                <a:defRPr b="0" i="0" strike="noStrike" sz="1000" u="none">
                  <a:solidFill>
                    <a:srgbClr val="143B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2"/>
        <c:crosses val="autoZero"/>
        <c:auto val="1"/>
        <c:lblAlgn val="ctr"/>
        <c:noMultiLvlLbl val="1"/>
      </c:catAx>
      <c:valAx>
        <c:axId val="2094734552"/>
        <c:scaling>
          <c:orientation val="minMax"/>
          <c:max val="24"/>
          <c:min val="0"/>
        </c:scaling>
        <c:delete val="1"/>
        <c:axPos val="l"/>
        <c:majorGridlines>
          <c:spPr>
            <a:ln w="6350" cap="flat">
              <a:solidFill>
                <a:srgbClr val="D5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6D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built from KEEN_THAILAND_MEMO.md (12 September 2026) and the six case records under outputs/thailand_case/rofu_thailand on master. Visual style follows the Rofu tariff structure briefing (Allotrope KEEN reference deck). All money in USD at 32.5 THB per USD unless marked THB.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are the memo's six-case table. Storage was selected at both the roof-limited size (367 kWh) and the unconstrained size (1,881 kWh) once the battery was priced at 100 USD/kW plus 150 USD/kWh with a full-price replacement in year 10; it had been rejected at the earlier 675 USD/kW installed price. The roof binds across the plausible range, so the roof measurement is the highest-value open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optimiser is REopt (NREL) at 15 minute resolution with the HiGHS solver: it chooses PV and battery sizes and the hourly dispatch that minimise the 20 year cost of electricity for the site under the PEA tariff, with no export allowed. The pro forma (proforma_vietnam engine, Thailand profile) then builds the 20 year cash flow for direct ownership: capex, financing, O&amp;M, insurance, replacements, depreciation and CIT. Three iterations of the battery price: 300 + 250 (rejected), 100 + 150 with a 70 percent year-10 replacement (selected), and 100 + 150 with a 100 percent year-10 replacement (selected,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PEA invoice June 2025; RTS data collection workbook; KTH2 electricity use; 15 minute interval data for 2025 supplied by PEA. Monthly energy from the metered series used by the optimiser (7,235,301 kWh in the year). Roof estimate: five roofs 108 m long, widths recorded at 24 to 30 m, 65 percent usable, 0.20 kW per m2; the widths are the uncertain term and the pitch was never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load by hour across 2025 from the metered 15 minute series. The plant runs two shifts with a lunch dip and an evening step-down; weekday on-peak energy is billed from 09:00 to 22:00, the demand charge on the single highest on-peak interval of the month. Solar generation falls between about 06:00 and 18:00, so it overlaps the first nine hours of the peak window but none of the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Rates verified line by line against the June 2025 invoice (rate code 4224, 22-33 kV): the full bill reconstructs from these values to within 0.01 THB. June 2025: 631,580 kWh, 1,368 kW on-peak maximum, Ft 0.1972 THB/kWh, pre-VAT subtotal THB 2,407,767, amount due THB 2.58 million. Ft is revised every four months: 0.3672 (Jan-Apr 2025), 0.1972 (May-Aug 2025), 0.1572 (Sep-Dec 2025), 0.0972 (Jan-Apr 2026), 0.1623 (May-Aug 2026). A power-factor charge of 56.07 THB per kVAR applies above the tariff allowance; monthly kVAR data were not supplied, so it is not modelled.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inputs from Keen's quotation: 500 USD/kWp installed for PV (the top of the confirmed C&amp;I rooftop range), 100 USD/kW plus 150 USD/kWh for the battery. O&amp;M was supplied at 1.5 percent of PV capex (7.50 USD/kWp per year); the optimiser rounds cost parameters to whole dollars and applied 8.00, which the workbooks disclose. Battery O&amp;M 1 percent of its install cost a year. The year-10 whole-system replacement at 100 percent of install cost is the conservative case; the PV inverter replacement at 10 percent of PV capex in year 11 is an Allotrope convention awaiting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Discount rate 11 percent (client-confirmed; a Thai rooftop developer cost of equity, on the conservative side for a factory investing in its own roof). Debt 70 percent at 6.5 percent over 10 years, provisional: the rate tracks Thai commercial bank MLR at end 2025; the fraction and tenor are placeholders pending confirmation. Emissions are an Allotrope calculation: avoided grid import times the TGO grid factor of 0.4750 kg CO2e per kWh (2022-2024 vintage, effective 1 January 2026); the optimiser's own emissions outputs are built on US datasets and are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Cases 1 to 3 cap the array at the three roof-width readings from the survey (24, 27 and 30 m; five roofs 108 m long; 65 percent usable; 0.20 kW per m2). Case 4 removes the cap so the optimiser finds the economic optimum. Cases 5 and 6 allow storage at the roof-limited and unconstrained sizes; the optimiser chose the battery size in both. All six solved to optimality; cases 1 to 4 carry no storage and are unchanged from the earlier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from the six pro forma workbooks (12 September 2026). Financing throughout is 70 percent debt at 6.5 percent over 10 years, 20 year life, 11 percent discount rate. Case 1 equity 252,750 USD against 589,750 USD of debt; case 6 equity 526,922 USD against 1,229,485 USD. Equity IRR falls as the system grows because each additional kilowatt is pushed further from the load and is worth less than the one before; case 6 still produces the largest NPV and by far the largest emissions reduction.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Equity NPV at 11 percent and equity IRR from the six workbooks. NPV rises monotonically with size; IRR falls from 66 percent to 50 percent. The storage cases sit on the same curve: case 5 above case 1, case 6 above case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6 average day across 2025 from the optimiser's dispatch: PV serves the daytime load, charges the battery late morning when the array would otherwise be curtailed, and the battery discharges into the evening on-peak hours (18:00 to 22:00) and covers the morning ramp. Year 1 case 6: storage to load 529 MWh, PV to storage 472 MWh, grid to storage 113 MWh, PV curtailed 542 MWh (12.7 percent), demand charge savings 32,470 USD. Comparing cases 1 and 5 (identical arrays): curtailment falls from 8.6 to 6.5 percent when storage is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Debt service coverage by year from the case 5 and case 6 workbooks. The whole battery system is replaced in year 10 at 100 percent of install cost, the same year as the last of ten level debt payments. In case 6 the replacement takes cash available for debt service to 109,516 USD against a payment of 171,027 USD: coverage 0.64 in that one year against 2.31 on average and above 2.0 in every other year. Case 5 stays above 2.2 throughout because its battery is small. Neither a reserve nor a longer tenor has been modelled, deliberately, so the raw effect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Benchmarks: Krungsri Research puts Thai C&amp;I rooftop at THB 20,000 to 25,000 per kWp (615 to 769 USD at 32.5); Farungsang, Varquez and Tokimatsu (MDPI Sustainability 17(15):7052, August 2025) assume 767 USD/kWp. The 500 USD/kWp used here is Keen's quotation, about 19 percent below the bottom of that range; a current quotation is better evidence than a published average, but every return in the deck scales off it. Curtailment: the site is modelled with no export, so surplus generation is lost; if export at any reasonable price can be negotiated, the larger systems improve and the optimal size rises. No price was assumed because none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storage conclusion has held at three price points and is treated as settled. The size is set by the roof, which has not been measured; the roof-limited storage case (5) is the base case and the unconstrained storage case (6) the upside if the measured roof allows it. Next steps in order of value: measure the roof; obtain an EPC quotation and check it against 500 USD/kWp; decide on grid export; supply monthly kVAR maxima if power factor is to be assessed. Permits: an ERC generation licence and an Aor.6 building modification permit are required; no environmental assessment below 5 MWp.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inputs are Allotrope estimates rather than confirmed figures and are marked 'PLACEHOLDER - pending Keen confirmation' on the Assumptions sheet of each workbook. The ones that move the answer are the roof area (and the PV cap derived from it), the debt fraction and tenor, and the insurance rate. The rest are immaterial at this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REopt (NREL) v0.57 via the Allotrope REopt API fork, HiGHS solver, 15 minute resolution, one metered year (2025). PVWatts irradiance and production factor for the site coordinates. Emissions from the TGO grid factor, not the optimiser. Permitting thresholds: initial environmental examination at 5 MWp, full assessment at 10 MWp; this project is under 3 MWp. Six workbooks accompany the memo, one per case, each with the full cash flow, the assumptions with sources, and the dispatch profile; case inputs, solver payload and raw results sit beside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4.xml"/><Relationship Id="rId3" Type="http://schemas.openxmlformats.org/officeDocument/2006/relationships/chart" Target="/ppt/charts/chart5.xml"/><Relationship Id="rId1" Type="http://schemas.openxmlformats.org/officeDocument/2006/relationships/image" Target="../media/image-11-1.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7.xm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8.xml"/><Relationship Id="rId3" Type="http://schemas.openxmlformats.org/officeDocument/2006/relationships/chart" Target="/ppt/charts/chart9.xml"/><Relationship Id="rId1" Type="http://schemas.openxmlformats.org/officeDocument/2006/relationships/image" Target="../media/image-14-1.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68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495300" y="552450"/>
            <a:ext cx="4095750" cy="5753100"/>
          </a:xfrm>
          <a:prstGeom prst="roundRect">
            <a:avLst>
              <a:gd name="adj" fmla="val 13023"/>
            </a:avLst>
          </a:prstGeom>
          <a:solidFill>
            <a:srgbClr val="17685F"/>
          </a:solidFill>
          <a:ln w="12700">
            <a:solidFill>
              <a:srgbClr val="17685F"/>
            </a:solidFill>
            <a:prstDash val="solid"/>
          </a:ln>
        </p:spPr>
      </p:sp>
      <p:sp>
        <p:nvSpPr>
          <p:cNvPr id="4" name="Text 1"/>
          <p:cNvSpPr txBox="1"/>
          <p:nvPr/>
        </p:nvSpPr>
        <p:spPr>
          <a:xfrm>
            <a:off x="876300" y="1619250"/>
            <a:ext cx="3429000" cy="142875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Rofu Thailand</a:t>
            </a:r>
            <a:endParaRPr lang="en-US" sz="3400" dirty="0"/>
          </a:p>
          <a:p>
            <a:pPr algn="l" indent="0" marL="0">
              <a:buNone/>
            </a:pPr>
            <a:r>
              <a:rPr lang="en-US" sz="3400" b="1" dirty="0">
                <a:solidFill>
                  <a:srgbClr val="FFFFFF"/>
                </a:solidFill>
                <a:latin typeface="Arial" pitchFamily="34" charset="0"/>
                <a:ea typeface="Arial" pitchFamily="34" charset="-122"/>
                <a:cs typeface="Arial" pitchFamily="34" charset="-120"/>
              </a:rPr>
              <a:t>rooftop solar and storage</a:t>
            </a:r>
            <a:endParaRPr lang="en-US" sz="3400" dirty="0"/>
          </a:p>
        </p:txBody>
      </p:sp>
      <p:sp>
        <p:nvSpPr>
          <p:cNvPr id="5" name="Text 2"/>
          <p:cNvSpPr txBox="1"/>
          <p:nvPr/>
        </p:nvSpPr>
        <p:spPr>
          <a:xfrm>
            <a:off x="876300" y="3333750"/>
            <a:ext cx="3333750" cy="1238250"/>
          </a:xfrm>
          <a:prstGeom prst="rect">
            <a:avLst/>
          </a:prstGeom>
          <a:noFill/>
          <a:ln/>
        </p:spPr>
        <p:txBody>
          <a:bodyPr wrap="square" lIns="0" tIns="0" rIns="0" bIns="0" rtlCol="0" anchor="t"/>
          <a:lstStyle/>
          <a:p>
            <a:pPr algn="l" indent="0" marL="0">
              <a:buNone/>
            </a:pPr>
            <a:r>
              <a:rPr lang="en-US" sz="1700" dirty="0">
                <a:solidFill>
                  <a:srgbClr val="FFFFFF"/>
                </a:solidFill>
                <a:latin typeface="Arial" pitchFamily="34" charset="0"/>
                <a:ea typeface="Arial" pitchFamily="34" charset="-122"/>
                <a:cs typeface="Arial" pitchFamily="34" charset="-120"/>
              </a:rPr>
              <a:t>Feasibility results: six configurations on the PEA time-of-use tariff, sized by optimisation and tested on a 20 year pro forma</a:t>
            </a:r>
            <a:endParaRPr lang="en-US" sz="1700" dirty="0"/>
          </a:p>
        </p:txBody>
      </p:sp>
      <p:sp>
        <p:nvSpPr>
          <p:cNvPr id="6" name="Text 3"/>
          <p:cNvSpPr txBox="1"/>
          <p:nvPr/>
        </p:nvSpPr>
        <p:spPr>
          <a:xfrm>
            <a:off x="876300" y="5334000"/>
            <a:ext cx="3238500" cy="571500"/>
          </a:xfrm>
          <a:prstGeom prst="rect">
            <a:avLst/>
          </a:prstGeom>
          <a:noFill/>
          <a:ln/>
        </p:spPr>
        <p:txBody>
          <a:bodyPr wrap="square" lIns="0" tIns="0" rIns="0" bIns="0" rtlCol="0" anchor="t"/>
          <a:lstStyle/>
          <a:p>
            <a:pPr algn="l" indent="0" marL="0">
              <a:buNone/>
            </a:pPr>
            <a:r>
              <a:rPr lang="en-US" sz="1400" dirty="0">
                <a:solidFill>
                  <a:srgbClr val="CFE7E2"/>
                </a:solidFill>
                <a:latin typeface="Arial" pitchFamily="34" charset="0"/>
                <a:ea typeface="Arial" pitchFamily="34" charset="-122"/>
                <a:cs typeface="Arial" pitchFamily="34" charset="-120"/>
              </a:rPr>
              <a:t>Prepared by Allotrope Partners</a:t>
            </a:r>
            <a:endParaRPr lang="en-US" sz="1400" dirty="0"/>
          </a:p>
          <a:p>
            <a:pPr algn="l" indent="0" marL="0">
              <a:buNone/>
            </a:pPr>
            <a:r>
              <a:rPr lang="en-US" sz="1400" dirty="0">
                <a:solidFill>
                  <a:srgbClr val="CFE7E2"/>
                </a:solidFill>
                <a:latin typeface="Arial" pitchFamily="34" charset="0"/>
                <a:ea typeface="Arial" pitchFamily="34" charset="-122"/>
                <a:cs typeface="Arial" pitchFamily="34" charset="-120"/>
              </a:rPr>
              <a:t>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Summary: solar pays at every roof size; storage is selected</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2</a:t>
            </a:r>
            <a:endParaRPr lang="en-US" sz="1000" dirty="0"/>
          </a:p>
        </p:txBody>
      </p:sp>
      <p:sp>
        <p:nvSpPr>
          <p:cNvPr id="8" name="Shape 4"/>
          <p:cNvSpPr/>
          <p:nvPr/>
        </p:nvSpPr>
        <p:spPr>
          <a:xfrm>
            <a:off x="514350" y="1200150"/>
            <a:ext cx="2628900" cy="1600200"/>
          </a:xfrm>
          <a:prstGeom prst="roundRect">
            <a:avLst>
              <a:gd name="adj" fmla="val 10714"/>
            </a:avLst>
          </a:prstGeom>
          <a:solidFill>
            <a:srgbClr val="FFFFFF"/>
          </a:solidFill>
          <a:ln w="12700">
            <a:solidFill>
              <a:srgbClr val="8AB8B0"/>
            </a:solidFill>
            <a:prstDash val="solid"/>
          </a:ln>
        </p:spPr>
      </p:sp>
      <p:sp>
        <p:nvSpPr>
          <p:cNvPr id="9" name="Text 5"/>
          <p:cNvSpPr txBox="1"/>
          <p:nvPr/>
        </p:nvSpPr>
        <p:spPr>
          <a:xfrm>
            <a:off x="685800" y="1314450"/>
            <a:ext cx="2286000" cy="640080"/>
          </a:xfrm>
          <a:prstGeom prst="rect">
            <a:avLst/>
          </a:prstGeom>
          <a:noFill/>
          <a:ln/>
        </p:spPr>
        <p:txBody>
          <a:bodyPr wrap="square" lIns="0" tIns="0" rIns="0" bIns="0" rtlCol="0" anchor="ctr"/>
          <a:lstStyle/>
          <a:p>
            <a:pPr algn="l" indent="0" marL="0">
              <a:buNone/>
            </a:pPr>
            <a:r>
              <a:rPr lang="en-US" sz="2100" b="1" dirty="0">
                <a:solidFill>
                  <a:srgbClr val="17685F"/>
                </a:solidFill>
                <a:latin typeface="Arial" pitchFamily="34" charset="0"/>
                <a:ea typeface="Arial" pitchFamily="34" charset="-122"/>
                <a:cs typeface="Arial" pitchFamily="34" charset="-120"/>
              </a:rPr>
              <a:t>1,685-2,106 kWp</a:t>
            </a:r>
            <a:endParaRPr lang="en-US" sz="2100" dirty="0"/>
          </a:p>
        </p:txBody>
      </p:sp>
      <p:sp>
        <p:nvSpPr>
          <p:cNvPr id="10" name="Text 6"/>
          <p:cNvSpPr txBox="1"/>
          <p:nvPr/>
        </p:nvSpPr>
        <p:spPr>
          <a:xfrm>
            <a:off x="685800" y="2000250"/>
            <a:ext cx="2286000" cy="736092"/>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usable roof range from the site survey; the economic optimum is larger (2,549 kWp without storage, 2,847 with)</a:t>
            </a:r>
            <a:endParaRPr lang="en-US" sz="1150" dirty="0"/>
          </a:p>
        </p:txBody>
      </p:sp>
      <p:sp>
        <p:nvSpPr>
          <p:cNvPr id="11" name="Shape 7"/>
          <p:cNvSpPr/>
          <p:nvPr/>
        </p:nvSpPr>
        <p:spPr>
          <a:xfrm>
            <a:off x="3333750" y="1200150"/>
            <a:ext cx="2628900" cy="1600200"/>
          </a:xfrm>
          <a:prstGeom prst="roundRect">
            <a:avLst>
              <a:gd name="adj" fmla="val 10714"/>
            </a:avLst>
          </a:prstGeom>
          <a:solidFill>
            <a:srgbClr val="FFFFFF"/>
          </a:solidFill>
          <a:ln w="12700">
            <a:solidFill>
              <a:srgbClr val="8AB8B0"/>
            </a:solidFill>
            <a:prstDash val="solid"/>
          </a:ln>
        </p:spPr>
      </p:sp>
      <p:sp>
        <p:nvSpPr>
          <p:cNvPr id="12" name="Text 8"/>
          <p:cNvSpPr txBox="1"/>
          <p:nvPr/>
        </p:nvSpPr>
        <p:spPr>
          <a:xfrm>
            <a:off x="3505200" y="1314450"/>
            <a:ext cx="2286000" cy="640080"/>
          </a:xfrm>
          <a:prstGeom prst="rect">
            <a:avLst/>
          </a:prstGeom>
          <a:noFill/>
          <a:ln/>
        </p:spPr>
        <p:txBody>
          <a:bodyPr wrap="square" lIns="0" tIns="0" rIns="0" bIns="0" rtlCol="0" anchor="ctr"/>
          <a:lstStyle/>
          <a:p>
            <a:pPr algn="l" indent="0" marL="0">
              <a:buNone/>
            </a:pPr>
            <a:r>
              <a:rPr lang="en-US" sz="2100" b="1" dirty="0">
                <a:solidFill>
                  <a:srgbClr val="17685F"/>
                </a:solidFill>
                <a:latin typeface="Arial" pitchFamily="34" charset="0"/>
                <a:ea typeface="Arial" pitchFamily="34" charset="-122"/>
                <a:cs typeface="Arial" pitchFamily="34" charset="-120"/>
              </a:rPr>
              <a:t>367-1,881 kWh</a:t>
            </a:r>
            <a:endParaRPr lang="en-US" sz="2100" dirty="0"/>
          </a:p>
        </p:txBody>
      </p:sp>
      <p:sp>
        <p:nvSpPr>
          <p:cNvPr id="13" name="Text 9"/>
          <p:cNvSpPr txBox="1"/>
          <p:nvPr/>
        </p:nvSpPr>
        <p:spPr>
          <a:xfrm>
            <a:off x="3505200" y="2000250"/>
            <a:ext cx="2286000" cy="736092"/>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storage selected at both ends of the range (222 kW at the roof-limited size, 507 kW unconstrained)</a:t>
            </a:r>
            <a:endParaRPr lang="en-US" sz="1150" dirty="0"/>
          </a:p>
        </p:txBody>
      </p:sp>
      <p:sp>
        <p:nvSpPr>
          <p:cNvPr id="14" name="Shape 10"/>
          <p:cNvSpPr/>
          <p:nvPr/>
        </p:nvSpPr>
        <p:spPr>
          <a:xfrm>
            <a:off x="6153150" y="1200150"/>
            <a:ext cx="2628900" cy="1600200"/>
          </a:xfrm>
          <a:prstGeom prst="roundRect">
            <a:avLst>
              <a:gd name="adj" fmla="val 10714"/>
            </a:avLst>
          </a:prstGeom>
          <a:solidFill>
            <a:srgbClr val="FFFFFF"/>
          </a:solidFill>
          <a:ln w="12700">
            <a:solidFill>
              <a:srgbClr val="8AB8B0"/>
            </a:solidFill>
            <a:prstDash val="solid"/>
          </a:ln>
        </p:spPr>
      </p:sp>
      <p:sp>
        <p:nvSpPr>
          <p:cNvPr id="15" name="Text 11"/>
          <p:cNvSpPr txBox="1"/>
          <p:nvPr/>
        </p:nvSpPr>
        <p:spPr>
          <a:xfrm>
            <a:off x="6324600" y="1314450"/>
            <a:ext cx="2286000" cy="640080"/>
          </a:xfrm>
          <a:prstGeom prst="rect">
            <a:avLst/>
          </a:prstGeom>
          <a:noFill/>
          <a:ln/>
        </p:spPr>
        <p:txBody>
          <a:bodyPr wrap="square" lIns="0" tIns="0" rIns="0" bIns="0" rtlCol="0" anchor="ctr"/>
          <a:lstStyle/>
          <a:p>
            <a:pPr algn="l" indent="0" marL="0">
              <a:buNone/>
            </a:pPr>
            <a:r>
              <a:rPr lang="en-US" sz="2100" b="1" dirty="0">
                <a:solidFill>
                  <a:srgbClr val="17685F"/>
                </a:solidFill>
                <a:latin typeface="Arial" pitchFamily="34" charset="0"/>
                <a:ea typeface="Arial" pitchFamily="34" charset="-122"/>
                <a:cs typeface="Arial" pitchFamily="34" charset="-120"/>
              </a:rPr>
              <a:t>273k-460k USD</a:t>
            </a:r>
            <a:endParaRPr lang="en-US" sz="2100" dirty="0"/>
          </a:p>
        </p:txBody>
      </p:sp>
      <p:sp>
        <p:nvSpPr>
          <p:cNvPr id="16" name="Text 12"/>
          <p:cNvSpPr txBox="1"/>
          <p:nvPr/>
        </p:nvSpPr>
        <p:spPr>
          <a:xfrm>
            <a:off x="6324600" y="2000250"/>
            <a:ext cx="2286000" cy="736092"/>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year-1 bill savings against a business-as-usual bill of 843,443 USD</a:t>
            </a:r>
            <a:endParaRPr lang="en-US" sz="1150" dirty="0"/>
          </a:p>
        </p:txBody>
      </p:sp>
      <p:sp>
        <p:nvSpPr>
          <p:cNvPr id="17" name="Shape 13"/>
          <p:cNvSpPr/>
          <p:nvPr/>
        </p:nvSpPr>
        <p:spPr>
          <a:xfrm>
            <a:off x="8972550" y="1200150"/>
            <a:ext cx="2628900" cy="1600200"/>
          </a:xfrm>
          <a:prstGeom prst="roundRect">
            <a:avLst>
              <a:gd name="adj" fmla="val 10714"/>
            </a:avLst>
          </a:prstGeom>
          <a:solidFill>
            <a:srgbClr val="FFFFFF"/>
          </a:solidFill>
          <a:ln w="12700">
            <a:solidFill>
              <a:srgbClr val="8AB8B0"/>
            </a:solidFill>
            <a:prstDash val="solid"/>
          </a:ln>
        </p:spPr>
      </p:sp>
      <p:sp>
        <p:nvSpPr>
          <p:cNvPr id="18" name="Text 14"/>
          <p:cNvSpPr txBox="1"/>
          <p:nvPr/>
        </p:nvSpPr>
        <p:spPr>
          <a:xfrm>
            <a:off x="9144000" y="1314450"/>
            <a:ext cx="2286000" cy="640080"/>
          </a:xfrm>
          <a:prstGeom prst="rect">
            <a:avLst/>
          </a:prstGeom>
          <a:noFill/>
          <a:ln/>
        </p:spPr>
        <p:txBody>
          <a:bodyPr wrap="square" lIns="0" tIns="0" rIns="0" bIns="0" rtlCol="0" anchor="ctr"/>
          <a:lstStyle/>
          <a:p>
            <a:pPr algn="l" indent="0" marL="0">
              <a:buNone/>
            </a:pPr>
            <a:r>
              <a:rPr lang="en-US" sz="2100" b="1" dirty="0">
                <a:solidFill>
                  <a:srgbClr val="17685F"/>
                </a:solidFill>
                <a:latin typeface="Arial" pitchFamily="34" charset="0"/>
                <a:ea typeface="Arial" pitchFamily="34" charset="-122"/>
                <a:cs typeface="Arial" pitchFamily="34" charset="-120"/>
              </a:rPr>
              <a:t>1.30-1.86 M USD</a:t>
            </a:r>
            <a:endParaRPr lang="en-US" sz="2100" dirty="0"/>
          </a:p>
        </p:txBody>
      </p:sp>
      <p:sp>
        <p:nvSpPr>
          <p:cNvPr id="19" name="Text 15"/>
          <p:cNvSpPr txBox="1"/>
          <p:nvPr/>
        </p:nvSpPr>
        <p:spPr>
          <a:xfrm>
            <a:off x="9144000" y="2000250"/>
            <a:ext cx="2286000" cy="736092"/>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equity NPV at 11 percent over 20 years; equity IRR 50 to 66 percent on 70 percent debt</a:t>
            </a:r>
            <a:endParaRPr lang="en-US" sz="1150" dirty="0"/>
          </a:p>
        </p:txBody>
      </p:sp>
      <p:sp>
        <p:nvSpPr>
          <p:cNvPr id="20" name="Text 16"/>
          <p:cNvSpPr txBox="1"/>
          <p:nvPr/>
        </p:nvSpPr>
        <p:spPr>
          <a:xfrm>
            <a:off x="514350" y="3028950"/>
            <a:ext cx="5715000" cy="285750"/>
          </a:xfrm>
          <a:prstGeom prst="rect">
            <a:avLst/>
          </a:prstGeom>
          <a:noFill/>
          <a:ln/>
        </p:spPr>
        <p:txBody>
          <a:bodyPr wrap="square" lIns="0" tIns="0" rIns="0" bIns="0" rtlCol="0" anchor="t"/>
          <a:lstStyle/>
          <a:p>
            <a:pPr algn="l" indent="0" marL="0">
              <a:buNone/>
            </a:pPr>
            <a:r>
              <a:rPr lang="en-US" sz="1800" b="1" dirty="0">
                <a:solidFill>
                  <a:srgbClr val="17685F"/>
                </a:solidFill>
                <a:latin typeface="Arial" pitchFamily="34" charset="0"/>
                <a:ea typeface="Arial" pitchFamily="34" charset="-122"/>
                <a:cs typeface="Arial" pitchFamily="34" charset="-120"/>
              </a:rPr>
              <a:t>What the analysis found</a:t>
            </a:r>
            <a:endParaRPr lang="en-US" sz="1800" dirty="0"/>
          </a:p>
        </p:txBody>
      </p:sp>
      <p:sp>
        <p:nvSpPr>
          <p:cNvPr id="21" name="Text 17"/>
          <p:cNvSpPr txBox="1"/>
          <p:nvPr/>
        </p:nvSpPr>
        <p:spPr>
          <a:xfrm>
            <a:off x="514350" y="3390900"/>
            <a:ext cx="6858000" cy="28575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43B37"/>
                </a:solidFill>
                <a:latin typeface="Arial" pitchFamily="34" charset="0"/>
                <a:ea typeface="Arial" pitchFamily="34" charset="-122"/>
                <a:cs typeface="Arial" pitchFamily="34" charset="-120"/>
              </a:rPr>
              <a:t>Every roof case is strongly positive: equity IRR above 60 percent and simple equity payback under two years, driven by a 500 USD/kWp installed cost that sits below published Thai benchmarks.</a:t>
            </a:r>
            <a:endParaRPr lang="en-US" sz="1400" dirty="0"/>
          </a:p>
          <a:p>
            <a:pPr marL="203200" indent="-203200">
              <a:spcAft>
                <a:spcPts val="800"/>
              </a:spcAft>
              <a:buSzPct val="100000"/>
              <a:buChar char="•"/>
            </a:pPr>
            <a:r>
              <a:rPr lang="en-US" sz="1400" dirty="0">
                <a:solidFill>
                  <a:srgbClr val="143B37"/>
                </a:solidFill>
                <a:latin typeface="Arial" pitchFamily="34" charset="0"/>
                <a:ea typeface="Arial" pitchFamily="34" charset="-122"/>
                <a:cs typeface="Arial" pitchFamily="34" charset="-120"/>
              </a:rPr>
              <a:t>The roof, not the economics, sets the size. Each square metre confirmed adds value up to about 2.5 to 2.8 MWp.</a:t>
            </a:r>
            <a:endParaRPr lang="en-US" sz="1400" dirty="0"/>
          </a:p>
          <a:p>
            <a:pPr marL="203200" indent="-203200">
              <a:spcAft>
                <a:spcPts val="800"/>
              </a:spcAft>
              <a:buSzPct val="100000"/>
              <a:buChar char="•"/>
            </a:pPr>
            <a:r>
              <a:rPr lang="en-US" sz="1400" dirty="0">
                <a:solidFill>
                  <a:srgbClr val="143B37"/>
                </a:solidFill>
                <a:latin typeface="Arial" pitchFamily="34" charset="0"/>
                <a:ea typeface="Arial" pitchFamily="34" charset="-122"/>
                <a:cs typeface="Arial" pitchFamily="34" charset="-120"/>
              </a:rPr>
              <a:t>The site cannot export, so 9 to 19 percent of production is curtailed depending on size; storage recovers part of it and clips the on-peak demand charge.</a:t>
            </a:r>
            <a:endParaRPr lang="en-US" sz="1400" dirty="0"/>
          </a:p>
          <a:p>
            <a:pPr marL="203200" indent="-203200">
              <a:spcAft>
                <a:spcPts val="800"/>
              </a:spcAft>
              <a:buSzPct val="100000"/>
              <a:buChar char="•"/>
            </a:pPr>
            <a:r>
              <a:rPr lang="en-US" sz="1400" dirty="0">
                <a:solidFill>
                  <a:srgbClr val="143B37"/>
                </a:solidFill>
                <a:latin typeface="Arial" pitchFamily="34" charset="0"/>
                <a:ea typeface="Arial" pitchFamily="34" charset="-122"/>
                <a:cs typeface="Arial" pitchFamily="34" charset="-120"/>
              </a:rPr>
              <a:t>The battery is replaced in full in year 10, the final loan year. Case 6 shows a one-year coverage dip that a reserve or a longer tenor removes.</a:t>
            </a:r>
            <a:endParaRPr lang="en-US" sz="1400" dirty="0"/>
          </a:p>
        </p:txBody>
      </p:sp>
      <p:sp>
        <p:nvSpPr>
          <p:cNvPr id="22" name="Shape 18"/>
          <p:cNvSpPr/>
          <p:nvPr/>
        </p:nvSpPr>
        <p:spPr>
          <a:xfrm>
            <a:off x="7734300" y="3028950"/>
            <a:ext cx="4000500" cy="3162300"/>
          </a:xfrm>
          <a:prstGeom prst="roundRect">
            <a:avLst>
              <a:gd name="adj" fmla="val 5422"/>
            </a:avLst>
          </a:prstGeom>
          <a:solidFill>
            <a:srgbClr val="17685F"/>
          </a:solidFill>
          <a:ln w="12700">
            <a:solidFill>
              <a:srgbClr val="17685F"/>
            </a:solidFill>
            <a:prstDash val="solid"/>
          </a:ln>
        </p:spPr>
      </p:sp>
      <p:sp>
        <p:nvSpPr>
          <p:cNvPr id="23" name="Text 19"/>
          <p:cNvSpPr txBox="1"/>
          <p:nvPr/>
        </p:nvSpPr>
        <p:spPr>
          <a:xfrm>
            <a:off x="8001000" y="3238500"/>
            <a:ext cx="3524250" cy="28575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Recommended path</a:t>
            </a:r>
            <a:endParaRPr lang="en-US" sz="1800" dirty="0"/>
          </a:p>
        </p:txBody>
      </p:sp>
      <p:sp>
        <p:nvSpPr>
          <p:cNvPr id="24" name="Text 20"/>
          <p:cNvSpPr txBox="1"/>
          <p:nvPr/>
        </p:nvSpPr>
        <p:spPr>
          <a:xfrm>
            <a:off x="8001000" y="3619500"/>
            <a:ext cx="3524250" cy="247650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FFFFFF"/>
                </a:solidFill>
                <a:latin typeface="Arial" pitchFamily="34" charset="0"/>
                <a:ea typeface="Arial" pitchFamily="34" charset="-122"/>
                <a:cs typeface="Arial" pitchFamily="34" charset="-120"/>
              </a:rPr>
              <a:t>Base case: the roof-limited array with storage (case 5): 1,685 kWp, 222 kW / 367 kWh, 919,716 USD capex, NPV 1.35 M USD.</a:t>
            </a:r>
            <a:endParaRPr lang="en-US" sz="1300" dirty="0"/>
          </a:p>
          <a:p>
            <a:pPr marL="203200" indent="-203200">
              <a:spcAft>
                <a:spcPts val="800"/>
              </a:spcAft>
              <a:buSzPct val="100000"/>
              <a:buChar char="•"/>
            </a:pPr>
            <a:r>
              <a:rPr lang="en-US" sz="1300" dirty="0">
                <a:solidFill>
                  <a:srgbClr val="FFFFFF"/>
                </a:solidFill>
                <a:latin typeface="Arial" pitchFamily="34" charset="0"/>
                <a:ea typeface="Arial" pitchFamily="34" charset="-122"/>
                <a:cs typeface="Arial" pitchFamily="34" charset="-120"/>
              </a:rPr>
              <a:t>Upside: the unconstrained array with storage (case 6) if the measured roof allows it: 2,847 kWp, NPV 1.86 M USD.</a:t>
            </a:r>
            <a:endParaRPr lang="en-US" sz="1300" dirty="0"/>
          </a:p>
          <a:p>
            <a:pPr marL="203200" indent="-203200">
              <a:spcAft>
                <a:spcPts val="800"/>
              </a:spcAft>
              <a:buSzPct val="100000"/>
              <a:buChar char="•"/>
            </a:pPr>
            <a:r>
              <a:rPr lang="en-US" sz="1300" dirty="0">
                <a:solidFill>
                  <a:srgbClr val="FFFFFF"/>
                </a:solidFill>
                <a:latin typeface="Arial" pitchFamily="34" charset="0"/>
                <a:ea typeface="Arial" pitchFamily="34" charset="-122"/>
                <a:cs typeface="Arial" pitchFamily="34" charset="-120"/>
              </a:rPr>
              <a:t>Next: measure the roof, obtain an EPC quotation against 500 USD/kWp, decide on grid export, supply monthly kVAR data.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Scope and method</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3</a:t>
            </a:r>
            <a:endParaRPr lang="en-US" sz="1000" dirty="0"/>
          </a:p>
        </p:txBody>
      </p:sp>
      <p:sp>
        <p:nvSpPr>
          <p:cNvPr id="8" name="Text 4"/>
          <p:cNvSpPr txBox="1"/>
          <p:nvPr/>
        </p:nvSpPr>
        <p:spPr>
          <a:xfrm>
            <a:off x="514350" y="1219200"/>
            <a:ext cx="3619500" cy="285750"/>
          </a:xfrm>
          <a:prstGeom prst="rect">
            <a:avLst/>
          </a:prstGeom>
          <a:noFill/>
          <a:ln/>
        </p:spPr>
        <p:txBody>
          <a:bodyPr wrap="square" lIns="0" tIns="0" rIns="0" bIns="0" rtlCol="0" anchor="t"/>
          <a:lstStyle/>
          <a:p>
            <a:pPr algn="l" indent="0" marL="0">
              <a:buNone/>
            </a:pPr>
            <a:r>
              <a:rPr lang="en-US" sz="1800" b="1" dirty="0">
                <a:solidFill>
                  <a:srgbClr val="17685F"/>
                </a:solidFill>
                <a:latin typeface="Arial" pitchFamily="34" charset="0"/>
                <a:ea typeface="Arial" pitchFamily="34" charset="-122"/>
                <a:cs typeface="Arial" pitchFamily="34" charset="-120"/>
              </a:rPr>
              <a:t>Question</a:t>
            </a:r>
            <a:endParaRPr lang="en-US" sz="1800" dirty="0"/>
          </a:p>
        </p:txBody>
      </p:sp>
      <p:sp>
        <p:nvSpPr>
          <p:cNvPr id="9" name="Text 5"/>
          <p:cNvSpPr txBox="1"/>
          <p:nvPr/>
        </p:nvSpPr>
        <p:spPr>
          <a:xfrm>
            <a:off x="514350" y="1543050"/>
            <a:ext cx="3619500" cy="1143000"/>
          </a:xfrm>
          <a:prstGeom prst="rect">
            <a:avLst/>
          </a:prstGeom>
          <a:noFill/>
          <a:ln/>
        </p:spPr>
        <p:txBody>
          <a:bodyPr wrap="square" lIns="0" tIns="0" rIns="0" bIns="0" rtlCol="0" anchor="t"/>
          <a:lstStyle/>
          <a:p>
            <a:pPr algn="l" indent="0" marL="0">
              <a:buNone/>
            </a:pPr>
            <a:r>
              <a:rPr lang="en-US" sz="1400" dirty="0">
                <a:solidFill>
                  <a:srgbClr val="143B37"/>
                </a:solidFill>
                <a:latin typeface="Arial" pitchFamily="34" charset="0"/>
                <a:ea typeface="Arial" pitchFamily="34" charset="-122"/>
                <a:cs typeface="Arial" pitchFamily="34" charset="-120"/>
              </a:rPr>
              <a:t>How much rooftop solar, with or without battery storage, should Rofu Thailand install under its current PEA tariff, and what does the investment return over 20 years?</a:t>
            </a:r>
            <a:endParaRPr lang="en-US" sz="1400" dirty="0"/>
          </a:p>
        </p:txBody>
      </p:sp>
      <p:sp>
        <p:nvSpPr>
          <p:cNvPr id="10" name="Text 6"/>
          <p:cNvSpPr txBox="1"/>
          <p:nvPr/>
        </p:nvSpPr>
        <p:spPr>
          <a:xfrm>
            <a:off x="514350" y="2857500"/>
            <a:ext cx="3619500" cy="285750"/>
          </a:xfrm>
          <a:prstGeom prst="rect">
            <a:avLst/>
          </a:prstGeom>
          <a:noFill/>
          <a:ln/>
        </p:spPr>
        <p:txBody>
          <a:bodyPr wrap="square" lIns="0" tIns="0" rIns="0" bIns="0" rtlCol="0" anchor="t"/>
          <a:lstStyle/>
          <a:p>
            <a:pPr algn="l" indent="0" marL="0">
              <a:buNone/>
            </a:pPr>
            <a:r>
              <a:rPr lang="en-US" sz="1800" b="1" dirty="0">
                <a:solidFill>
                  <a:srgbClr val="17685F"/>
                </a:solidFill>
                <a:latin typeface="Arial" pitchFamily="34" charset="0"/>
                <a:ea typeface="Arial" pitchFamily="34" charset="-122"/>
                <a:cs typeface="Arial" pitchFamily="34" charset="-120"/>
              </a:rPr>
              <a:t>Method</a:t>
            </a:r>
            <a:endParaRPr lang="en-US" sz="1800" dirty="0"/>
          </a:p>
        </p:txBody>
      </p:sp>
      <p:sp>
        <p:nvSpPr>
          <p:cNvPr id="11" name="Text 7"/>
          <p:cNvSpPr txBox="1"/>
          <p:nvPr/>
        </p:nvSpPr>
        <p:spPr>
          <a:xfrm>
            <a:off x="514350" y="3200400"/>
            <a:ext cx="3619500" cy="285750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143B37"/>
                </a:solidFill>
                <a:latin typeface="Arial" pitchFamily="34" charset="0"/>
                <a:ea typeface="Arial" pitchFamily="34" charset="-122"/>
                <a:cs typeface="Arial" pitchFamily="34" charset="-120"/>
              </a:rPr>
              <a:t>Dispatch and sizing: REopt optimisation at 15 minute resolution, one full year of metered load, PVWatts irradiance for Phimai, no grid export.</a:t>
            </a:r>
            <a:endParaRPr lang="en-US" sz="1300" dirty="0"/>
          </a:p>
          <a:p>
            <a:pPr marL="203200" indent="-203200">
              <a:spcAft>
                <a:spcPts val="800"/>
              </a:spcAft>
              <a:buSzPct val="100000"/>
              <a:buChar char="•"/>
            </a:pPr>
            <a:r>
              <a:rPr lang="en-US" sz="1300" dirty="0">
                <a:solidFill>
                  <a:srgbClr val="143B37"/>
                </a:solidFill>
                <a:latin typeface="Arial" pitchFamily="34" charset="0"/>
                <a:ea typeface="Arial" pitchFamily="34" charset="-122"/>
                <a:cs typeface="Arial" pitchFamily="34" charset="-120"/>
              </a:rPr>
              <a:t>Economics: 20 year pro forma, direct ownership by the factory, 70 percent debt, Thai CIT and depreciation.</a:t>
            </a:r>
            <a:endParaRPr lang="en-US" sz="1300" dirty="0"/>
          </a:p>
          <a:p>
            <a:pPr marL="203200" indent="-203200">
              <a:spcAft>
                <a:spcPts val="800"/>
              </a:spcAft>
              <a:buSzPct val="100000"/>
              <a:buChar char="•"/>
            </a:pPr>
            <a:r>
              <a:rPr lang="en-US" sz="1300" dirty="0">
                <a:solidFill>
                  <a:srgbClr val="143B37"/>
                </a:solidFill>
                <a:latin typeface="Arial" pitchFamily="34" charset="0"/>
                <a:ea typeface="Arial" pitchFamily="34" charset="-122"/>
                <a:cs typeface="Arial" pitchFamily="34" charset="-120"/>
              </a:rPr>
              <a:t>Six cases: three roof sizes, one unconstrained size, and the two storage variants.</a:t>
            </a:r>
            <a:endParaRPr lang="en-US" sz="1300" dirty="0"/>
          </a:p>
        </p:txBody>
      </p:sp>
      <p:sp>
        <p:nvSpPr>
          <p:cNvPr id="12" name="Text 8"/>
          <p:cNvSpPr txBox="1"/>
          <p:nvPr/>
        </p:nvSpPr>
        <p:spPr>
          <a:xfrm>
            <a:off x="4667250" y="1219200"/>
            <a:ext cx="7048500" cy="285750"/>
          </a:xfrm>
          <a:prstGeom prst="rect">
            <a:avLst/>
          </a:prstGeom>
          <a:noFill/>
          <a:ln/>
        </p:spPr>
        <p:txBody>
          <a:bodyPr wrap="square" lIns="0" tIns="0" rIns="0" bIns="0" rtlCol="0" anchor="t"/>
          <a:lstStyle/>
          <a:p>
            <a:pPr algn="l" indent="0" marL="0">
              <a:buNone/>
            </a:pPr>
            <a:r>
              <a:rPr lang="en-US" sz="1800" b="1" dirty="0">
                <a:solidFill>
                  <a:srgbClr val="17685F"/>
                </a:solidFill>
                <a:latin typeface="Arial" pitchFamily="34" charset="0"/>
                <a:ea typeface="Arial" pitchFamily="34" charset="-122"/>
                <a:cs typeface="Arial" pitchFamily="34" charset="-120"/>
              </a:rPr>
              <a:t>How the battery conclusion was tested</a:t>
            </a:r>
            <a:endParaRPr lang="en-US" sz="1800" dirty="0"/>
          </a:p>
        </p:txBody>
      </p:sp>
      <p:sp>
        <p:nvSpPr>
          <p:cNvPr id="13" name="Shape 9"/>
          <p:cNvSpPr/>
          <p:nvPr/>
        </p:nvSpPr>
        <p:spPr>
          <a:xfrm>
            <a:off x="4667250" y="1600200"/>
            <a:ext cx="7048500" cy="1409700"/>
          </a:xfrm>
          <a:prstGeom prst="roundRect">
            <a:avLst>
              <a:gd name="adj" fmla="val 12162"/>
            </a:avLst>
          </a:prstGeom>
          <a:solidFill>
            <a:srgbClr val="B7D9D2"/>
          </a:solidFill>
          <a:ln w="12700">
            <a:solidFill>
              <a:srgbClr val="B7D9D2"/>
            </a:solidFill>
            <a:prstDash val="solid"/>
          </a:ln>
        </p:spPr>
      </p:sp>
      <p:sp>
        <p:nvSpPr>
          <p:cNvPr id="14" name="Text 10"/>
          <p:cNvSpPr txBox="1"/>
          <p:nvPr/>
        </p:nvSpPr>
        <p:spPr>
          <a:xfrm>
            <a:off x="4876800" y="1771650"/>
            <a:ext cx="381000" cy="419100"/>
          </a:xfrm>
          <a:prstGeom prst="rect">
            <a:avLst/>
          </a:prstGeom>
          <a:noFill/>
          <a:ln/>
        </p:spPr>
        <p:txBody>
          <a:bodyPr wrap="square" lIns="0" tIns="0" rIns="0" bIns="0" rtlCol="0" anchor="t"/>
          <a:lstStyle/>
          <a:p>
            <a:pPr algn="l" indent="0" marL="0">
              <a:buNone/>
            </a:pPr>
            <a:r>
              <a:rPr lang="en-US" sz="3000" b="1" dirty="0">
                <a:solidFill>
                  <a:srgbClr val="143B37"/>
                </a:solidFill>
                <a:latin typeface="Arial" pitchFamily="34" charset="0"/>
                <a:ea typeface="Arial" pitchFamily="34" charset="-122"/>
                <a:cs typeface="Arial" pitchFamily="34" charset="-120"/>
              </a:rPr>
              <a:t>1</a:t>
            </a:r>
            <a:endParaRPr lang="en-US" sz="3000" dirty="0"/>
          </a:p>
        </p:txBody>
      </p:sp>
      <p:sp>
        <p:nvSpPr>
          <p:cNvPr id="15" name="Text 11"/>
          <p:cNvSpPr txBox="1"/>
          <p:nvPr/>
        </p:nvSpPr>
        <p:spPr>
          <a:xfrm>
            <a:off x="5391150" y="1752600"/>
            <a:ext cx="6096000" cy="285750"/>
          </a:xfrm>
          <a:prstGeom prst="rect">
            <a:avLst/>
          </a:prstGeom>
          <a:noFill/>
          <a:ln/>
        </p:spPr>
        <p:txBody>
          <a:bodyPr wrap="square" lIns="0" tIns="0" rIns="0" bIns="0" rtlCol="0" anchor="t"/>
          <a:lstStyle/>
          <a:p>
            <a:pPr algn="l" indent="0" marL="0">
              <a:buNone/>
            </a:pPr>
            <a:r>
              <a:rPr lang="en-US" sz="1700" b="1" dirty="0">
                <a:solidFill>
                  <a:srgbClr val="143B37"/>
                </a:solidFill>
                <a:latin typeface="Arial" pitchFamily="34" charset="0"/>
                <a:ea typeface="Arial" pitchFamily="34" charset="-122"/>
                <a:cs typeface="Arial" pitchFamily="34" charset="-120"/>
              </a:rPr>
              <a:t>Initial price</a:t>
            </a:r>
            <a:endParaRPr lang="en-US" sz="1700" dirty="0"/>
          </a:p>
        </p:txBody>
      </p:sp>
      <p:sp>
        <p:nvSpPr>
          <p:cNvPr id="16" name="Text 12"/>
          <p:cNvSpPr txBox="1"/>
          <p:nvPr/>
        </p:nvSpPr>
        <p:spPr>
          <a:xfrm>
            <a:off x="5391150" y="2076450"/>
            <a:ext cx="6096000" cy="419100"/>
          </a:xfrm>
          <a:prstGeom prst="rect">
            <a:avLst/>
          </a:prstGeom>
          <a:noFill/>
          <a:ln/>
        </p:spPr>
        <p:txBody>
          <a:bodyPr wrap="square" lIns="0" tIns="0" rIns="0" bIns="0" rtlCol="0" anchor="t"/>
          <a:lstStyle/>
          <a:p>
            <a:pPr algn="l" indent="0" marL="0">
              <a:buNone/>
            </a:pPr>
            <a:r>
              <a:rPr lang="en-US" sz="1250" dirty="0">
                <a:solidFill>
                  <a:srgbClr val="143B37"/>
                </a:solidFill>
                <a:latin typeface="Arial" pitchFamily="34" charset="0"/>
                <a:ea typeface="Arial" pitchFamily="34" charset="-122"/>
                <a:cs typeface="Arial" pitchFamily="34" charset="-120"/>
              </a:rPr>
              <a:t>300 USD/kW + 250 USD/kWh (675 USD/kW installed for 1.5 h)</a:t>
            </a:r>
            <a:endParaRPr lang="en-US" sz="1250" dirty="0"/>
          </a:p>
        </p:txBody>
      </p:sp>
      <p:sp>
        <p:nvSpPr>
          <p:cNvPr id="17" name="Text 13"/>
          <p:cNvSpPr txBox="1"/>
          <p:nvPr/>
        </p:nvSpPr>
        <p:spPr>
          <a:xfrm>
            <a:off x="5391150" y="2552700"/>
            <a:ext cx="6096000" cy="381000"/>
          </a:xfrm>
          <a:prstGeom prst="rect">
            <a:avLst/>
          </a:prstGeom>
          <a:noFill/>
          <a:ln/>
        </p:spPr>
        <p:txBody>
          <a:bodyPr wrap="square" lIns="0" tIns="0" rIns="0" bIns="0" rtlCol="0" anchor="t"/>
          <a:lstStyle/>
          <a:p>
            <a:pPr algn="l" indent="0" marL="0">
              <a:buNone/>
            </a:pPr>
            <a:r>
              <a:rPr lang="en-US" sz="1300" b="1" dirty="0">
                <a:solidFill>
                  <a:srgbClr val="143B37"/>
                </a:solidFill>
                <a:latin typeface="Arial" pitchFamily="34" charset="0"/>
                <a:ea typeface="Arial" pitchFamily="34" charset="-122"/>
                <a:cs typeface="Arial" pitchFamily="34" charset="-120"/>
              </a:rPr>
              <a:t>Storage rejected by the optimiser</a:t>
            </a:r>
            <a:endParaRPr lang="en-US" sz="1300" dirty="0"/>
          </a:p>
        </p:txBody>
      </p:sp>
      <p:sp>
        <p:nvSpPr>
          <p:cNvPr id="18" name="Shape 14"/>
          <p:cNvSpPr/>
          <p:nvPr/>
        </p:nvSpPr>
        <p:spPr>
          <a:xfrm>
            <a:off x="4667250" y="3143250"/>
            <a:ext cx="7048500" cy="1409700"/>
          </a:xfrm>
          <a:prstGeom prst="roundRect">
            <a:avLst>
              <a:gd name="adj" fmla="val 12162"/>
            </a:avLst>
          </a:prstGeom>
          <a:solidFill>
            <a:srgbClr val="3F8E73"/>
          </a:solidFill>
          <a:ln w="12700">
            <a:solidFill>
              <a:srgbClr val="3F8E73"/>
            </a:solidFill>
            <a:prstDash val="solid"/>
          </a:ln>
        </p:spPr>
      </p:sp>
      <p:sp>
        <p:nvSpPr>
          <p:cNvPr id="19" name="Text 15"/>
          <p:cNvSpPr txBox="1"/>
          <p:nvPr/>
        </p:nvSpPr>
        <p:spPr>
          <a:xfrm>
            <a:off x="4876800" y="3314700"/>
            <a:ext cx="381000" cy="41910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20" name="Text 16"/>
          <p:cNvSpPr txBox="1"/>
          <p:nvPr/>
        </p:nvSpPr>
        <p:spPr>
          <a:xfrm>
            <a:off x="5391150" y="3295650"/>
            <a:ext cx="6096000" cy="28575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Keen quotation</a:t>
            </a:r>
            <a:endParaRPr lang="en-US" sz="1700" dirty="0"/>
          </a:p>
        </p:txBody>
      </p:sp>
      <p:sp>
        <p:nvSpPr>
          <p:cNvPr id="21" name="Text 17"/>
          <p:cNvSpPr txBox="1"/>
          <p:nvPr/>
        </p:nvSpPr>
        <p:spPr>
          <a:xfrm>
            <a:off x="5391150" y="3619500"/>
            <a:ext cx="6096000" cy="419100"/>
          </a:xfrm>
          <a:prstGeom prst="rect">
            <a:avLst/>
          </a:prstGeom>
          <a:noFill/>
          <a:ln/>
        </p:spPr>
        <p:txBody>
          <a:bodyPr wrap="square" lIns="0" tIns="0" rIns="0" bIns="0" rtlCol="0" anchor="t"/>
          <a:lstStyle/>
          <a:p>
            <a:pPr algn="l" indent="0" marL="0">
              <a:buNone/>
            </a:pPr>
            <a:r>
              <a:rPr lang="en-US" sz="1250" dirty="0">
                <a:solidFill>
                  <a:srgbClr val="FFFFFF"/>
                </a:solidFill>
                <a:latin typeface="Arial" pitchFamily="34" charset="0"/>
                <a:ea typeface="Arial" pitchFamily="34" charset="-122"/>
                <a:cs typeface="Arial" pitchFamily="34" charset="-120"/>
              </a:rPr>
              <a:t>100 USD/kW + 150 USD/kWh (325 USD/kW installed); year-10 replacement at 70 percent of install</a:t>
            </a:r>
            <a:endParaRPr lang="en-US" sz="1250" dirty="0"/>
          </a:p>
        </p:txBody>
      </p:sp>
      <p:sp>
        <p:nvSpPr>
          <p:cNvPr id="22" name="Text 18"/>
          <p:cNvSpPr txBox="1"/>
          <p:nvPr/>
        </p:nvSpPr>
        <p:spPr>
          <a:xfrm>
            <a:off x="5391150" y="4095750"/>
            <a:ext cx="6096000" cy="381000"/>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Storage selected: 429 kWh roof-limited, 2,378 kWh unconstrained</a:t>
            </a:r>
            <a:endParaRPr lang="en-US" sz="1300" dirty="0"/>
          </a:p>
        </p:txBody>
      </p:sp>
      <p:sp>
        <p:nvSpPr>
          <p:cNvPr id="23" name="Shape 19"/>
          <p:cNvSpPr/>
          <p:nvPr/>
        </p:nvSpPr>
        <p:spPr>
          <a:xfrm>
            <a:off x="4667250" y="4686300"/>
            <a:ext cx="7048500" cy="1409700"/>
          </a:xfrm>
          <a:prstGeom prst="roundRect">
            <a:avLst>
              <a:gd name="adj" fmla="val 12162"/>
            </a:avLst>
          </a:prstGeom>
          <a:solidFill>
            <a:srgbClr val="17685F"/>
          </a:solidFill>
          <a:ln w="12700">
            <a:solidFill>
              <a:srgbClr val="17685F"/>
            </a:solidFill>
            <a:prstDash val="solid"/>
          </a:ln>
        </p:spPr>
      </p:sp>
      <p:sp>
        <p:nvSpPr>
          <p:cNvPr id="24" name="Text 20"/>
          <p:cNvSpPr txBox="1"/>
          <p:nvPr/>
        </p:nvSpPr>
        <p:spPr>
          <a:xfrm>
            <a:off x="4876800" y="4857750"/>
            <a:ext cx="381000" cy="41910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25" name="Text 21"/>
          <p:cNvSpPr txBox="1"/>
          <p:nvPr/>
        </p:nvSpPr>
        <p:spPr>
          <a:xfrm>
            <a:off x="5391150" y="4838700"/>
            <a:ext cx="6096000" cy="28575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Conservative replacement</a:t>
            </a:r>
            <a:endParaRPr lang="en-US" sz="1700" dirty="0"/>
          </a:p>
        </p:txBody>
      </p:sp>
      <p:sp>
        <p:nvSpPr>
          <p:cNvPr id="26" name="Text 22"/>
          <p:cNvSpPr txBox="1"/>
          <p:nvPr/>
        </p:nvSpPr>
        <p:spPr>
          <a:xfrm>
            <a:off x="5391150" y="5162550"/>
            <a:ext cx="6096000" cy="419100"/>
          </a:xfrm>
          <a:prstGeom prst="rect">
            <a:avLst/>
          </a:prstGeom>
          <a:noFill/>
          <a:ln/>
        </p:spPr>
        <p:txBody>
          <a:bodyPr wrap="square" lIns="0" tIns="0" rIns="0" bIns="0" rtlCol="0" anchor="t"/>
          <a:lstStyle/>
          <a:p>
            <a:pPr algn="l" indent="0" marL="0">
              <a:buNone/>
            </a:pPr>
            <a:r>
              <a:rPr lang="en-US" sz="1250" dirty="0">
                <a:solidFill>
                  <a:srgbClr val="FFFFFF"/>
                </a:solidFill>
                <a:latin typeface="Arial" pitchFamily="34" charset="0"/>
                <a:ea typeface="Arial" pitchFamily="34" charset="-122"/>
                <a:cs typeface="Arial" pitchFamily="34" charset="-120"/>
              </a:rPr>
              <a:t>Same prices; the whole battery system replaced in year 10 at 100 percent of install cost</a:t>
            </a:r>
            <a:endParaRPr lang="en-US" sz="1250" dirty="0"/>
          </a:p>
        </p:txBody>
      </p:sp>
      <p:sp>
        <p:nvSpPr>
          <p:cNvPr id="27" name="Text 23"/>
          <p:cNvSpPr txBox="1"/>
          <p:nvPr/>
        </p:nvSpPr>
        <p:spPr>
          <a:xfrm>
            <a:off x="5391150" y="5638800"/>
            <a:ext cx="6096000" cy="381000"/>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Storage still selected: 367 kWh and 1,881 kWh. The conclusion has held at three price points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The facility: Rofu Thailand, Phimai</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4</a:t>
            </a:r>
            <a:endParaRPr lang="en-US" sz="1000" dirty="0"/>
          </a:p>
        </p:txBody>
      </p:sp>
      <p:sp>
        <p:nvSpPr>
          <p:cNvPr id="8" name="Shape 4"/>
          <p:cNvSpPr/>
          <p:nvPr/>
        </p:nvSpPr>
        <p:spPr>
          <a:xfrm>
            <a:off x="514350" y="1219200"/>
            <a:ext cx="4000500" cy="2381250"/>
          </a:xfrm>
          <a:prstGeom prst="roundRect">
            <a:avLst>
              <a:gd name="adj" fmla="val 7200"/>
            </a:avLst>
          </a:prstGeom>
          <a:solidFill>
            <a:srgbClr val="FFFFFF"/>
          </a:solidFill>
          <a:ln w="12700">
            <a:solidFill>
              <a:srgbClr val="8AB8B0"/>
            </a:solidFill>
            <a:prstDash val="solid"/>
          </a:ln>
        </p:spPr>
      </p:sp>
      <p:sp>
        <p:nvSpPr>
          <p:cNvPr id="9" name="Text 5"/>
          <p:cNvSpPr txBox="1"/>
          <p:nvPr/>
        </p:nvSpPr>
        <p:spPr>
          <a:xfrm>
            <a:off x="742950" y="1390650"/>
            <a:ext cx="3619500" cy="266700"/>
          </a:xfrm>
          <a:prstGeom prst="rect">
            <a:avLst/>
          </a:prstGeom>
          <a:noFill/>
          <a:ln/>
        </p:spPr>
        <p:txBody>
          <a:bodyPr wrap="square" lIns="0" tIns="0" rIns="0" bIns="0" rtlCol="0" anchor="t"/>
          <a:lstStyle/>
          <a:p>
            <a:pPr algn="l" indent="0" marL="0">
              <a:buNone/>
            </a:pPr>
            <a:r>
              <a:rPr lang="en-US" sz="1700" b="1" dirty="0">
                <a:solidFill>
                  <a:srgbClr val="17685F"/>
                </a:solidFill>
                <a:latin typeface="Arial" pitchFamily="34" charset="0"/>
                <a:ea typeface="Arial" pitchFamily="34" charset="-122"/>
                <a:cs typeface="Arial" pitchFamily="34" charset="-120"/>
              </a:rPr>
              <a:t>Supply</a:t>
            </a:r>
            <a:endParaRPr lang="en-US" sz="1700" dirty="0"/>
          </a:p>
        </p:txBody>
      </p:sp>
      <p:sp>
        <p:nvSpPr>
          <p:cNvPr id="10" name="Text 6"/>
          <p:cNvSpPr txBox="1"/>
          <p:nvPr/>
        </p:nvSpPr>
        <p:spPr>
          <a:xfrm>
            <a:off x="742950" y="1733550"/>
            <a:ext cx="3571875" cy="1809750"/>
          </a:xfrm>
          <a:prstGeom prst="rect">
            <a:avLst/>
          </a:prstGeom>
          <a:noFill/>
          <a:ln/>
        </p:spPr>
        <p:txBody>
          <a:bodyPr wrap="square" lIns="0" tIns="0" rIns="0" bIns="0" rtlCol="0" anchor="t"/>
          <a:lstStyle/>
          <a:p>
            <a:pPr algn="l" indent="0" marL="0">
              <a:buNone/>
            </a:pPr>
            <a:r>
              <a:rPr lang="en-US" sz="1300" b="1" dirty="0">
                <a:solidFill>
                  <a:srgbClr val="143B37"/>
                </a:solidFill>
                <a:latin typeface="Arial" pitchFamily="34" charset="0"/>
                <a:ea typeface="Arial" pitchFamily="34" charset="-122"/>
                <a:cs typeface="Arial" pitchFamily="34" charset="-120"/>
              </a:rPr>
              <a:t>Utility: </a:t>
            </a:r>
            <a:pPr algn="l" indent="0" marL="0">
              <a:spcAft>
                <a:spcPts val="600"/>
              </a:spcAft>
              <a:buNone/>
            </a:pPr>
            <a:r>
              <a:rPr lang="en-US" sz="1300" dirty="0">
                <a:solidFill>
                  <a:srgbClr val="143B37"/>
                </a:solidFill>
                <a:latin typeface="Arial" pitchFamily="34" charset="0"/>
                <a:ea typeface="Arial" pitchFamily="34" charset="-122"/>
                <a:cs typeface="Arial" pitchFamily="34" charset="-120"/>
              </a:rPr>
              <a:t>Provincial Electricity Authority, Phimai branch</a:t>
            </a:r>
            <a:endParaRPr lang="en-US" sz="1300" dirty="0"/>
          </a:p>
          <a:p>
            <a:pPr algn="l" indent="0" marL="0">
              <a:buNone/>
            </a:pPr>
            <a:r>
              <a:rPr lang="en-US" sz="1300" b="1" dirty="0">
                <a:solidFill>
                  <a:srgbClr val="143B37"/>
                </a:solidFill>
                <a:latin typeface="Arial" pitchFamily="34" charset="0"/>
                <a:ea typeface="Arial" pitchFamily="34" charset="-122"/>
                <a:cs typeface="Arial" pitchFamily="34" charset="-120"/>
              </a:rPr>
              <a:t>Tariff: </a:t>
            </a:r>
            <a:pPr algn="l" indent="0" marL="0">
              <a:spcAft>
                <a:spcPts val="600"/>
              </a:spcAft>
              <a:buNone/>
            </a:pPr>
            <a:r>
              <a:rPr lang="en-US" sz="1300" dirty="0">
                <a:solidFill>
                  <a:srgbClr val="143B37"/>
                </a:solidFill>
                <a:latin typeface="Arial" pitchFamily="34" charset="0"/>
                <a:ea typeface="Arial" pitchFamily="34" charset="-122"/>
                <a:cs typeface="Arial" pitchFamily="34" charset="-120"/>
              </a:rPr>
              <a:t>Schedule 4.2 Large General Service, time of use, 22-33 kV, rate code 4224</a:t>
            </a:r>
            <a:endParaRPr lang="en-US" sz="1300" dirty="0"/>
          </a:p>
          <a:p>
            <a:pPr algn="l" indent="0" marL="0">
              <a:buNone/>
            </a:pPr>
            <a:r>
              <a:rPr lang="en-US" sz="1300" b="1" dirty="0">
                <a:solidFill>
                  <a:srgbClr val="143B37"/>
                </a:solidFill>
                <a:latin typeface="Arial" pitchFamily="34" charset="0"/>
                <a:ea typeface="Arial" pitchFamily="34" charset="-122"/>
                <a:cs typeface="Arial" pitchFamily="34" charset="-120"/>
              </a:rPr>
              <a:t>Connection: </a:t>
            </a:r>
            <a:pPr algn="l" indent="0" marL="0">
              <a:spcAft>
                <a:spcPts val="600"/>
              </a:spcAft>
              <a:buNone/>
            </a:pPr>
            <a:r>
              <a:rPr lang="en-US" sz="1300" dirty="0">
                <a:solidFill>
                  <a:srgbClr val="143B37"/>
                </a:solidFill>
                <a:latin typeface="Arial" pitchFamily="34" charset="0"/>
                <a:ea typeface="Arial" pitchFamily="34" charset="-122"/>
                <a:cs typeface="Arial" pitchFamily="34" charset="-120"/>
              </a:rPr>
              <a:t>one grid connection, four transformers, 3,230 kVA installed (500 + 500 + 1,600 + 630)</a:t>
            </a:r>
            <a:endParaRPr lang="en-US" sz="1300" dirty="0"/>
          </a:p>
          <a:p>
            <a:pPr algn="l" indent="0" marL="0">
              <a:buNone/>
            </a:pPr>
            <a:r>
              <a:rPr lang="en-US" sz="1300" b="1" dirty="0">
                <a:solidFill>
                  <a:srgbClr val="143B37"/>
                </a:solidFill>
                <a:latin typeface="Arial" pitchFamily="34" charset="0"/>
                <a:ea typeface="Arial" pitchFamily="34" charset="-122"/>
                <a:cs typeface="Arial" pitchFamily="34" charset="-120"/>
              </a:rPr>
              <a:t>Location: </a:t>
            </a:r>
            <a:pPr algn="l" indent="0" marL="0">
              <a:buNone/>
            </a:pPr>
            <a:r>
              <a:rPr lang="en-US" sz="1300" dirty="0">
                <a:solidFill>
                  <a:srgbClr val="143B37"/>
                </a:solidFill>
                <a:latin typeface="Arial" pitchFamily="34" charset="0"/>
                <a:ea typeface="Arial" pitchFamily="34" charset="-122"/>
                <a:cs typeface="Arial" pitchFamily="34" charset="-120"/>
              </a:rPr>
              <a:t>Phimai district, Nakhon Ratchasima</a:t>
            </a:r>
            <a:endParaRPr lang="en-US" sz="1300" dirty="0"/>
          </a:p>
        </p:txBody>
      </p:sp>
      <p:sp>
        <p:nvSpPr>
          <p:cNvPr id="11" name="Shape 7"/>
          <p:cNvSpPr/>
          <p:nvPr/>
        </p:nvSpPr>
        <p:spPr>
          <a:xfrm>
            <a:off x="514350" y="3790950"/>
            <a:ext cx="4000500" cy="2381250"/>
          </a:xfrm>
          <a:prstGeom prst="roundRect">
            <a:avLst>
              <a:gd name="adj" fmla="val 7200"/>
            </a:avLst>
          </a:prstGeom>
          <a:solidFill>
            <a:srgbClr val="FFFFFF"/>
          </a:solidFill>
          <a:ln w="12700">
            <a:solidFill>
              <a:srgbClr val="8AB8B0"/>
            </a:solidFill>
            <a:prstDash val="solid"/>
          </a:ln>
        </p:spPr>
      </p:sp>
      <p:sp>
        <p:nvSpPr>
          <p:cNvPr id="12" name="Text 8"/>
          <p:cNvSpPr txBox="1"/>
          <p:nvPr/>
        </p:nvSpPr>
        <p:spPr>
          <a:xfrm>
            <a:off x="742950" y="3962400"/>
            <a:ext cx="3619500" cy="266700"/>
          </a:xfrm>
          <a:prstGeom prst="rect">
            <a:avLst/>
          </a:prstGeom>
          <a:noFill/>
          <a:ln/>
        </p:spPr>
        <p:txBody>
          <a:bodyPr wrap="square" lIns="0" tIns="0" rIns="0" bIns="0" rtlCol="0" anchor="t"/>
          <a:lstStyle/>
          <a:p>
            <a:pPr algn="l" indent="0" marL="0">
              <a:buNone/>
            </a:pPr>
            <a:r>
              <a:rPr lang="en-US" sz="1700" b="1" dirty="0">
                <a:solidFill>
                  <a:srgbClr val="17685F"/>
                </a:solidFill>
                <a:latin typeface="Arial" pitchFamily="34" charset="0"/>
                <a:ea typeface="Arial" pitchFamily="34" charset="-122"/>
                <a:cs typeface="Arial" pitchFamily="34" charset="-120"/>
              </a:rPr>
              <a:t>Roof</a:t>
            </a:r>
            <a:endParaRPr lang="en-US" sz="1700" dirty="0"/>
          </a:p>
        </p:txBody>
      </p:sp>
      <p:sp>
        <p:nvSpPr>
          <p:cNvPr id="13" name="Text 9"/>
          <p:cNvSpPr txBox="1"/>
          <p:nvPr/>
        </p:nvSpPr>
        <p:spPr>
          <a:xfrm>
            <a:off x="742950" y="4305300"/>
            <a:ext cx="3571875" cy="1714500"/>
          </a:xfrm>
          <a:prstGeom prst="rect">
            <a:avLst/>
          </a:prstGeom>
          <a:noFill/>
          <a:ln/>
        </p:spPr>
        <p:txBody>
          <a:bodyPr wrap="square" lIns="0" tIns="0" rIns="0" bIns="0" rtlCol="0" anchor="t"/>
          <a:lstStyle/>
          <a:p>
            <a:pPr algn="l" indent="0" marL="0">
              <a:buNone/>
            </a:pPr>
            <a:r>
              <a:rPr lang="en-US" sz="1300" b="1" dirty="0">
                <a:solidFill>
                  <a:srgbClr val="143B37"/>
                </a:solidFill>
                <a:latin typeface="Arial" pitchFamily="34" charset="0"/>
                <a:ea typeface="Arial" pitchFamily="34" charset="-122"/>
                <a:cs typeface="Arial" pitchFamily="34" charset="-120"/>
              </a:rPr>
              <a:t>Survey basis: </a:t>
            </a:r>
            <a:pPr algn="l" indent="0" marL="0">
              <a:spcAft>
                <a:spcPts val="600"/>
              </a:spcAft>
              <a:buNone/>
            </a:pPr>
            <a:r>
              <a:rPr lang="en-US" sz="1300" dirty="0">
                <a:solidFill>
                  <a:srgbClr val="143B37"/>
                </a:solidFill>
                <a:latin typeface="Arial" pitchFamily="34" charset="0"/>
                <a:ea typeface="Arial" pitchFamily="34" charset="-122"/>
                <a:cs typeface="Arial" pitchFamily="34" charset="-120"/>
              </a:rPr>
              <a:t>five roofs, 108 m long, widths between 24 m and 30 m; pitch not recorded</a:t>
            </a:r>
            <a:endParaRPr lang="en-US" sz="1300" dirty="0"/>
          </a:p>
          <a:p>
            <a:pPr algn="l" indent="0" marL="0">
              <a:buNone/>
            </a:pPr>
            <a:r>
              <a:rPr lang="en-US" sz="1300" b="1" dirty="0">
                <a:solidFill>
                  <a:srgbClr val="143B37"/>
                </a:solidFill>
                <a:latin typeface="Arial" pitchFamily="34" charset="0"/>
                <a:ea typeface="Arial" pitchFamily="34" charset="-122"/>
                <a:cs typeface="Arial" pitchFamily="34" charset="-120"/>
              </a:rPr>
              <a:t>Usable estimate: </a:t>
            </a:r>
            <a:pPr algn="l" indent="0" marL="0">
              <a:spcAft>
                <a:spcPts val="600"/>
              </a:spcAft>
              <a:buNone/>
            </a:pPr>
            <a:r>
              <a:rPr lang="en-US" sz="1300" dirty="0">
                <a:solidFill>
                  <a:srgbClr val="143B37"/>
                </a:solidFill>
                <a:latin typeface="Arial" pitchFamily="34" charset="0"/>
                <a:ea typeface="Arial" pitchFamily="34" charset="-122"/>
                <a:cs typeface="Arial" pitchFamily="34" charset="-120"/>
              </a:rPr>
              <a:t>65 percent of area at 0.20 kW per m2 gives 1,685 to 2,106 kWp</a:t>
            </a:r>
            <a:endParaRPr lang="en-US" sz="1300" dirty="0"/>
          </a:p>
          <a:p>
            <a:pPr algn="l" indent="0" marL="0">
              <a:buNone/>
            </a:pPr>
            <a:r>
              <a:rPr lang="en-US" sz="1300" b="1" dirty="0">
                <a:solidFill>
                  <a:srgbClr val="143B37"/>
                </a:solidFill>
                <a:latin typeface="Arial" pitchFamily="34" charset="0"/>
                <a:ea typeface="Arial" pitchFamily="34" charset="-122"/>
                <a:cs typeface="Arial" pitchFamily="34" charset="-120"/>
              </a:rPr>
              <a:t>Status: </a:t>
            </a:r>
            <a:pPr algn="l" indent="0" marL="0">
              <a:buNone/>
            </a:pPr>
            <a:r>
              <a:rPr lang="en-US" sz="1300" dirty="0">
                <a:solidFill>
                  <a:srgbClr val="143B37"/>
                </a:solidFill>
                <a:latin typeface="Arial" pitchFamily="34" charset="0"/>
                <a:ea typeface="Arial" pitchFamily="34" charset="-122"/>
                <a:cs typeface="Arial" pitchFamily="34" charset="-120"/>
              </a:rPr>
              <a:t>the widths are the uncertain term; the roof has not been measured for this study</a:t>
            </a:r>
            <a:endParaRPr lang="en-US" sz="1300" dirty="0"/>
          </a:p>
        </p:txBody>
      </p:sp>
      <p:sp>
        <p:nvSpPr>
          <p:cNvPr id="14" name="Text 10"/>
          <p:cNvSpPr txBox="1"/>
          <p:nvPr/>
        </p:nvSpPr>
        <p:spPr>
          <a:xfrm>
            <a:off x="4953000" y="1219200"/>
            <a:ext cx="6667500" cy="26670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Metered electricity use, 2025 (MWh per month)</a:t>
            </a:r>
            <a:endParaRPr lang="en-US" sz="1500" dirty="0"/>
          </a:p>
        </p:txBody>
      </p:sp>
      <p:graphicFrame>
        <p:nvGraphicFramePr>
          <p:cNvPr id="15" name="Chart 0" descr=""/>
          <p:cNvGraphicFramePr/>
          <p:nvPr/>
        </p:nvGraphicFramePr>
        <p:xfrm>
          <a:off x="4953000" y="1524000"/>
          <a:ext cx="6762750" cy="2857500"/>
        </p:xfrm>
        <a:graphic xmlns:a="http://schemas.openxmlformats.org/drawingml/2006/main">
          <a:graphicData uri="http://schemas.openxmlformats.org/drawingml/2006/chart">
            <c:chart xmlns:c="http://schemas.openxmlformats.org/drawingml/2006/chart" r:id="rId2"/>
          </a:graphicData>
        </a:graphic>
      </p:graphicFrame>
      <p:sp>
        <p:nvSpPr>
          <p:cNvPr id="16" name="Shape 11"/>
          <p:cNvSpPr/>
          <p:nvPr/>
        </p:nvSpPr>
        <p:spPr>
          <a:xfrm>
            <a:off x="4953000" y="4572000"/>
            <a:ext cx="2152650" cy="1600200"/>
          </a:xfrm>
          <a:prstGeom prst="roundRect">
            <a:avLst>
              <a:gd name="adj" fmla="val 10714"/>
            </a:avLst>
          </a:prstGeom>
          <a:solidFill>
            <a:srgbClr val="FFFFFF"/>
          </a:solidFill>
          <a:ln w="12700">
            <a:solidFill>
              <a:srgbClr val="8AB8B0"/>
            </a:solidFill>
            <a:prstDash val="solid"/>
          </a:ln>
        </p:spPr>
      </p:sp>
      <p:sp>
        <p:nvSpPr>
          <p:cNvPr id="17" name="Text 12"/>
          <p:cNvSpPr txBox="1"/>
          <p:nvPr/>
        </p:nvSpPr>
        <p:spPr>
          <a:xfrm>
            <a:off x="5124450" y="4686300"/>
            <a:ext cx="1809750" cy="640080"/>
          </a:xfrm>
          <a:prstGeom prst="rect">
            <a:avLst/>
          </a:prstGeom>
          <a:noFill/>
          <a:ln/>
        </p:spPr>
        <p:txBody>
          <a:bodyPr wrap="square" lIns="0" tIns="0" rIns="0" bIns="0" rtlCol="0" anchor="ctr"/>
          <a:lstStyle/>
          <a:p>
            <a:pPr algn="l" indent="0" marL="0">
              <a:buNone/>
            </a:pPr>
            <a:r>
              <a:rPr lang="en-US" sz="2000" b="1" dirty="0">
                <a:solidFill>
                  <a:srgbClr val="17685F"/>
                </a:solidFill>
                <a:latin typeface="Arial" pitchFamily="34" charset="0"/>
                <a:ea typeface="Arial" pitchFamily="34" charset="-122"/>
                <a:cs typeface="Arial" pitchFamily="34" charset="-120"/>
              </a:rPr>
              <a:t>7.24 GWh</a:t>
            </a:r>
            <a:endParaRPr lang="en-US" sz="2000" dirty="0"/>
          </a:p>
        </p:txBody>
      </p:sp>
      <p:sp>
        <p:nvSpPr>
          <p:cNvPr id="18" name="Text 13"/>
          <p:cNvSpPr txBox="1"/>
          <p:nvPr/>
        </p:nvSpPr>
        <p:spPr>
          <a:xfrm>
            <a:off x="5124450" y="5372100"/>
            <a:ext cx="1809750" cy="736092"/>
          </a:xfrm>
          <a:prstGeom prst="rect">
            <a:avLst/>
          </a:prstGeom>
          <a:noFill/>
          <a:ln/>
        </p:spPr>
        <p:txBody>
          <a:bodyPr wrap="square" lIns="0" tIns="0" rIns="0" bIns="0" rtlCol="0" anchor="t"/>
          <a:lstStyle/>
          <a:p>
            <a:pPr algn="l" indent="0" marL="0">
              <a:buNone/>
            </a:pPr>
            <a:r>
              <a:rPr lang="en-US" sz="1200" dirty="0">
                <a:solidFill>
                  <a:srgbClr val="4D6D68"/>
                </a:solidFill>
                <a:latin typeface="Arial" pitchFamily="34" charset="0"/>
                <a:ea typeface="Arial" pitchFamily="34" charset="-122"/>
                <a:cs typeface="Arial" pitchFamily="34" charset="-120"/>
              </a:rPr>
              <a:t>annual consumption</a:t>
            </a:r>
            <a:endParaRPr lang="en-US" sz="1200" dirty="0"/>
          </a:p>
        </p:txBody>
      </p:sp>
      <p:sp>
        <p:nvSpPr>
          <p:cNvPr id="19" name="Shape 14"/>
          <p:cNvSpPr/>
          <p:nvPr/>
        </p:nvSpPr>
        <p:spPr>
          <a:xfrm>
            <a:off x="7239000" y="4572000"/>
            <a:ext cx="2152650" cy="1600200"/>
          </a:xfrm>
          <a:prstGeom prst="roundRect">
            <a:avLst>
              <a:gd name="adj" fmla="val 10714"/>
            </a:avLst>
          </a:prstGeom>
          <a:solidFill>
            <a:srgbClr val="FFFFFF"/>
          </a:solidFill>
          <a:ln w="12700">
            <a:solidFill>
              <a:srgbClr val="8AB8B0"/>
            </a:solidFill>
            <a:prstDash val="solid"/>
          </a:ln>
        </p:spPr>
      </p:sp>
      <p:sp>
        <p:nvSpPr>
          <p:cNvPr id="20" name="Text 15"/>
          <p:cNvSpPr txBox="1"/>
          <p:nvPr/>
        </p:nvSpPr>
        <p:spPr>
          <a:xfrm>
            <a:off x="7410450" y="4686300"/>
            <a:ext cx="1809750" cy="640080"/>
          </a:xfrm>
          <a:prstGeom prst="rect">
            <a:avLst/>
          </a:prstGeom>
          <a:noFill/>
          <a:ln/>
        </p:spPr>
        <p:txBody>
          <a:bodyPr wrap="square" lIns="0" tIns="0" rIns="0" bIns="0" rtlCol="0" anchor="ctr"/>
          <a:lstStyle/>
          <a:p>
            <a:pPr algn="l" indent="0" marL="0">
              <a:buNone/>
            </a:pPr>
            <a:r>
              <a:rPr lang="en-US" sz="2000" b="1" dirty="0">
                <a:solidFill>
                  <a:srgbClr val="17685F"/>
                </a:solidFill>
                <a:latin typeface="Arial" pitchFamily="34" charset="0"/>
                <a:ea typeface="Arial" pitchFamily="34" charset="-122"/>
                <a:cs typeface="Arial" pitchFamily="34" charset="-120"/>
              </a:rPr>
              <a:t>1.21-1.38 MW</a:t>
            </a:r>
            <a:endParaRPr lang="en-US" sz="2000" dirty="0"/>
          </a:p>
        </p:txBody>
      </p:sp>
      <p:sp>
        <p:nvSpPr>
          <p:cNvPr id="21" name="Text 16"/>
          <p:cNvSpPr txBox="1"/>
          <p:nvPr/>
        </p:nvSpPr>
        <p:spPr>
          <a:xfrm>
            <a:off x="7410450" y="5372100"/>
            <a:ext cx="1809750" cy="736092"/>
          </a:xfrm>
          <a:prstGeom prst="rect">
            <a:avLst/>
          </a:prstGeom>
          <a:noFill/>
          <a:ln/>
        </p:spPr>
        <p:txBody>
          <a:bodyPr wrap="square" lIns="0" tIns="0" rIns="0" bIns="0" rtlCol="0" anchor="t"/>
          <a:lstStyle/>
          <a:p>
            <a:pPr algn="l" indent="0" marL="0">
              <a:buNone/>
            </a:pPr>
            <a:r>
              <a:rPr lang="en-US" sz="1200" dirty="0">
                <a:solidFill>
                  <a:srgbClr val="4D6D68"/>
                </a:solidFill>
                <a:latin typeface="Arial" pitchFamily="34" charset="0"/>
                <a:ea typeface="Arial" pitchFamily="34" charset="-122"/>
                <a:cs typeface="Arial" pitchFamily="34" charset="-120"/>
              </a:rPr>
              <a:t>monthly on-peak maximum demand</a:t>
            </a:r>
            <a:endParaRPr lang="en-US" sz="1200" dirty="0"/>
          </a:p>
        </p:txBody>
      </p:sp>
      <p:sp>
        <p:nvSpPr>
          <p:cNvPr id="22" name="Shape 17"/>
          <p:cNvSpPr/>
          <p:nvPr/>
        </p:nvSpPr>
        <p:spPr>
          <a:xfrm>
            <a:off x="9525000" y="4572000"/>
            <a:ext cx="2152650" cy="1600200"/>
          </a:xfrm>
          <a:prstGeom prst="roundRect">
            <a:avLst>
              <a:gd name="adj" fmla="val 10714"/>
            </a:avLst>
          </a:prstGeom>
          <a:solidFill>
            <a:srgbClr val="FFFFFF"/>
          </a:solidFill>
          <a:ln w="12700">
            <a:solidFill>
              <a:srgbClr val="8AB8B0"/>
            </a:solidFill>
            <a:prstDash val="solid"/>
          </a:ln>
        </p:spPr>
      </p:sp>
      <p:sp>
        <p:nvSpPr>
          <p:cNvPr id="23" name="Text 18"/>
          <p:cNvSpPr txBox="1"/>
          <p:nvPr/>
        </p:nvSpPr>
        <p:spPr>
          <a:xfrm>
            <a:off x="9696450" y="4686300"/>
            <a:ext cx="1809750" cy="640080"/>
          </a:xfrm>
          <a:prstGeom prst="rect">
            <a:avLst/>
          </a:prstGeom>
          <a:noFill/>
          <a:ln/>
        </p:spPr>
        <p:txBody>
          <a:bodyPr wrap="square" lIns="0" tIns="0" rIns="0" bIns="0" rtlCol="0" anchor="ctr"/>
          <a:lstStyle/>
          <a:p>
            <a:pPr algn="l" indent="0" marL="0">
              <a:buNone/>
            </a:pPr>
            <a:r>
              <a:rPr lang="en-US" sz="2000" b="1" dirty="0">
                <a:solidFill>
                  <a:srgbClr val="17685F"/>
                </a:solidFill>
                <a:latin typeface="Arial" pitchFamily="34" charset="0"/>
                <a:ea typeface="Arial" pitchFamily="34" charset="-122"/>
                <a:cs typeface="Arial" pitchFamily="34" charset="-120"/>
              </a:rPr>
              <a:t>843,443 USD</a:t>
            </a:r>
            <a:endParaRPr lang="en-US" sz="2000" dirty="0"/>
          </a:p>
        </p:txBody>
      </p:sp>
      <p:sp>
        <p:nvSpPr>
          <p:cNvPr id="24" name="Text 19"/>
          <p:cNvSpPr txBox="1"/>
          <p:nvPr/>
        </p:nvSpPr>
        <p:spPr>
          <a:xfrm>
            <a:off x="9696450" y="5372100"/>
            <a:ext cx="1809750" cy="736092"/>
          </a:xfrm>
          <a:prstGeom prst="rect">
            <a:avLst/>
          </a:prstGeom>
          <a:noFill/>
          <a:ln/>
        </p:spPr>
        <p:txBody>
          <a:bodyPr wrap="square" lIns="0" tIns="0" rIns="0" bIns="0" rtlCol="0" anchor="t"/>
          <a:lstStyle/>
          <a:p>
            <a:pPr algn="l" indent="0" marL="0">
              <a:buNone/>
            </a:pPr>
            <a:r>
              <a:rPr lang="en-US" sz="1200" dirty="0">
                <a:solidFill>
                  <a:srgbClr val="4D6D68"/>
                </a:solidFill>
                <a:latin typeface="Arial" pitchFamily="34" charset="0"/>
                <a:ea typeface="Arial" pitchFamily="34" charset="-122"/>
                <a:cs typeface="Arial" pitchFamily="34" charset="-120"/>
              </a:rPr>
              <a:t>business-as-usual bill per year (THB 27.4 million)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Daily load against the tariff clock and the solar day</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5</a:t>
            </a:r>
            <a:endParaRPr lang="en-US" sz="1000" dirty="0"/>
          </a:p>
        </p:txBody>
      </p:sp>
      <p:sp>
        <p:nvSpPr>
          <p:cNvPr id="8" name="Text 4"/>
          <p:cNvSpPr txBox="1"/>
          <p:nvPr/>
        </p:nvSpPr>
        <p:spPr>
          <a:xfrm>
            <a:off x="514350" y="1181100"/>
            <a:ext cx="66675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Average load by hour, 2025 (kW)</a:t>
            </a:r>
            <a:endParaRPr lang="en-US" sz="1500" dirty="0"/>
          </a:p>
        </p:txBody>
      </p:sp>
      <p:graphicFrame>
        <p:nvGraphicFramePr>
          <p:cNvPr id="9" name="Chart 0" descr=""/>
          <p:cNvGraphicFramePr/>
          <p:nvPr/>
        </p:nvGraphicFramePr>
        <p:xfrm>
          <a:off x="514350" y="1447800"/>
          <a:ext cx="7239000" cy="285750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514350" y="4476750"/>
            <a:ext cx="1333500" cy="323850"/>
          </a:xfrm>
          <a:prstGeom prst="rect">
            <a:avLst/>
          </a:prstGeom>
          <a:noFill/>
          <a:ln/>
        </p:spPr>
        <p:txBody>
          <a:bodyPr wrap="square" lIns="0" tIns="0" rIns="0" bIns="0" rtlCol="0" anchor="ctr"/>
          <a:lstStyle/>
          <a:p>
            <a:pPr algn="l" indent="0" marL="0">
              <a:buNone/>
            </a:pPr>
            <a:r>
              <a:rPr lang="en-US" sz="1200" b="1" dirty="0">
                <a:solidFill>
                  <a:srgbClr val="17685F"/>
                </a:solidFill>
                <a:latin typeface="Arial" pitchFamily="34" charset="0"/>
                <a:ea typeface="Arial" pitchFamily="34" charset="-122"/>
                <a:cs typeface="Arial" pitchFamily="34" charset="-120"/>
              </a:rPr>
              <a:t>Weekday tariff</a:t>
            </a:r>
            <a:endParaRPr lang="en-US" sz="1200" dirty="0"/>
          </a:p>
        </p:txBody>
      </p:sp>
      <p:sp>
        <p:nvSpPr>
          <p:cNvPr id="11" name="Shape 6"/>
          <p:cNvSpPr/>
          <p:nvPr/>
        </p:nvSpPr>
        <p:spPr>
          <a:xfrm>
            <a:off x="1905000" y="4476750"/>
            <a:ext cx="2193131" cy="323850"/>
          </a:xfrm>
          <a:prstGeom prst="rect">
            <a:avLst/>
          </a:prstGeom>
          <a:solidFill>
            <a:srgbClr val="B7D9D2"/>
          </a:solidFill>
          <a:ln w="12700">
            <a:solidFill>
              <a:srgbClr val="B7D9D2"/>
            </a:solidFill>
            <a:prstDash val="solid"/>
          </a:ln>
        </p:spPr>
      </p:sp>
      <p:sp>
        <p:nvSpPr>
          <p:cNvPr id="12" name="Shape 7"/>
          <p:cNvSpPr/>
          <p:nvPr/>
        </p:nvSpPr>
        <p:spPr>
          <a:xfrm>
            <a:off x="4098131" y="4476750"/>
            <a:ext cx="3167856" cy="323850"/>
          </a:xfrm>
          <a:prstGeom prst="rect">
            <a:avLst/>
          </a:prstGeom>
          <a:solidFill>
            <a:srgbClr val="E98A55"/>
          </a:solidFill>
          <a:ln w="12700">
            <a:solidFill>
              <a:srgbClr val="E98A55"/>
            </a:solidFill>
            <a:prstDash val="solid"/>
          </a:ln>
        </p:spPr>
      </p:sp>
      <p:sp>
        <p:nvSpPr>
          <p:cNvPr id="13" name="Shape 8"/>
          <p:cNvSpPr/>
          <p:nvPr/>
        </p:nvSpPr>
        <p:spPr>
          <a:xfrm>
            <a:off x="7265988" y="4476750"/>
            <a:ext cx="487362" cy="323850"/>
          </a:xfrm>
          <a:prstGeom prst="rect">
            <a:avLst/>
          </a:prstGeom>
          <a:solidFill>
            <a:srgbClr val="B7D9D2"/>
          </a:solidFill>
          <a:ln w="12700">
            <a:solidFill>
              <a:srgbClr val="B7D9D2"/>
            </a:solidFill>
            <a:prstDash val="solid"/>
          </a:ln>
        </p:spPr>
      </p:sp>
      <p:sp>
        <p:nvSpPr>
          <p:cNvPr id="14" name="Text 9"/>
          <p:cNvSpPr txBox="1"/>
          <p:nvPr/>
        </p:nvSpPr>
        <p:spPr>
          <a:xfrm>
            <a:off x="1962150" y="4476750"/>
            <a:ext cx="2116931" cy="323850"/>
          </a:xfrm>
          <a:prstGeom prst="rect">
            <a:avLst/>
          </a:prstGeom>
          <a:noFill/>
          <a:ln/>
        </p:spPr>
        <p:txBody>
          <a:bodyPr wrap="square" lIns="0" tIns="0" rIns="0" bIns="0" rtlCol="0" anchor="ctr"/>
          <a:lstStyle/>
          <a:p>
            <a:pPr algn="l" indent="0" marL="0">
              <a:buNone/>
            </a:pPr>
            <a:r>
              <a:rPr lang="en-US" sz="1000" dirty="0">
                <a:solidFill>
                  <a:srgbClr val="143B37"/>
                </a:solidFill>
                <a:latin typeface="Arial" pitchFamily="34" charset="0"/>
                <a:ea typeface="Arial" pitchFamily="34" charset="-122"/>
                <a:cs typeface="Arial" pitchFamily="34" charset="-120"/>
              </a:rPr>
              <a:t>off-peak 2.6037</a:t>
            </a:r>
            <a:endParaRPr lang="en-US" sz="1000" dirty="0"/>
          </a:p>
        </p:txBody>
      </p:sp>
      <p:sp>
        <p:nvSpPr>
          <p:cNvPr id="15" name="Text 10"/>
          <p:cNvSpPr txBox="1"/>
          <p:nvPr/>
        </p:nvSpPr>
        <p:spPr>
          <a:xfrm>
            <a:off x="4174331" y="4476750"/>
            <a:ext cx="3053556" cy="323850"/>
          </a:xfrm>
          <a:prstGeom prst="rect">
            <a:avLst/>
          </a:prstGeom>
          <a:noFill/>
          <a:ln/>
        </p:spPr>
        <p:txBody>
          <a:bodyPr wrap="square" lIns="0" tIns="0" rIns="0" bIns="0" rtlCol="0" anchor="ctr"/>
          <a:lstStyle/>
          <a:p>
            <a:pPr algn="l" indent="0" marL="0">
              <a:buNone/>
            </a:pPr>
            <a:r>
              <a:rPr lang="en-US" sz="950" dirty="0">
                <a:solidFill>
                  <a:srgbClr val="FFFFFF"/>
                </a:solidFill>
                <a:latin typeface="Arial" pitchFamily="34" charset="0"/>
                <a:ea typeface="Arial" pitchFamily="34" charset="-122"/>
                <a:cs typeface="Arial" pitchFamily="34" charset="-120"/>
              </a:rPr>
              <a:t>peak 4.1839 THB/kWh + monthly demand charge</a:t>
            </a:r>
            <a:endParaRPr lang="en-US" sz="950" dirty="0"/>
          </a:p>
        </p:txBody>
      </p:sp>
      <p:sp>
        <p:nvSpPr>
          <p:cNvPr id="16" name="Text 11"/>
          <p:cNvSpPr txBox="1"/>
          <p:nvPr/>
        </p:nvSpPr>
        <p:spPr>
          <a:xfrm>
            <a:off x="7304088" y="4476750"/>
            <a:ext cx="430212" cy="323850"/>
          </a:xfrm>
          <a:prstGeom prst="rect">
            <a:avLst/>
          </a:prstGeom>
          <a:noFill/>
          <a:ln/>
        </p:spPr>
        <p:txBody>
          <a:bodyPr wrap="square" lIns="0" tIns="0" rIns="0" bIns="0" rtlCol="0" anchor="ctr"/>
          <a:lstStyle/>
          <a:p>
            <a:pPr algn="l" indent="0" marL="0">
              <a:buNone/>
            </a:pPr>
            <a:r>
              <a:rPr lang="en-US" sz="950" dirty="0">
                <a:solidFill>
                  <a:srgbClr val="143B37"/>
                </a:solidFill>
                <a:latin typeface="Arial" pitchFamily="34" charset="0"/>
                <a:ea typeface="Arial" pitchFamily="34" charset="-122"/>
                <a:cs typeface="Arial" pitchFamily="34" charset="-120"/>
              </a:rPr>
              <a:t>off</a:t>
            </a:r>
            <a:endParaRPr lang="en-US" sz="950" dirty="0"/>
          </a:p>
        </p:txBody>
      </p:sp>
      <p:sp>
        <p:nvSpPr>
          <p:cNvPr id="17" name="Text 12"/>
          <p:cNvSpPr txBox="1"/>
          <p:nvPr/>
        </p:nvSpPr>
        <p:spPr>
          <a:xfrm>
            <a:off x="514350" y="4895850"/>
            <a:ext cx="1333500" cy="323850"/>
          </a:xfrm>
          <a:prstGeom prst="rect">
            <a:avLst/>
          </a:prstGeom>
          <a:noFill/>
          <a:ln/>
        </p:spPr>
        <p:txBody>
          <a:bodyPr wrap="square" lIns="0" tIns="0" rIns="0" bIns="0" rtlCol="0" anchor="ctr"/>
          <a:lstStyle/>
          <a:p>
            <a:pPr algn="l" indent="0" marL="0">
              <a:buNone/>
            </a:pPr>
            <a:r>
              <a:rPr lang="en-US" sz="1200" b="1" dirty="0">
                <a:solidFill>
                  <a:srgbClr val="17685F"/>
                </a:solidFill>
                <a:latin typeface="Arial" pitchFamily="34" charset="0"/>
                <a:ea typeface="Arial" pitchFamily="34" charset="-122"/>
                <a:cs typeface="Arial" pitchFamily="34" charset="-120"/>
              </a:rPr>
              <a:t>Solar output</a:t>
            </a:r>
            <a:endParaRPr lang="en-US" sz="1200" dirty="0"/>
          </a:p>
        </p:txBody>
      </p:sp>
      <p:sp>
        <p:nvSpPr>
          <p:cNvPr id="18" name="Shape 13"/>
          <p:cNvSpPr/>
          <p:nvPr/>
        </p:nvSpPr>
        <p:spPr>
          <a:xfrm>
            <a:off x="3367088" y="4895850"/>
            <a:ext cx="2924175" cy="323850"/>
          </a:xfrm>
          <a:prstGeom prst="rect">
            <a:avLst/>
          </a:prstGeom>
          <a:solidFill>
            <a:srgbClr val="F7D98B"/>
          </a:solidFill>
          <a:ln w="12700">
            <a:solidFill>
              <a:srgbClr val="F7D98B"/>
            </a:solidFill>
            <a:prstDash val="solid"/>
          </a:ln>
        </p:spPr>
      </p:sp>
      <p:sp>
        <p:nvSpPr>
          <p:cNvPr id="19" name="Text 14"/>
          <p:cNvSpPr txBox="1"/>
          <p:nvPr/>
        </p:nvSpPr>
        <p:spPr>
          <a:xfrm>
            <a:off x="3443288" y="4895850"/>
            <a:ext cx="2809875" cy="323850"/>
          </a:xfrm>
          <a:prstGeom prst="rect">
            <a:avLst/>
          </a:prstGeom>
          <a:noFill/>
          <a:ln/>
        </p:spPr>
        <p:txBody>
          <a:bodyPr wrap="square" lIns="0" tIns="0" rIns="0" bIns="0" rtlCol="0" anchor="ctr"/>
          <a:lstStyle/>
          <a:p>
            <a:pPr algn="l" indent="0" marL="0">
              <a:buNone/>
            </a:pPr>
            <a:r>
              <a:rPr lang="en-US" sz="950" dirty="0">
                <a:solidFill>
                  <a:srgbClr val="143B37"/>
                </a:solidFill>
                <a:latin typeface="Arial" pitchFamily="34" charset="0"/>
                <a:ea typeface="Arial" pitchFamily="34" charset="-122"/>
                <a:cs typeface="Arial" pitchFamily="34" charset="-120"/>
              </a:rPr>
              <a:t>generation 06:00 to 18:00, peak 11:00 to 14:00</a:t>
            </a:r>
            <a:endParaRPr lang="en-US" sz="950" dirty="0"/>
          </a:p>
        </p:txBody>
      </p:sp>
      <p:sp>
        <p:nvSpPr>
          <p:cNvPr id="20" name="Text 15"/>
          <p:cNvSpPr txBox="1"/>
          <p:nvPr/>
        </p:nvSpPr>
        <p:spPr>
          <a:xfrm>
            <a:off x="1695450"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00:00</a:t>
            </a:r>
            <a:endParaRPr lang="en-US" sz="900" dirty="0"/>
          </a:p>
        </p:txBody>
      </p:sp>
      <p:sp>
        <p:nvSpPr>
          <p:cNvPr id="21" name="Text 16"/>
          <p:cNvSpPr txBox="1"/>
          <p:nvPr/>
        </p:nvSpPr>
        <p:spPr>
          <a:xfrm>
            <a:off x="3157538"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06:00</a:t>
            </a:r>
            <a:endParaRPr lang="en-US" sz="900" dirty="0"/>
          </a:p>
        </p:txBody>
      </p:sp>
      <p:sp>
        <p:nvSpPr>
          <p:cNvPr id="22" name="Text 17"/>
          <p:cNvSpPr txBox="1"/>
          <p:nvPr/>
        </p:nvSpPr>
        <p:spPr>
          <a:xfrm>
            <a:off x="3888581"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09:00</a:t>
            </a:r>
            <a:endParaRPr lang="en-US" sz="900" dirty="0"/>
          </a:p>
        </p:txBody>
      </p:sp>
      <p:sp>
        <p:nvSpPr>
          <p:cNvPr id="23" name="Text 18"/>
          <p:cNvSpPr txBox="1"/>
          <p:nvPr/>
        </p:nvSpPr>
        <p:spPr>
          <a:xfrm>
            <a:off x="4619625"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12:00</a:t>
            </a:r>
            <a:endParaRPr lang="en-US" sz="900" dirty="0"/>
          </a:p>
        </p:txBody>
      </p:sp>
      <p:sp>
        <p:nvSpPr>
          <p:cNvPr id="24" name="Text 19"/>
          <p:cNvSpPr txBox="1"/>
          <p:nvPr/>
        </p:nvSpPr>
        <p:spPr>
          <a:xfrm>
            <a:off x="6081713"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18:00</a:t>
            </a:r>
            <a:endParaRPr lang="en-US" sz="900" dirty="0"/>
          </a:p>
        </p:txBody>
      </p:sp>
      <p:sp>
        <p:nvSpPr>
          <p:cNvPr id="25" name="Text 20"/>
          <p:cNvSpPr txBox="1"/>
          <p:nvPr/>
        </p:nvSpPr>
        <p:spPr>
          <a:xfrm>
            <a:off x="7056438"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22:00</a:t>
            </a:r>
            <a:endParaRPr lang="en-US" sz="900" dirty="0"/>
          </a:p>
        </p:txBody>
      </p:sp>
      <p:sp>
        <p:nvSpPr>
          <p:cNvPr id="26" name="Text 21"/>
          <p:cNvSpPr txBox="1"/>
          <p:nvPr/>
        </p:nvSpPr>
        <p:spPr>
          <a:xfrm>
            <a:off x="7543800" y="5257800"/>
            <a:ext cx="419100" cy="171450"/>
          </a:xfrm>
          <a:prstGeom prst="rect">
            <a:avLst/>
          </a:prstGeom>
          <a:noFill/>
          <a:ln/>
        </p:spPr>
        <p:txBody>
          <a:bodyPr wrap="square" lIns="0" tIns="0" rIns="0" bIns="0" rtlCol="0" anchor="t"/>
          <a:lstStyle/>
          <a:p>
            <a:pPr algn="ctr" indent="0" marL="0">
              <a:buNone/>
            </a:pPr>
            <a:r>
              <a:rPr lang="en-US" sz="900" dirty="0">
                <a:solidFill>
                  <a:srgbClr val="4D6D68"/>
                </a:solidFill>
                <a:latin typeface="Arial" pitchFamily="34" charset="0"/>
                <a:ea typeface="Arial" pitchFamily="34" charset="-122"/>
                <a:cs typeface="Arial" pitchFamily="34" charset="-120"/>
              </a:rPr>
              <a:t>24:00</a:t>
            </a:r>
            <a:endParaRPr lang="en-US" sz="900" dirty="0"/>
          </a:p>
        </p:txBody>
      </p:sp>
      <p:sp>
        <p:nvSpPr>
          <p:cNvPr id="27" name="Text 22"/>
          <p:cNvSpPr txBox="1"/>
          <p:nvPr/>
        </p:nvSpPr>
        <p:spPr>
          <a:xfrm>
            <a:off x="514350" y="5524500"/>
            <a:ext cx="7239000" cy="228600"/>
          </a:xfrm>
          <a:prstGeom prst="rect">
            <a:avLst/>
          </a:prstGeom>
          <a:noFill/>
          <a:ln/>
        </p:spPr>
        <p:txBody>
          <a:bodyPr wrap="square" lIns="0" tIns="0" rIns="0" bIns="0" rtlCol="0" anchor="t"/>
          <a:lstStyle/>
          <a:p>
            <a:pPr algn="l" indent="0" marL="0">
              <a:buNone/>
            </a:pPr>
            <a:r>
              <a:rPr lang="en-US" sz="1100" i="1" dirty="0">
                <a:solidFill>
                  <a:srgbClr val="4D6D68"/>
                </a:solidFill>
                <a:latin typeface="Arial" pitchFamily="34" charset="0"/>
                <a:ea typeface="Arial" pitchFamily="34" charset="-122"/>
                <a:cs typeface="Arial" pitchFamily="34" charset="-120"/>
              </a:rPr>
              <a:t>Weekends and Thai public holidays are off-peak all day.</a:t>
            </a:r>
            <a:endParaRPr lang="en-US" sz="1100" dirty="0"/>
          </a:p>
        </p:txBody>
      </p:sp>
      <p:sp>
        <p:nvSpPr>
          <p:cNvPr id="28" name="Shape 23"/>
          <p:cNvSpPr/>
          <p:nvPr/>
        </p:nvSpPr>
        <p:spPr>
          <a:xfrm>
            <a:off x="8096250" y="1181100"/>
            <a:ext cx="3638550" cy="4476750"/>
          </a:xfrm>
          <a:prstGeom prst="roundRect">
            <a:avLst>
              <a:gd name="adj" fmla="val 4712"/>
            </a:avLst>
          </a:prstGeom>
          <a:solidFill>
            <a:srgbClr val="17685F"/>
          </a:solidFill>
          <a:ln w="12700">
            <a:solidFill>
              <a:srgbClr val="17685F"/>
            </a:solidFill>
            <a:prstDash val="solid"/>
          </a:ln>
        </p:spPr>
      </p:sp>
      <p:sp>
        <p:nvSpPr>
          <p:cNvPr id="29" name="Text 24"/>
          <p:cNvSpPr txBox="1"/>
          <p:nvPr/>
        </p:nvSpPr>
        <p:spPr>
          <a:xfrm>
            <a:off x="8343900" y="1390650"/>
            <a:ext cx="3238500" cy="28575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What this means for the design</a:t>
            </a:r>
            <a:endParaRPr lang="en-US" sz="1700" dirty="0"/>
          </a:p>
        </p:txBody>
      </p:sp>
      <p:sp>
        <p:nvSpPr>
          <p:cNvPr id="30" name="Text 25"/>
          <p:cNvSpPr txBox="1"/>
          <p:nvPr/>
        </p:nvSpPr>
        <p:spPr>
          <a:xfrm>
            <a:off x="8343900" y="1809750"/>
            <a:ext cx="3200400" cy="3714750"/>
          </a:xfrm>
          <a:prstGeom prst="rect">
            <a:avLst/>
          </a:prstGeom>
          <a:noFill/>
          <a:ln/>
        </p:spPr>
        <p:txBody>
          <a:bodyPr wrap="square" lIns="0" tIns="0" rIns="0" bIns="0" rtlCol="0" anchor="t"/>
          <a:lstStyle/>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Solar displaces the 4.18 THB peak energy from 09:00 to 18:00 on weekdays, the most valuable kWh on the bill.</a:t>
            </a:r>
            <a:endParaRPr lang="en-US" sz="1250" dirty="0"/>
          </a:p>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The 08:00 to 16:00 load plateau of about 1.15 MW is above the roof-limited array's average output, so most weekday solar is used on site.</a:t>
            </a:r>
            <a:endParaRPr lang="en-US" sz="1250" dirty="0"/>
          </a:p>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The demand charge is set by one interval a month; PV alone cannot guarantee a lower peak, storage can.</a:t>
            </a:r>
            <a:endParaRPr lang="en-US" sz="1250" dirty="0"/>
          </a:p>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Weekends and holidays are off-peak all day and the load is lower: that is where curtailment happens without export.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The PEA tariff: five building blocks, one monthly peak</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6</a:t>
            </a:r>
            <a:endParaRPr lang="en-US" sz="1000" dirty="0"/>
          </a:p>
        </p:txBody>
      </p:sp>
      <p:sp>
        <p:nvSpPr>
          <p:cNvPr id="8" name="Shape 4"/>
          <p:cNvSpPr/>
          <p:nvPr/>
        </p:nvSpPr>
        <p:spPr>
          <a:xfrm>
            <a:off x="514350" y="1238250"/>
            <a:ext cx="2114550" cy="1276350"/>
          </a:xfrm>
          <a:prstGeom prst="roundRect">
            <a:avLst>
              <a:gd name="adj" fmla="val 13433"/>
            </a:avLst>
          </a:prstGeom>
          <a:solidFill>
            <a:srgbClr val="E98A55"/>
          </a:solidFill>
          <a:ln w="12700">
            <a:solidFill>
              <a:srgbClr val="E98A55"/>
            </a:solidFill>
            <a:prstDash val="solid"/>
          </a:ln>
        </p:spPr>
      </p:sp>
      <p:sp>
        <p:nvSpPr>
          <p:cNvPr id="9" name="Text 5"/>
          <p:cNvSpPr txBox="1"/>
          <p:nvPr/>
        </p:nvSpPr>
        <p:spPr>
          <a:xfrm>
            <a:off x="647700" y="1333500"/>
            <a:ext cx="1847850" cy="28575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Peak energy</a:t>
            </a:r>
            <a:endParaRPr lang="en-US" sz="1500" dirty="0"/>
          </a:p>
        </p:txBody>
      </p:sp>
      <p:sp>
        <p:nvSpPr>
          <p:cNvPr id="10" name="Text 6"/>
          <p:cNvSpPr txBox="1"/>
          <p:nvPr/>
        </p:nvSpPr>
        <p:spPr>
          <a:xfrm>
            <a:off x="609600" y="1676400"/>
            <a:ext cx="1924050" cy="3048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4.1839 THB/kWh</a:t>
            </a:r>
            <a:endParaRPr lang="en-US" sz="1300" dirty="0"/>
          </a:p>
        </p:txBody>
      </p:sp>
      <p:sp>
        <p:nvSpPr>
          <p:cNvPr id="11" name="Text 7"/>
          <p:cNvSpPr txBox="1"/>
          <p:nvPr/>
        </p:nvSpPr>
        <p:spPr>
          <a:xfrm>
            <a:off x="647700" y="2038350"/>
            <a:ext cx="1847850" cy="400050"/>
          </a:xfrm>
          <a:prstGeom prst="rect">
            <a:avLst/>
          </a:prstGeom>
          <a:noFill/>
          <a:ln/>
        </p:spPr>
        <p:txBody>
          <a:bodyPr wrap="square" lIns="0" tIns="0" rIns="0" bIns="0" rtlCol="0" anchor="t"/>
          <a:lstStyle/>
          <a:p>
            <a:pPr algn="ctr" indent="0" marL="0">
              <a:buNone/>
            </a:pPr>
            <a:r>
              <a:rPr lang="en-US" sz="1100" dirty="0">
                <a:solidFill>
                  <a:srgbClr val="FFFFFF"/>
                </a:solidFill>
                <a:latin typeface="Arial" pitchFamily="34" charset="0"/>
                <a:ea typeface="Arial" pitchFamily="34" charset="-122"/>
                <a:cs typeface="Arial" pitchFamily="34" charset="-120"/>
              </a:rPr>
              <a:t>weekdays 09:00-22:00</a:t>
            </a:r>
            <a:endParaRPr lang="en-US" sz="1100" dirty="0"/>
          </a:p>
        </p:txBody>
      </p:sp>
      <p:sp>
        <p:nvSpPr>
          <p:cNvPr id="12" name="Shape 8"/>
          <p:cNvSpPr/>
          <p:nvPr/>
        </p:nvSpPr>
        <p:spPr>
          <a:xfrm>
            <a:off x="2781300" y="1238250"/>
            <a:ext cx="2114550" cy="1276350"/>
          </a:xfrm>
          <a:prstGeom prst="roundRect">
            <a:avLst>
              <a:gd name="adj" fmla="val 13433"/>
            </a:avLst>
          </a:prstGeom>
          <a:solidFill>
            <a:srgbClr val="3F8E73"/>
          </a:solidFill>
          <a:ln w="12700">
            <a:solidFill>
              <a:srgbClr val="3F8E73"/>
            </a:solidFill>
            <a:prstDash val="solid"/>
          </a:ln>
        </p:spPr>
      </p:sp>
      <p:sp>
        <p:nvSpPr>
          <p:cNvPr id="13" name="Text 9"/>
          <p:cNvSpPr txBox="1"/>
          <p:nvPr/>
        </p:nvSpPr>
        <p:spPr>
          <a:xfrm>
            <a:off x="2914650" y="1333500"/>
            <a:ext cx="1847850" cy="28575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Off-peak energy</a:t>
            </a:r>
            <a:endParaRPr lang="en-US" sz="1500" dirty="0"/>
          </a:p>
        </p:txBody>
      </p:sp>
      <p:sp>
        <p:nvSpPr>
          <p:cNvPr id="14" name="Text 10"/>
          <p:cNvSpPr txBox="1"/>
          <p:nvPr/>
        </p:nvSpPr>
        <p:spPr>
          <a:xfrm>
            <a:off x="2876550" y="1676400"/>
            <a:ext cx="1924050" cy="3048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2.6037 THB/kWh</a:t>
            </a:r>
            <a:endParaRPr lang="en-US" sz="1300" dirty="0"/>
          </a:p>
        </p:txBody>
      </p:sp>
      <p:sp>
        <p:nvSpPr>
          <p:cNvPr id="15" name="Text 11"/>
          <p:cNvSpPr txBox="1"/>
          <p:nvPr/>
        </p:nvSpPr>
        <p:spPr>
          <a:xfrm>
            <a:off x="2914650" y="2038350"/>
            <a:ext cx="1847850" cy="400050"/>
          </a:xfrm>
          <a:prstGeom prst="rect">
            <a:avLst/>
          </a:prstGeom>
          <a:noFill/>
          <a:ln/>
        </p:spPr>
        <p:txBody>
          <a:bodyPr wrap="square" lIns="0" tIns="0" rIns="0" bIns="0" rtlCol="0" anchor="t"/>
          <a:lstStyle/>
          <a:p>
            <a:pPr algn="ctr" indent="0" marL="0">
              <a:buNone/>
            </a:pPr>
            <a:r>
              <a:rPr lang="en-US" sz="1100" dirty="0">
                <a:solidFill>
                  <a:srgbClr val="FFFFFF"/>
                </a:solidFill>
                <a:latin typeface="Arial" pitchFamily="34" charset="0"/>
                <a:ea typeface="Arial" pitchFamily="34" charset="-122"/>
                <a:cs typeface="Arial" pitchFamily="34" charset="-120"/>
              </a:rPr>
              <a:t>nights, weekends, holidays</a:t>
            </a:r>
            <a:endParaRPr lang="en-US" sz="1100" dirty="0"/>
          </a:p>
        </p:txBody>
      </p:sp>
      <p:sp>
        <p:nvSpPr>
          <p:cNvPr id="16" name="Shape 12"/>
          <p:cNvSpPr/>
          <p:nvPr/>
        </p:nvSpPr>
        <p:spPr>
          <a:xfrm>
            <a:off x="5048250" y="1238250"/>
            <a:ext cx="2114550" cy="1276350"/>
          </a:xfrm>
          <a:prstGeom prst="roundRect">
            <a:avLst>
              <a:gd name="adj" fmla="val 13433"/>
            </a:avLst>
          </a:prstGeom>
          <a:solidFill>
            <a:srgbClr val="F7D98B"/>
          </a:solidFill>
          <a:ln w="12700">
            <a:solidFill>
              <a:srgbClr val="F7D98B"/>
            </a:solidFill>
            <a:prstDash val="solid"/>
          </a:ln>
        </p:spPr>
      </p:sp>
      <p:sp>
        <p:nvSpPr>
          <p:cNvPr id="17" name="Text 13"/>
          <p:cNvSpPr txBox="1"/>
          <p:nvPr/>
        </p:nvSpPr>
        <p:spPr>
          <a:xfrm>
            <a:off x="5181600" y="1333500"/>
            <a:ext cx="1847850" cy="285750"/>
          </a:xfrm>
          <a:prstGeom prst="rect">
            <a:avLst/>
          </a:prstGeom>
          <a:noFill/>
          <a:ln/>
        </p:spPr>
        <p:txBody>
          <a:bodyPr wrap="square" lIns="0" tIns="0" rIns="0" bIns="0" rtlCol="0" anchor="ctr"/>
          <a:lstStyle/>
          <a:p>
            <a:pPr algn="ctr" indent="0" marL="0">
              <a:buNone/>
            </a:pPr>
            <a:r>
              <a:rPr lang="en-US" sz="1500" b="1" dirty="0">
                <a:solidFill>
                  <a:srgbClr val="143B37"/>
                </a:solidFill>
                <a:latin typeface="Arial" pitchFamily="34" charset="0"/>
                <a:ea typeface="Arial" pitchFamily="34" charset="-122"/>
                <a:cs typeface="Arial" pitchFamily="34" charset="-120"/>
              </a:rPr>
              <a:t>On-peak demand</a:t>
            </a:r>
            <a:endParaRPr lang="en-US" sz="1500" dirty="0"/>
          </a:p>
        </p:txBody>
      </p:sp>
      <p:sp>
        <p:nvSpPr>
          <p:cNvPr id="18" name="Text 14"/>
          <p:cNvSpPr txBox="1"/>
          <p:nvPr/>
        </p:nvSpPr>
        <p:spPr>
          <a:xfrm>
            <a:off x="5143500" y="1676400"/>
            <a:ext cx="1924050" cy="304800"/>
          </a:xfrm>
          <a:prstGeom prst="rect">
            <a:avLst/>
          </a:prstGeom>
          <a:noFill/>
          <a:ln/>
        </p:spPr>
        <p:txBody>
          <a:bodyPr wrap="square" lIns="0" tIns="0" rIns="0" bIns="0" rtlCol="0" anchor="ctr"/>
          <a:lstStyle/>
          <a:p>
            <a:pPr algn="ctr" indent="0" marL="0">
              <a:buNone/>
            </a:pPr>
            <a:r>
              <a:rPr lang="en-US" sz="1300" b="1" dirty="0">
                <a:solidFill>
                  <a:srgbClr val="143B37"/>
                </a:solidFill>
                <a:latin typeface="Arial" pitchFamily="34" charset="0"/>
                <a:ea typeface="Arial" pitchFamily="34" charset="-122"/>
                <a:cs typeface="Arial" pitchFamily="34" charset="-120"/>
              </a:rPr>
              <a:t>132.93 THB/kW a month</a:t>
            </a:r>
            <a:endParaRPr lang="en-US" sz="1300" dirty="0"/>
          </a:p>
        </p:txBody>
      </p:sp>
      <p:sp>
        <p:nvSpPr>
          <p:cNvPr id="19" name="Text 15"/>
          <p:cNvSpPr txBox="1"/>
          <p:nvPr/>
        </p:nvSpPr>
        <p:spPr>
          <a:xfrm>
            <a:off x="5181600" y="2038350"/>
            <a:ext cx="1847850" cy="400050"/>
          </a:xfrm>
          <a:prstGeom prst="rect">
            <a:avLst/>
          </a:prstGeom>
          <a:noFill/>
          <a:ln/>
        </p:spPr>
        <p:txBody>
          <a:bodyPr wrap="square" lIns="0" tIns="0" rIns="0" bIns="0" rtlCol="0" anchor="t"/>
          <a:lstStyle/>
          <a:p>
            <a:pPr algn="ctr" indent="0" marL="0">
              <a:buNone/>
            </a:pPr>
            <a:r>
              <a:rPr lang="en-US" sz="1100" dirty="0">
                <a:solidFill>
                  <a:srgbClr val="143B37"/>
                </a:solidFill>
                <a:latin typeface="Arial" pitchFamily="34" charset="0"/>
                <a:ea typeface="Arial" pitchFamily="34" charset="-122"/>
                <a:cs typeface="Arial" pitchFamily="34" charset="-120"/>
              </a:rPr>
              <a:t>highest on-peak interval</a:t>
            </a:r>
            <a:endParaRPr lang="en-US" sz="1100" dirty="0"/>
          </a:p>
        </p:txBody>
      </p:sp>
      <p:sp>
        <p:nvSpPr>
          <p:cNvPr id="20" name="Shape 16"/>
          <p:cNvSpPr/>
          <p:nvPr/>
        </p:nvSpPr>
        <p:spPr>
          <a:xfrm>
            <a:off x="7315200" y="1238250"/>
            <a:ext cx="2114550" cy="1276350"/>
          </a:xfrm>
          <a:prstGeom prst="roundRect">
            <a:avLst>
              <a:gd name="adj" fmla="val 13433"/>
            </a:avLst>
          </a:prstGeom>
          <a:solidFill>
            <a:srgbClr val="D77C7F"/>
          </a:solidFill>
          <a:ln w="12700">
            <a:solidFill>
              <a:srgbClr val="D77C7F"/>
            </a:solidFill>
            <a:prstDash val="solid"/>
          </a:ln>
        </p:spPr>
      </p:sp>
      <p:sp>
        <p:nvSpPr>
          <p:cNvPr id="21" name="Text 17"/>
          <p:cNvSpPr txBox="1"/>
          <p:nvPr/>
        </p:nvSpPr>
        <p:spPr>
          <a:xfrm>
            <a:off x="7448550" y="1333500"/>
            <a:ext cx="1847850" cy="28575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Ft adjustment</a:t>
            </a:r>
            <a:endParaRPr lang="en-US" sz="1500" dirty="0"/>
          </a:p>
        </p:txBody>
      </p:sp>
      <p:sp>
        <p:nvSpPr>
          <p:cNvPr id="22" name="Text 18"/>
          <p:cNvSpPr txBox="1"/>
          <p:nvPr/>
        </p:nvSpPr>
        <p:spPr>
          <a:xfrm>
            <a:off x="7410450" y="1676400"/>
            <a:ext cx="1924050" cy="3048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0.10-0.37 THB/kWh</a:t>
            </a:r>
            <a:endParaRPr lang="en-US" sz="1300" dirty="0"/>
          </a:p>
        </p:txBody>
      </p:sp>
      <p:sp>
        <p:nvSpPr>
          <p:cNvPr id="23" name="Text 19"/>
          <p:cNvSpPr txBox="1"/>
          <p:nvPr/>
        </p:nvSpPr>
        <p:spPr>
          <a:xfrm>
            <a:off x="7448550" y="2038350"/>
            <a:ext cx="1847850" cy="400050"/>
          </a:xfrm>
          <a:prstGeom prst="rect">
            <a:avLst/>
          </a:prstGeom>
          <a:noFill/>
          <a:ln/>
        </p:spPr>
        <p:txBody>
          <a:bodyPr wrap="square" lIns="0" tIns="0" rIns="0" bIns="0" rtlCol="0" anchor="t"/>
          <a:lstStyle/>
          <a:p>
            <a:pPr algn="ctr" indent="0" marL="0">
              <a:buNone/>
            </a:pPr>
            <a:r>
              <a:rPr lang="en-US" sz="1100" dirty="0">
                <a:solidFill>
                  <a:srgbClr val="FFFFFF"/>
                </a:solidFill>
                <a:latin typeface="Arial" pitchFamily="34" charset="0"/>
                <a:ea typeface="Arial" pitchFamily="34" charset="-122"/>
                <a:cs typeface="Arial" pitchFamily="34" charset="-120"/>
              </a:rPr>
              <a:t>all kWh; reset every four months</a:t>
            </a:r>
            <a:endParaRPr lang="en-US" sz="1100" dirty="0"/>
          </a:p>
        </p:txBody>
      </p:sp>
      <p:sp>
        <p:nvSpPr>
          <p:cNvPr id="24" name="Shape 20"/>
          <p:cNvSpPr/>
          <p:nvPr/>
        </p:nvSpPr>
        <p:spPr>
          <a:xfrm>
            <a:off x="9582150" y="1238250"/>
            <a:ext cx="2114550" cy="1276350"/>
          </a:xfrm>
          <a:prstGeom prst="roundRect">
            <a:avLst>
              <a:gd name="adj" fmla="val 13433"/>
            </a:avLst>
          </a:prstGeom>
          <a:solidFill>
            <a:srgbClr val="B7D9D2"/>
          </a:solidFill>
          <a:ln w="12700">
            <a:solidFill>
              <a:srgbClr val="B7D9D2"/>
            </a:solidFill>
            <a:prstDash val="solid"/>
          </a:ln>
        </p:spPr>
      </p:sp>
      <p:sp>
        <p:nvSpPr>
          <p:cNvPr id="25" name="Text 21"/>
          <p:cNvSpPr txBox="1"/>
          <p:nvPr/>
        </p:nvSpPr>
        <p:spPr>
          <a:xfrm>
            <a:off x="9715500" y="1333500"/>
            <a:ext cx="1847850" cy="285750"/>
          </a:xfrm>
          <a:prstGeom prst="rect">
            <a:avLst/>
          </a:prstGeom>
          <a:noFill/>
          <a:ln/>
        </p:spPr>
        <p:txBody>
          <a:bodyPr wrap="square" lIns="0" tIns="0" rIns="0" bIns="0" rtlCol="0" anchor="ctr"/>
          <a:lstStyle/>
          <a:p>
            <a:pPr algn="ctr" indent="0" marL="0">
              <a:buNone/>
            </a:pPr>
            <a:r>
              <a:rPr lang="en-US" sz="1500" b="1" dirty="0">
                <a:solidFill>
                  <a:srgbClr val="143B37"/>
                </a:solidFill>
                <a:latin typeface="Arial" pitchFamily="34" charset="0"/>
                <a:ea typeface="Arial" pitchFamily="34" charset="-122"/>
                <a:cs typeface="Arial" pitchFamily="34" charset="-120"/>
              </a:rPr>
              <a:t>Service and VAT</a:t>
            </a:r>
            <a:endParaRPr lang="en-US" sz="1500" dirty="0"/>
          </a:p>
        </p:txBody>
      </p:sp>
      <p:sp>
        <p:nvSpPr>
          <p:cNvPr id="26" name="Text 22"/>
          <p:cNvSpPr txBox="1"/>
          <p:nvPr/>
        </p:nvSpPr>
        <p:spPr>
          <a:xfrm>
            <a:off x="9677400" y="1676400"/>
            <a:ext cx="1924050" cy="304800"/>
          </a:xfrm>
          <a:prstGeom prst="rect">
            <a:avLst/>
          </a:prstGeom>
          <a:noFill/>
          <a:ln/>
        </p:spPr>
        <p:txBody>
          <a:bodyPr wrap="square" lIns="0" tIns="0" rIns="0" bIns="0" rtlCol="0" anchor="ctr"/>
          <a:lstStyle/>
          <a:p>
            <a:pPr algn="ctr" indent="0" marL="0">
              <a:buNone/>
            </a:pPr>
            <a:r>
              <a:rPr lang="en-US" sz="1300" b="1" dirty="0">
                <a:solidFill>
                  <a:srgbClr val="143B37"/>
                </a:solidFill>
                <a:latin typeface="Arial" pitchFamily="34" charset="0"/>
                <a:ea typeface="Arial" pitchFamily="34" charset="-122"/>
                <a:cs typeface="Arial" pitchFamily="34" charset="-120"/>
              </a:rPr>
              <a:t>312.24 THB/month</a:t>
            </a:r>
            <a:endParaRPr lang="en-US" sz="1300" dirty="0"/>
          </a:p>
        </p:txBody>
      </p:sp>
      <p:sp>
        <p:nvSpPr>
          <p:cNvPr id="27" name="Text 23"/>
          <p:cNvSpPr txBox="1"/>
          <p:nvPr/>
        </p:nvSpPr>
        <p:spPr>
          <a:xfrm>
            <a:off x="9715500" y="2038350"/>
            <a:ext cx="1847850" cy="400050"/>
          </a:xfrm>
          <a:prstGeom prst="rect">
            <a:avLst/>
          </a:prstGeom>
          <a:noFill/>
          <a:ln/>
        </p:spPr>
        <p:txBody>
          <a:bodyPr wrap="square" lIns="0" tIns="0" rIns="0" bIns="0" rtlCol="0" anchor="t"/>
          <a:lstStyle/>
          <a:p>
            <a:pPr algn="ctr" indent="0" marL="0">
              <a:buNone/>
            </a:pPr>
            <a:r>
              <a:rPr lang="en-US" sz="1100" dirty="0">
                <a:solidFill>
                  <a:srgbClr val="143B37"/>
                </a:solidFill>
                <a:latin typeface="Arial" pitchFamily="34" charset="0"/>
                <a:ea typeface="Arial" pitchFamily="34" charset="-122"/>
                <a:cs typeface="Arial" pitchFamily="34" charset="-120"/>
              </a:rPr>
              <a:t>then 7 percent VAT on the subtotal</a:t>
            </a:r>
            <a:endParaRPr lang="en-US" sz="1100" dirty="0"/>
          </a:p>
        </p:txBody>
      </p:sp>
      <p:sp>
        <p:nvSpPr>
          <p:cNvPr id="28" name="Text 24"/>
          <p:cNvSpPr txBox="1"/>
          <p:nvPr/>
        </p:nvSpPr>
        <p:spPr>
          <a:xfrm>
            <a:off x="514350" y="2762250"/>
            <a:ext cx="5334000" cy="285750"/>
          </a:xfrm>
          <a:prstGeom prst="rect">
            <a:avLst/>
          </a:prstGeom>
          <a:noFill/>
          <a:ln/>
        </p:spPr>
        <p:txBody>
          <a:bodyPr wrap="square" lIns="0" tIns="0" rIns="0" bIns="0" rtlCol="0" anchor="t"/>
          <a:lstStyle/>
          <a:p>
            <a:pPr algn="l" indent="0" marL="0">
              <a:buNone/>
            </a:pPr>
            <a:r>
              <a:rPr lang="en-US" sz="1600" b="1" dirty="0">
                <a:solidFill>
                  <a:srgbClr val="17685F"/>
                </a:solidFill>
                <a:latin typeface="Arial" pitchFamily="34" charset="0"/>
                <a:ea typeface="Arial" pitchFamily="34" charset="-122"/>
                <a:cs typeface="Arial" pitchFamily="34" charset="-120"/>
              </a:rPr>
              <a:t>June 2025 invoice: THB 2.58 million</a:t>
            </a:r>
            <a:endParaRPr lang="en-US" sz="1600" dirty="0"/>
          </a:p>
        </p:txBody>
      </p:sp>
      <p:graphicFrame>
        <p:nvGraphicFramePr>
          <p:cNvPr id="29" name="Chart 0" descr=""/>
          <p:cNvGraphicFramePr/>
          <p:nvPr/>
        </p:nvGraphicFramePr>
        <p:xfrm>
          <a:off x="514350" y="3067050"/>
          <a:ext cx="3143250" cy="3143250"/>
        </p:xfrm>
        <a:graphic xmlns:a="http://schemas.openxmlformats.org/drawingml/2006/main">
          <a:graphicData uri="http://schemas.openxmlformats.org/drawingml/2006/chart">
            <c:chart xmlns:c="http://schemas.openxmlformats.org/drawingml/2006/chart" r:id="rId2"/>
          </a:graphicData>
        </a:graphic>
      </p:graphicFrame>
      <p:sp>
        <p:nvSpPr>
          <p:cNvPr id="30" name="Shape 25"/>
          <p:cNvSpPr/>
          <p:nvPr/>
        </p:nvSpPr>
        <p:spPr>
          <a:xfrm>
            <a:off x="3905250" y="3067050"/>
            <a:ext cx="3619500" cy="3143250"/>
          </a:xfrm>
          <a:prstGeom prst="roundRect">
            <a:avLst>
              <a:gd name="adj" fmla="val 5455"/>
            </a:avLst>
          </a:prstGeom>
          <a:solidFill>
            <a:srgbClr val="FFFFFF"/>
          </a:solidFill>
          <a:ln w="12700">
            <a:solidFill>
              <a:srgbClr val="8AB8B0"/>
            </a:solidFill>
            <a:prstDash val="solid"/>
          </a:ln>
        </p:spPr>
      </p:sp>
      <p:sp>
        <p:nvSpPr>
          <p:cNvPr id="31" name="Text 26"/>
          <p:cNvSpPr txBox="1"/>
          <p:nvPr/>
        </p:nvSpPr>
        <p:spPr>
          <a:xfrm>
            <a:off x="4114800" y="3238500"/>
            <a:ext cx="3238500" cy="247650"/>
          </a:xfrm>
          <a:prstGeom prst="rect">
            <a:avLst/>
          </a:prstGeom>
          <a:noFill/>
          <a:ln/>
        </p:spPr>
        <p:txBody>
          <a:bodyPr wrap="square" lIns="0" tIns="0" rIns="0" bIns="0" rtlCol="0" anchor="t"/>
          <a:lstStyle/>
          <a:p>
            <a:pPr algn="l" indent="0" marL="0">
              <a:buNone/>
            </a:pPr>
            <a:r>
              <a:rPr lang="en-US" sz="1300" b="1" dirty="0">
                <a:solidFill>
                  <a:srgbClr val="17685F"/>
                </a:solidFill>
                <a:latin typeface="Arial" pitchFamily="34" charset="0"/>
                <a:ea typeface="Arial" pitchFamily="34" charset="-122"/>
                <a:cs typeface="Arial" pitchFamily="34" charset="-120"/>
              </a:rPr>
              <a:t>Pre-VAT subtotal THB 2,407,767</a:t>
            </a:r>
            <a:endParaRPr lang="en-US" sz="1300" dirty="0"/>
          </a:p>
        </p:txBody>
      </p:sp>
      <p:sp>
        <p:nvSpPr>
          <p:cNvPr id="32" name="Text 27"/>
          <p:cNvSpPr txBox="1"/>
          <p:nvPr/>
        </p:nvSpPr>
        <p:spPr>
          <a:xfrm>
            <a:off x="4114800" y="3543300"/>
            <a:ext cx="3238500" cy="2476500"/>
          </a:xfrm>
          <a:prstGeom prst="rect">
            <a:avLst/>
          </a:prstGeom>
          <a:noFill/>
          <a:ln/>
        </p:spPr>
        <p:txBody>
          <a:bodyPr wrap="square" lIns="0" tIns="0" rIns="0" bIns="0" rtlCol="0" anchor="t"/>
          <a:lstStyle/>
          <a:p>
            <a:pPr algn="l" indent="0" marL="0">
              <a:buNone/>
            </a:pPr>
            <a:r>
              <a:rPr lang="en-US" sz="1250" b="1" dirty="0">
                <a:solidFill>
                  <a:srgbClr val="143B37"/>
                </a:solidFill>
                <a:latin typeface="Arial" pitchFamily="34" charset="0"/>
                <a:ea typeface="Arial" pitchFamily="34" charset="-122"/>
                <a:cs typeface="Arial" pitchFamily="34" charset="-120"/>
              </a:rPr>
              <a:t>631,580 kWh</a:t>
            </a:r>
            <a:pPr algn="l" indent="0" marL="0">
              <a:spcAft>
                <a:spcPts val="600"/>
              </a:spcAft>
              <a:buNone/>
            </a:pPr>
            <a:r>
              <a:rPr lang="en-US" sz="1250" dirty="0">
                <a:solidFill>
                  <a:srgbClr val="143B37"/>
                </a:solidFill>
                <a:latin typeface="Arial" pitchFamily="34" charset="0"/>
                <a:ea typeface="Arial" pitchFamily="34" charset="-122"/>
                <a:cs typeface="Arial" pitchFamily="34" charset="-120"/>
              </a:rPr>
              <a:t> billed in the month</a:t>
            </a:r>
            <a:endParaRPr lang="en-US" sz="1250" dirty="0"/>
          </a:p>
          <a:p>
            <a:pPr algn="l" indent="0" marL="0">
              <a:buNone/>
            </a:pPr>
            <a:r>
              <a:rPr lang="en-US" sz="1250" b="1" dirty="0">
                <a:solidFill>
                  <a:srgbClr val="143B37"/>
                </a:solidFill>
                <a:latin typeface="Arial" pitchFamily="34" charset="0"/>
                <a:ea typeface="Arial" pitchFamily="34" charset="-122"/>
                <a:cs typeface="Arial" pitchFamily="34" charset="-120"/>
              </a:rPr>
              <a:t>1,368 kW</a:t>
            </a:r>
            <a:pPr algn="l" indent="0" marL="0">
              <a:spcAft>
                <a:spcPts val="600"/>
              </a:spcAft>
              <a:buNone/>
            </a:pPr>
            <a:r>
              <a:rPr lang="en-US" sz="1250" dirty="0">
                <a:solidFill>
                  <a:srgbClr val="143B37"/>
                </a:solidFill>
                <a:latin typeface="Arial" pitchFamily="34" charset="0"/>
                <a:ea typeface="Arial" pitchFamily="34" charset="-122"/>
                <a:cs typeface="Arial" pitchFamily="34" charset="-120"/>
              </a:rPr>
              <a:t> on-peak maximum demand, the single interval that sets THB 181,848 of demand charge</a:t>
            </a:r>
            <a:endParaRPr lang="en-US" sz="1250" dirty="0"/>
          </a:p>
          <a:p>
            <a:pPr algn="l" indent="0" marL="0">
              <a:buNone/>
            </a:pPr>
            <a:r>
              <a:rPr lang="en-US" sz="1250" b="1" dirty="0">
                <a:solidFill>
                  <a:srgbClr val="143B37"/>
                </a:solidFill>
                <a:latin typeface="Arial" pitchFamily="34" charset="0"/>
                <a:ea typeface="Arial" pitchFamily="34" charset="-122"/>
                <a:cs typeface="Arial" pitchFamily="34" charset="-120"/>
              </a:rPr>
              <a:t>Ft 0.1972 THB/kWh</a:t>
            </a:r>
            <a:pPr algn="l" indent="0" marL="0">
              <a:spcAft>
                <a:spcPts val="600"/>
              </a:spcAft>
              <a:buNone/>
            </a:pPr>
            <a:r>
              <a:rPr lang="en-US" sz="1250" dirty="0">
                <a:solidFill>
                  <a:srgbClr val="143B37"/>
                </a:solidFill>
                <a:latin typeface="Arial" pitchFamily="34" charset="0"/>
                <a:ea typeface="Arial" pitchFamily="34" charset="-122"/>
                <a:cs typeface="Arial" pitchFamily="34" charset="-120"/>
              </a:rPr>
              <a:t> on every kWh in that period</a:t>
            </a:r>
            <a:endParaRPr lang="en-US" sz="1250" dirty="0"/>
          </a:p>
          <a:p>
            <a:pPr algn="l" indent="0" marL="0">
              <a:buNone/>
            </a:pPr>
            <a:r>
              <a:rPr lang="en-US" sz="1250" b="1" dirty="0">
                <a:solidFill>
                  <a:srgbClr val="143B37"/>
                </a:solidFill>
                <a:latin typeface="Arial" pitchFamily="34" charset="0"/>
                <a:ea typeface="Arial" pitchFamily="34" charset="-122"/>
                <a:cs typeface="Arial" pitchFamily="34" charset="-120"/>
              </a:rPr>
              <a:t>Energy is 87 percent of the bill;</a:t>
            </a:r>
            <a:pPr algn="l" indent="0" marL="0">
              <a:buNone/>
            </a:pPr>
            <a:r>
              <a:rPr lang="en-US" sz="1250" dirty="0">
                <a:solidFill>
                  <a:srgbClr val="143B37"/>
                </a:solidFill>
                <a:latin typeface="Arial" pitchFamily="34" charset="0"/>
                <a:ea typeface="Arial" pitchFamily="34" charset="-122"/>
                <a:cs typeface="Arial" pitchFamily="34" charset="-120"/>
              </a:rPr>
              <a:t> demand 8 percent, Ft 5 percent; the service charge is negligible</a:t>
            </a:r>
            <a:endParaRPr lang="en-US" sz="1250" dirty="0"/>
          </a:p>
        </p:txBody>
      </p:sp>
      <p:sp>
        <p:nvSpPr>
          <p:cNvPr id="33" name="Shape 28"/>
          <p:cNvSpPr/>
          <p:nvPr/>
        </p:nvSpPr>
        <p:spPr>
          <a:xfrm>
            <a:off x="7810500" y="2762250"/>
            <a:ext cx="3924300" cy="3448050"/>
          </a:xfrm>
          <a:prstGeom prst="roundRect">
            <a:avLst>
              <a:gd name="adj" fmla="val 4972"/>
            </a:avLst>
          </a:prstGeom>
          <a:solidFill>
            <a:srgbClr val="17685F"/>
          </a:solidFill>
          <a:ln w="12700">
            <a:solidFill>
              <a:srgbClr val="17685F"/>
            </a:solidFill>
            <a:prstDash val="solid"/>
          </a:ln>
        </p:spPr>
      </p:sp>
      <p:sp>
        <p:nvSpPr>
          <p:cNvPr id="34" name="Text 29"/>
          <p:cNvSpPr txBox="1"/>
          <p:nvPr/>
        </p:nvSpPr>
        <p:spPr>
          <a:xfrm>
            <a:off x="8058150" y="2952750"/>
            <a:ext cx="3429000" cy="28575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Why the structure matters</a:t>
            </a:r>
            <a:endParaRPr lang="en-US" sz="1700" dirty="0"/>
          </a:p>
        </p:txBody>
      </p:sp>
      <p:sp>
        <p:nvSpPr>
          <p:cNvPr id="35" name="Text 30"/>
          <p:cNvSpPr txBox="1"/>
          <p:nvPr/>
        </p:nvSpPr>
        <p:spPr>
          <a:xfrm>
            <a:off x="8058150" y="3352800"/>
            <a:ext cx="3486150" cy="2762250"/>
          </a:xfrm>
          <a:prstGeom prst="rect">
            <a:avLst/>
          </a:prstGeom>
          <a:noFill/>
          <a:ln/>
        </p:spPr>
        <p:txBody>
          <a:bodyPr wrap="square" lIns="0" tIns="0" rIns="0" bIns="0" rtlCol="0" anchor="t"/>
          <a:lstStyle/>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Solar earns the peak rate on weekdays and the off-peak rate on weekends and holidays; the blended value of a solar kWh is well below the peak rate.</a:t>
            </a:r>
            <a:endParaRPr lang="en-US" sz="1250" dirty="0"/>
          </a:p>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One monthly interval sets the demand charge, so a cloudy quarter hour can wipe out a month of peak shaving unless a battery covers it.</a:t>
            </a:r>
            <a:endParaRPr lang="en-US" sz="1250" dirty="0"/>
          </a:p>
          <a:p>
            <a:pPr marL="203200" indent="-203200">
              <a:spcAft>
                <a:spcPts val="1000"/>
              </a:spcAft>
              <a:buSzPct val="100000"/>
              <a:buChar char="•"/>
            </a:pPr>
            <a:r>
              <a:rPr lang="en-US" sz="1250" dirty="0">
                <a:solidFill>
                  <a:srgbClr val="FFFFFF"/>
                </a:solidFill>
                <a:latin typeface="Arial" pitchFamily="34" charset="0"/>
                <a:ea typeface="Arial" pitchFamily="34" charset="-122"/>
                <a:cs typeface="Arial" pitchFamily="34" charset="-120"/>
              </a:rPr>
              <a:t>Ft moves every four months and is outside the site's control; the model carries 3 percent a year tariff escalation and does not forecast Ft.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Assumptions (1): technical and cost inputs</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14350" y="1200150"/>
          <a:ext cx="11220450" cy="914400"/>
        </p:xfrm>
        <a:graphic>
          <a:graphicData uri="http://schemas.openxmlformats.org/drawingml/2006/table">
            <a:tbl>
              <a:tblPr/>
              <a:tblGrid>
                <a:gridCol w="2857500"/>
                <a:gridCol w="2857500"/>
                <a:gridCol w="5505450"/>
              </a:tblGrid>
              <a:tr h="361950">
                <a:tc>
                  <a:txBody>
                    <a:bodyPr/>
                    <a:lstStyle/>
                    <a:p>
                      <a:pPr indent="0" marL="0">
                        <a:buNone/>
                      </a:pPr>
                      <a:r>
                        <a:rPr lang="en-US" sz="1150" b="1" dirty="0">
                          <a:solidFill>
                            <a:srgbClr val="FFFFFF"/>
                          </a:solidFill>
                          <a:latin typeface="Arial" pitchFamily="34" charset="0"/>
                          <a:ea typeface="Arial" pitchFamily="34" charset="-122"/>
                          <a:cs typeface="Arial" pitchFamily="34" charset="-120"/>
                        </a:rPr>
                        <a:t>Item</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Value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Basis</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r>
              <a:tr h="361950">
                <a:tc>
                  <a:txBody>
                    <a:bodyPr/>
                    <a:lstStyle/>
                    <a:p>
                      <a:pPr indent="0" marL="0">
                        <a:buNone/>
                      </a:pPr>
                      <a:r>
                        <a:rPr lang="en-US" sz="1150" dirty="0">
                          <a:solidFill>
                            <a:srgbClr val="143B37"/>
                          </a:solidFill>
                          <a:latin typeface="Arial" pitchFamily="34" charset="0"/>
                          <a:ea typeface="Arial" pitchFamily="34" charset="-122"/>
                          <a:cs typeface="Arial" pitchFamily="34" charset="-120"/>
                        </a:rPr>
                        <a:t>PV installed cost</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500 USD/kWp</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Keen quotation; below published Thai benchmarks (see slide 14)</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indent="0" marL="0">
                        <a:buNone/>
                      </a:pPr>
                      <a:r>
                        <a:rPr lang="en-US" sz="1150" dirty="0">
                          <a:solidFill>
                            <a:srgbClr val="143B37"/>
                          </a:solidFill>
                          <a:latin typeface="Arial" pitchFamily="34" charset="0"/>
                          <a:ea typeface="Arial" pitchFamily="34" charset="-122"/>
                          <a:cs typeface="Arial" pitchFamily="34" charset="-120"/>
                        </a:rPr>
                        <a:t>Battery installed cost</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100 USD/kW + 150 USD/kWh</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Keen quotation; 325 USD/kW installed for a 1.5 hour system</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indent="0" marL="0">
                        <a:buNone/>
                      </a:pPr>
                      <a:r>
                        <a:rPr lang="en-US" sz="1150" dirty="0">
                          <a:solidFill>
                            <a:srgbClr val="143B37"/>
                          </a:solidFill>
                          <a:latin typeface="Arial" pitchFamily="34" charset="0"/>
                          <a:ea typeface="Arial" pitchFamily="34" charset="-122"/>
                          <a:cs typeface="Arial" pitchFamily="34" charset="-120"/>
                        </a:rPr>
                        <a:t>Battery minimum duration</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1.5 hours</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provisional</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indent="0" marL="0">
                        <a:buNone/>
                      </a:pPr>
                      <a:r>
                        <a:rPr lang="en-US" sz="1150" dirty="0">
                          <a:solidFill>
                            <a:srgbClr val="143B37"/>
                          </a:solidFill>
                          <a:latin typeface="Arial" pitchFamily="34" charset="0"/>
                          <a:ea typeface="Arial" pitchFamily="34" charset="-122"/>
                          <a:cs typeface="Arial" pitchFamily="34" charset="-120"/>
                        </a:rPr>
                        <a:t>PV operating cost</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8.00 USD/kWp per year</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supplied at 7.50 (1.5 percent of capex); optimiser rounds to whole dollars</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indent="0" marL="0">
                        <a:buNone/>
                      </a:pPr>
                      <a:r>
                        <a:rPr lang="en-US" sz="1150" dirty="0">
                          <a:solidFill>
                            <a:srgbClr val="143B37"/>
                          </a:solidFill>
                          <a:latin typeface="Arial" pitchFamily="34" charset="0"/>
                          <a:ea typeface="Arial" pitchFamily="34" charset="-122"/>
                          <a:cs typeface="Arial" pitchFamily="34" charset="-120"/>
                        </a:rPr>
                        <a:t>Battery operating cost</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1 percent of install cost per year</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optimiser convention</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indent="0" marL="0">
                        <a:buNone/>
                      </a:pPr>
                      <a:r>
                        <a:rPr lang="en-US" sz="1150" dirty="0">
                          <a:solidFill>
                            <a:srgbClr val="143B37"/>
                          </a:solidFill>
                          <a:latin typeface="Arial" pitchFamily="34" charset="0"/>
                          <a:ea typeface="Arial" pitchFamily="34" charset="-122"/>
                          <a:cs typeface="Arial" pitchFamily="34" charset="-120"/>
                        </a:rPr>
                        <a:t>Insurance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0.5 percent of capex per year</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provisional</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indent="0" marL="0">
                        <a:buNone/>
                      </a:pPr>
                      <a:r>
                        <a:rPr lang="en-US" sz="1150" dirty="0">
                          <a:solidFill>
                            <a:srgbClr val="143B37"/>
                          </a:solidFill>
                          <a:latin typeface="Arial" pitchFamily="34" charset="0"/>
                          <a:ea typeface="Arial" pitchFamily="34" charset="-122"/>
                          <a:cs typeface="Arial" pitchFamily="34" charset="-120"/>
                        </a:rPr>
                        <a:t>Specific yield, year 1</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1,498 kWh/kWp</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PVWatts irradiance for Phimai: 2,049 kWh/m2 plane of array; performance ratio 0.731; tilt 15 degrees</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indent="0" marL="0">
                        <a:buNone/>
                      </a:pPr>
                      <a:r>
                        <a:rPr lang="en-US" sz="1150" dirty="0">
                          <a:solidFill>
                            <a:srgbClr val="143B37"/>
                          </a:solidFill>
                          <a:latin typeface="Arial" pitchFamily="34" charset="0"/>
                          <a:ea typeface="Arial" pitchFamily="34" charset="-122"/>
                          <a:cs typeface="Arial" pitchFamily="34" charset="-120"/>
                        </a:rPr>
                        <a:t>PV degradation</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0.5 percent per year</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optimiser default</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indent="0" marL="0">
                        <a:buNone/>
                      </a:pPr>
                      <a:r>
                        <a:rPr lang="en-US" sz="1150" dirty="0">
                          <a:solidFill>
                            <a:srgbClr val="143B37"/>
                          </a:solidFill>
                          <a:latin typeface="Arial" pitchFamily="34" charset="0"/>
                          <a:ea typeface="Arial" pitchFamily="34" charset="-122"/>
                          <a:cs typeface="Arial" pitchFamily="34" charset="-120"/>
                        </a:rPr>
                        <a:t>Battery replacement</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year 10, 100 percent of install cost, whole system</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conservative case; capitalised and depreciated over 5 years</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indent="0" marL="0">
                        <a:buNone/>
                      </a:pPr>
                      <a:r>
                        <a:rPr lang="en-US" sz="1150" dirty="0">
                          <a:solidFill>
                            <a:srgbClr val="143B37"/>
                          </a:solidFill>
                          <a:latin typeface="Arial" pitchFamily="34" charset="0"/>
                          <a:ea typeface="Arial" pitchFamily="34" charset="-122"/>
                          <a:cs typeface="Arial" pitchFamily="34" charset="-120"/>
                        </a:rPr>
                        <a:t>PV inverter replacement</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year 11, 10 percent of PV capex</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Allotrope convention, provisional</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indent="0" marL="0">
                        <a:buNone/>
                      </a:pPr>
                      <a:r>
                        <a:rPr lang="en-US" sz="1150" dirty="0">
                          <a:solidFill>
                            <a:srgbClr val="143B37"/>
                          </a:solidFill>
                          <a:latin typeface="Arial" pitchFamily="34" charset="0"/>
                          <a:ea typeface="Arial" pitchFamily="34" charset="-122"/>
                          <a:cs typeface="Arial" pitchFamily="34" charset="-120"/>
                        </a:rPr>
                        <a:t>Grid export</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none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strict no-export site; surplus is curtailed</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indent="0" marL="0">
                        <a:buNone/>
                      </a:pPr>
                      <a:r>
                        <a:rPr lang="en-US" sz="1150" dirty="0">
                          <a:solidFill>
                            <a:srgbClr val="143B37"/>
                          </a:solidFill>
                          <a:latin typeface="Arial" pitchFamily="34" charset="0"/>
                          <a:ea typeface="Arial" pitchFamily="34" charset="-122"/>
                          <a:cs typeface="Arial" pitchFamily="34" charset="-120"/>
                        </a:rPr>
                        <a:t>Grid connection, power factor mitigation, permit fees</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excluded from capex</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50" dirty="0">
                          <a:solidFill>
                            <a:srgbClr val="143B37"/>
                          </a:solidFill>
                          <a:latin typeface="Arial" pitchFamily="34" charset="0"/>
                          <a:ea typeface="Arial" pitchFamily="34" charset="-122"/>
                          <a:cs typeface="Arial" pitchFamily="34" charset="-120"/>
                        </a:rPr>
                        <a:t>to be added when quoted</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Assumptions (2): financing, tax and scope</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8</a:t>
            </a:r>
            <a:endParaRPr lang="en-US" sz="1000" dirty="0"/>
          </a:p>
        </p:txBody>
      </p:sp>
      <p:sp>
        <p:nvSpPr>
          <p:cNvPr id="8" name="Shape 4"/>
          <p:cNvSpPr/>
          <p:nvPr/>
        </p:nvSpPr>
        <p:spPr>
          <a:xfrm>
            <a:off x="514350" y="1200150"/>
            <a:ext cx="5715000" cy="4476750"/>
          </a:xfrm>
          <a:prstGeom prst="roundRect">
            <a:avLst>
              <a:gd name="adj" fmla="val 3830"/>
            </a:avLst>
          </a:prstGeom>
          <a:solidFill>
            <a:srgbClr val="FFFFFF"/>
          </a:solidFill>
          <a:ln w="12700">
            <a:solidFill>
              <a:srgbClr val="8AB8B0"/>
            </a:solidFill>
            <a:prstDash val="solid"/>
          </a:ln>
        </p:spPr>
      </p:sp>
      <p:sp>
        <p:nvSpPr>
          <p:cNvPr id="9" name="Text 5"/>
          <p:cNvSpPr txBox="1"/>
          <p:nvPr/>
        </p:nvSpPr>
        <p:spPr>
          <a:xfrm>
            <a:off x="742950" y="1371600"/>
            <a:ext cx="5143500" cy="266700"/>
          </a:xfrm>
          <a:prstGeom prst="rect">
            <a:avLst/>
          </a:prstGeom>
          <a:noFill/>
          <a:ln/>
        </p:spPr>
        <p:txBody>
          <a:bodyPr wrap="square" lIns="0" tIns="0" rIns="0" bIns="0" rtlCol="0" anchor="t"/>
          <a:lstStyle/>
          <a:p>
            <a:pPr algn="l" indent="0" marL="0">
              <a:buNone/>
            </a:pPr>
            <a:r>
              <a:rPr lang="en-US" sz="1700" b="1" dirty="0">
                <a:solidFill>
                  <a:srgbClr val="17685F"/>
                </a:solidFill>
                <a:latin typeface="Arial" pitchFamily="34" charset="0"/>
                <a:ea typeface="Arial" pitchFamily="34" charset="-122"/>
                <a:cs typeface="Arial" pitchFamily="34" charset="-120"/>
              </a:rPr>
              <a:t>Financing and tax</a:t>
            </a:r>
            <a:endParaRPr lang="en-US" sz="1700" dirty="0"/>
          </a:p>
        </p:txBody>
      </p:sp>
      <p:sp>
        <p:nvSpPr>
          <p:cNvPr id="10" name="Text 6"/>
          <p:cNvSpPr txBox="1"/>
          <p:nvPr/>
        </p:nvSpPr>
        <p:spPr>
          <a:xfrm>
            <a:off x="742950" y="173355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Project life</a:t>
            </a:r>
            <a:endParaRPr lang="en-US" sz="1250" dirty="0"/>
          </a:p>
        </p:txBody>
      </p:sp>
      <p:sp>
        <p:nvSpPr>
          <p:cNvPr id="11" name="Text 7"/>
          <p:cNvSpPr txBox="1"/>
          <p:nvPr/>
        </p:nvSpPr>
        <p:spPr>
          <a:xfrm>
            <a:off x="2724150" y="173355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20 years</a:t>
            </a:r>
            <a:endParaRPr lang="en-US" sz="1250" dirty="0"/>
          </a:p>
        </p:txBody>
      </p:sp>
      <p:sp>
        <p:nvSpPr>
          <p:cNvPr id="12" name="Shape 8"/>
          <p:cNvSpPr/>
          <p:nvPr/>
        </p:nvSpPr>
        <p:spPr>
          <a:xfrm>
            <a:off x="742950" y="2066925"/>
            <a:ext cx="5257800" cy="0"/>
          </a:xfrm>
          <a:prstGeom prst="line">
            <a:avLst/>
          </a:prstGeom>
          <a:noFill/>
          <a:ln w="9525">
            <a:solidFill>
              <a:srgbClr val="E5E9E8"/>
            </a:solidFill>
            <a:prstDash val="solid"/>
          </a:ln>
        </p:spPr>
      </p:sp>
      <p:sp>
        <p:nvSpPr>
          <p:cNvPr id="13" name="Text 9"/>
          <p:cNvSpPr txBox="1"/>
          <p:nvPr/>
        </p:nvSpPr>
        <p:spPr>
          <a:xfrm>
            <a:off x="742950" y="209550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Discount rate</a:t>
            </a:r>
            <a:endParaRPr lang="en-US" sz="1250" dirty="0"/>
          </a:p>
        </p:txBody>
      </p:sp>
      <p:sp>
        <p:nvSpPr>
          <p:cNvPr id="14" name="Text 10"/>
          <p:cNvSpPr txBox="1"/>
          <p:nvPr/>
        </p:nvSpPr>
        <p:spPr>
          <a:xfrm>
            <a:off x="2724150" y="209550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11 percent, equity NPV basis</a:t>
            </a:r>
            <a:endParaRPr lang="en-US" sz="1250" dirty="0"/>
          </a:p>
        </p:txBody>
      </p:sp>
      <p:sp>
        <p:nvSpPr>
          <p:cNvPr id="15" name="Shape 11"/>
          <p:cNvSpPr/>
          <p:nvPr/>
        </p:nvSpPr>
        <p:spPr>
          <a:xfrm>
            <a:off x="742950" y="2428875"/>
            <a:ext cx="5257800" cy="0"/>
          </a:xfrm>
          <a:prstGeom prst="line">
            <a:avLst/>
          </a:prstGeom>
          <a:noFill/>
          <a:ln w="9525">
            <a:solidFill>
              <a:srgbClr val="E5E9E8"/>
            </a:solidFill>
            <a:prstDash val="solid"/>
          </a:ln>
        </p:spPr>
      </p:sp>
      <p:sp>
        <p:nvSpPr>
          <p:cNvPr id="16" name="Text 12"/>
          <p:cNvSpPr txBox="1"/>
          <p:nvPr/>
        </p:nvSpPr>
        <p:spPr>
          <a:xfrm>
            <a:off x="742950" y="245745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Debt</a:t>
            </a:r>
            <a:endParaRPr lang="en-US" sz="1250" dirty="0"/>
          </a:p>
        </p:txBody>
      </p:sp>
      <p:sp>
        <p:nvSpPr>
          <p:cNvPr id="17" name="Text 13"/>
          <p:cNvSpPr txBox="1"/>
          <p:nvPr/>
        </p:nvSpPr>
        <p:spPr>
          <a:xfrm>
            <a:off x="2724150" y="245745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70 percent of capex, 6.5 percent, 10 years, level payments</a:t>
            </a:r>
            <a:endParaRPr lang="en-US" sz="1250" dirty="0"/>
          </a:p>
        </p:txBody>
      </p:sp>
      <p:sp>
        <p:nvSpPr>
          <p:cNvPr id="18" name="Shape 14"/>
          <p:cNvSpPr/>
          <p:nvPr/>
        </p:nvSpPr>
        <p:spPr>
          <a:xfrm>
            <a:off x="742950" y="2790825"/>
            <a:ext cx="5257800" cy="0"/>
          </a:xfrm>
          <a:prstGeom prst="line">
            <a:avLst/>
          </a:prstGeom>
          <a:noFill/>
          <a:ln w="9525">
            <a:solidFill>
              <a:srgbClr val="E5E9E8"/>
            </a:solidFill>
            <a:prstDash val="solid"/>
          </a:ln>
        </p:spPr>
      </p:sp>
      <p:sp>
        <p:nvSpPr>
          <p:cNvPr id="19" name="Text 15"/>
          <p:cNvSpPr txBox="1"/>
          <p:nvPr/>
        </p:nvSpPr>
        <p:spPr>
          <a:xfrm>
            <a:off x="742950" y="281940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Exchange rate</a:t>
            </a:r>
            <a:endParaRPr lang="en-US" sz="1250" dirty="0"/>
          </a:p>
        </p:txBody>
      </p:sp>
      <p:sp>
        <p:nvSpPr>
          <p:cNvPr id="20" name="Text 16"/>
          <p:cNvSpPr txBox="1"/>
          <p:nvPr/>
        </p:nvSpPr>
        <p:spPr>
          <a:xfrm>
            <a:off x="2724150" y="281940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32.5 THB per USD, planning rate</a:t>
            </a:r>
            <a:endParaRPr lang="en-US" sz="1250" dirty="0"/>
          </a:p>
        </p:txBody>
      </p:sp>
      <p:sp>
        <p:nvSpPr>
          <p:cNvPr id="21" name="Shape 17"/>
          <p:cNvSpPr/>
          <p:nvPr/>
        </p:nvSpPr>
        <p:spPr>
          <a:xfrm>
            <a:off x="742950" y="3152775"/>
            <a:ext cx="5257800" cy="0"/>
          </a:xfrm>
          <a:prstGeom prst="line">
            <a:avLst/>
          </a:prstGeom>
          <a:noFill/>
          <a:ln w="9525">
            <a:solidFill>
              <a:srgbClr val="E5E9E8"/>
            </a:solidFill>
            <a:prstDash val="solid"/>
          </a:ln>
        </p:spPr>
      </p:sp>
      <p:sp>
        <p:nvSpPr>
          <p:cNvPr id="22" name="Text 18"/>
          <p:cNvSpPr txBox="1"/>
          <p:nvPr/>
        </p:nvSpPr>
        <p:spPr>
          <a:xfrm>
            <a:off x="742950" y="318135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Corporate income tax</a:t>
            </a:r>
            <a:endParaRPr lang="en-US" sz="1250" dirty="0"/>
          </a:p>
        </p:txBody>
      </p:sp>
      <p:sp>
        <p:nvSpPr>
          <p:cNvPr id="23" name="Text 19"/>
          <p:cNvSpPr txBox="1"/>
          <p:nvPr/>
        </p:nvSpPr>
        <p:spPr>
          <a:xfrm>
            <a:off x="2724150" y="318135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20 percent flat, no incentive regime</a:t>
            </a:r>
            <a:endParaRPr lang="en-US" sz="1250" dirty="0"/>
          </a:p>
        </p:txBody>
      </p:sp>
      <p:sp>
        <p:nvSpPr>
          <p:cNvPr id="24" name="Shape 20"/>
          <p:cNvSpPr/>
          <p:nvPr/>
        </p:nvSpPr>
        <p:spPr>
          <a:xfrm>
            <a:off x="742950" y="3514725"/>
            <a:ext cx="5257800" cy="0"/>
          </a:xfrm>
          <a:prstGeom prst="line">
            <a:avLst/>
          </a:prstGeom>
          <a:noFill/>
          <a:ln w="9525">
            <a:solidFill>
              <a:srgbClr val="E5E9E8"/>
            </a:solidFill>
            <a:prstDash val="solid"/>
          </a:ln>
        </p:spPr>
      </p:sp>
      <p:sp>
        <p:nvSpPr>
          <p:cNvPr id="25" name="Text 21"/>
          <p:cNvSpPr txBox="1"/>
          <p:nvPr/>
        </p:nvSpPr>
        <p:spPr>
          <a:xfrm>
            <a:off x="742950" y="354330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Depreciation</a:t>
            </a:r>
            <a:endParaRPr lang="en-US" sz="1250" dirty="0"/>
          </a:p>
        </p:txBody>
      </p:sp>
      <p:sp>
        <p:nvSpPr>
          <p:cNvPr id="26" name="Text 22"/>
          <p:cNvSpPr txBox="1"/>
          <p:nvPr/>
        </p:nvSpPr>
        <p:spPr>
          <a:xfrm>
            <a:off x="2724150" y="354330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5 year machinery life, PV and battery alike</a:t>
            </a:r>
            <a:endParaRPr lang="en-US" sz="1250" dirty="0"/>
          </a:p>
        </p:txBody>
      </p:sp>
      <p:sp>
        <p:nvSpPr>
          <p:cNvPr id="27" name="Shape 23"/>
          <p:cNvSpPr/>
          <p:nvPr/>
        </p:nvSpPr>
        <p:spPr>
          <a:xfrm>
            <a:off x="742950" y="3876675"/>
            <a:ext cx="5257800" cy="0"/>
          </a:xfrm>
          <a:prstGeom prst="line">
            <a:avLst/>
          </a:prstGeom>
          <a:noFill/>
          <a:ln w="9525">
            <a:solidFill>
              <a:srgbClr val="E5E9E8"/>
            </a:solidFill>
            <a:prstDash val="solid"/>
          </a:ln>
        </p:spPr>
      </p:sp>
      <p:sp>
        <p:nvSpPr>
          <p:cNvPr id="28" name="Text 24"/>
          <p:cNvSpPr txBox="1"/>
          <p:nvPr/>
        </p:nvSpPr>
        <p:spPr>
          <a:xfrm>
            <a:off x="742950" y="390525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Tariff escalation</a:t>
            </a:r>
            <a:endParaRPr lang="en-US" sz="1250" dirty="0"/>
          </a:p>
        </p:txBody>
      </p:sp>
      <p:sp>
        <p:nvSpPr>
          <p:cNvPr id="29" name="Text 25"/>
          <p:cNvSpPr txBox="1"/>
          <p:nvPr/>
        </p:nvSpPr>
        <p:spPr>
          <a:xfrm>
            <a:off x="2724150" y="390525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3 percent a year on the PEA bill (provisional)</a:t>
            </a:r>
            <a:endParaRPr lang="en-US" sz="1250" dirty="0"/>
          </a:p>
        </p:txBody>
      </p:sp>
      <p:sp>
        <p:nvSpPr>
          <p:cNvPr id="30" name="Shape 26"/>
          <p:cNvSpPr/>
          <p:nvPr/>
        </p:nvSpPr>
        <p:spPr>
          <a:xfrm>
            <a:off x="742950" y="4238625"/>
            <a:ext cx="5257800" cy="0"/>
          </a:xfrm>
          <a:prstGeom prst="line">
            <a:avLst/>
          </a:prstGeom>
          <a:noFill/>
          <a:ln w="9525">
            <a:solidFill>
              <a:srgbClr val="E5E9E8"/>
            </a:solidFill>
            <a:prstDash val="solid"/>
          </a:ln>
        </p:spPr>
      </p:sp>
      <p:sp>
        <p:nvSpPr>
          <p:cNvPr id="31" name="Text 27"/>
          <p:cNvSpPr txBox="1"/>
          <p:nvPr/>
        </p:nvSpPr>
        <p:spPr>
          <a:xfrm>
            <a:off x="742950" y="426720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O&amp;M escalation</a:t>
            </a:r>
            <a:endParaRPr lang="en-US" sz="1250" dirty="0"/>
          </a:p>
        </p:txBody>
      </p:sp>
      <p:sp>
        <p:nvSpPr>
          <p:cNvPr id="32" name="Text 28"/>
          <p:cNvSpPr txBox="1"/>
          <p:nvPr/>
        </p:nvSpPr>
        <p:spPr>
          <a:xfrm>
            <a:off x="2724150" y="426720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3 percent a year</a:t>
            </a:r>
            <a:endParaRPr lang="en-US" sz="1250" dirty="0"/>
          </a:p>
        </p:txBody>
      </p:sp>
      <p:sp>
        <p:nvSpPr>
          <p:cNvPr id="33" name="Shape 29"/>
          <p:cNvSpPr/>
          <p:nvPr/>
        </p:nvSpPr>
        <p:spPr>
          <a:xfrm>
            <a:off x="742950" y="4600575"/>
            <a:ext cx="5257800" cy="0"/>
          </a:xfrm>
          <a:prstGeom prst="line">
            <a:avLst/>
          </a:prstGeom>
          <a:noFill/>
          <a:ln w="9525">
            <a:solidFill>
              <a:srgbClr val="E5E9E8"/>
            </a:solidFill>
            <a:prstDash val="solid"/>
          </a:ln>
        </p:spPr>
      </p:sp>
      <p:sp>
        <p:nvSpPr>
          <p:cNvPr id="34" name="Text 30"/>
          <p:cNvSpPr txBox="1"/>
          <p:nvPr/>
        </p:nvSpPr>
        <p:spPr>
          <a:xfrm>
            <a:off x="742950" y="4629150"/>
            <a:ext cx="1905000" cy="304800"/>
          </a:xfrm>
          <a:prstGeom prst="rect">
            <a:avLst/>
          </a:prstGeom>
          <a:noFill/>
          <a:ln/>
        </p:spPr>
        <p:txBody>
          <a:bodyPr wrap="square" lIns="0" tIns="0" rIns="0" bIns="0" rtlCol="0" anchor="ctr"/>
          <a:lstStyle/>
          <a:p>
            <a:pPr algn="l" indent="0" marL="0">
              <a:buNone/>
            </a:pPr>
            <a:r>
              <a:rPr lang="en-US" sz="1250" b="1" dirty="0">
                <a:solidFill>
                  <a:srgbClr val="143B37"/>
                </a:solidFill>
                <a:latin typeface="Arial" pitchFamily="34" charset="0"/>
                <a:ea typeface="Arial" pitchFamily="34" charset="-122"/>
                <a:cs typeface="Arial" pitchFamily="34" charset="-120"/>
              </a:rPr>
              <a:t>VAT</a:t>
            </a:r>
            <a:endParaRPr lang="en-US" sz="1250" dirty="0"/>
          </a:p>
        </p:txBody>
      </p:sp>
      <p:sp>
        <p:nvSpPr>
          <p:cNvPr id="35" name="Text 31"/>
          <p:cNvSpPr txBox="1"/>
          <p:nvPr/>
        </p:nvSpPr>
        <p:spPr>
          <a:xfrm>
            <a:off x="2724150" y="4629150"/>
            <a:ext cx="3333750" cy="304800"/>
          </a:xfrm>
          <a:prstGeom prst="rect">
            <a:avLst/>
          </a:prstGeom>
          <a:noFill/>
          <a:ln/>
        </p:spPr>
        <p:txBody>
          <a:bodyPr wrap="square" lIns="0" tIns="0" rIns="0" bIns="0" rtlCol="0" anchor="ctr"/>
          <a:lstStyle/>
          <a:p>
            <a:pPr algn="l" indent="0" marL="0">
              <a:buNone/>
            </a:pPr>
            <a:r>
              <a:rPr lang="en-US" sz="1250" dirty="0">
                <a:solidFill>
                  <a:srgbClr val="143B37"/>
                </a:solidFill>
                <a:latin typeface="Arial" pitchFamily="34" charset="0"/>
                <a:ea typeface="Arial" pitchFamily="34" charset="-122"/>
                <a:cs typeface="Arial" pitchFamily="34" charset="-120"/>
              </a:rPr>
              <a:t>7 percent on the bill</a:t>
            </a:r>
            <a:endParaRPr lang="en-US" sz="1250" dirty="0"/>
          </a:p>
        </p:txBody>
      </p:sp>
      <p:sp>
        <p:nvSpPr>
          <p:cNvPr id="36" name="Shape 32"/>
          <p:cNvSpPr/>
          <p:nvPr/>
        </p:nvSpPr>
        <p:spPr>
          <a:xfrm>
            <a:off x="6534150" y="1200150"/>
            <a:ext cx="5200650" cy="1905000"/>
          </a:xfrm>
          <a:prstGeom prst="roundRect">
            <a:avLst>
              <a:gd name="adj" fmla="val 9000"/>
            </a:avLst>
          </a:prstGeom>
          <a:solidFill>
            <a:srgbClr val="17685F"/>
          </a:solidFill>
          <a:ln w="12700">
            <a:solidFill>
              <a:srgbClr val="17685F"/>
            </a:solidFill>
            <a:prstDash val="solid"/>
          </a:ln>
        </p:spPr>
      </p:sp>
      <p:sp>
        <p:nvSpPr>
          <p:cNvPr id="37" name="Text 33"/>
          <p:cNvSpPr txBox="1"/>
          <p:nvPr/>
        </p:nvSpPr>
        <p:spPr>
          <a:xfrm>
            <a:off x="6762750" y="1371600"/>
            <a:ext cx="4762500" cy="26670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Ownership structure</a:t>
            </a:r>
            <a:endParaRPr lang="en-US" sz="1700" dirty="0"/>
          </a:p>
        </p:txBody>
      </p:sp>
      <p:sp>
        <p:nvSpPr>
          <p:cNvPr id="38" name="Text 34"/>
          <p:cNvSpPr txBox="1"/>
          <p:nvPr/>
        </p:nvSpPr>
        <p:spPr>
          <a:xfrm>
            <a:off x="6762750" y="1695450"/>
            <a:ext cx="4762500" cy="1238250"/>
          </a:xfrm>
          <a:prstGeom prst="rect">
            <a:avLst/>
          </a:prstGeom>
          <a:noFill/>
          <a:ln/>
        </p:spPr>
        <p:txBody>
          <a:bodyPr wrap="square" lIns="0" tIns="0" rIns="0" bIns="0" rtlCol="0" anchor="t"/>
          <a:lstStyle/>
          <a:p>
            <a:pPr algn="l" indent="0" marL="0">
              <a:buNone/>
            </a:pPr>
            <a:r>
              <a:rPr lang="en-US" sz="1250" dirty="0">
                <a:solidFill>
                  <a:srgbClr val="FFFFFF"/>
                </a:solidFill>
                <a:latin typeface="Arial" pitchFamily="34" charset="0"/>
                <a:ea typeface="Arial" pitchFamily="34" charset="-122"/>
                <a:cs typeface="Arial" pitchFamily="34" charset="-120"/>
              </a:rPr>
              <a:t>Direct ownership: the factory invests in its own roof and keeps the whole avoided PEA bill. No ESCO discount, no third-party developer margin, no new-project tax incentive. Returns are equity returns after debt service and CIT.</a:t>
            </a:r>
            <a:endParaRPr lang="en-US" sz="1250" dirty="0"/>
          </a:p>
        </p:txBody>
      </p:sp>
      <p:sp>
        <p:nvSpPr>
          <p:cNvPr id="39" name="Shape 35"/>
          <p:cNvSpPr/>
          <p:nvPr/>
        </p:nvSpPr>
        <p:spPr>
          <a:xfrm>
            <a:off x="6534150" y="3295650"/>
            <a:ext cx="5200650" cy="2381250"/>
          </a:xfrm>
          <a:prstGeom prst="roundRect">
            <a:avLst>
              <a:gd name="adj" fmla="val 7200"/>
            </a:avLst>
          </a:prstGeom>
          <a:solidFill>
            <a:srgbClr val="FFFFFF"/>
          </a:solidFill>
          <a:ln w="12700">
            <a:solidFill>
              <a:srgbClr val="8AB8B0"/>
            </a:solidFill>
            <a:prstDash val="solid"/>
          </a:ln>
        </p:spPr>
      </p:sp>
      <p:sp>
        <p:nvSpPr>
          <p:cNvPr id="40" name="Text 36"/>
          <p:cNvSpPr txBox="1"/>
          <p:nvPr/>
        </p:nvSpPr>
        <p:spPr>
          <a:xfrm>
            <a:off x="6762750" y="3467100"/>
            <a:ext cx="4762500" cy="266700"/>
          </a:xfrm>
          <a:prstGeom prst="rect">
            <a:avLst/>
          </a:prstGeom>
          <a:noFill/>
          <a:ln/>
        </p:spPr>
        <p:txBody>
          <a:bodyPr wrap="square" lIns="0" tIns="0" rIns="0" bIns="0" rtlCol="0" anchor="t"/>
          <a:lstStyle/>
          <a:p>
            <a:pPr algn="l" indent="0" marL="0">
              <a:buNone/>
            </a:pPr>
            <a:r>
              <a:rPr lang="en-US" sz="1700" b="1" dirty="0">
                <a:solidFill>
                  <a:srgbClr val="17685F"/>
                </a:solidFill>
                <a:latin typeface="Arial" pitchFamily="34" charset="0"/>
                <a:ea typeface="Arial" pitchFamily="34" charset="-122"/>
                <a:cs typeface="Arial" pitchFamily="34" charset="-120"/>
              </a:rPr>
              <a:t>Emissions and scope</a:t>
            </a:r>
            <a:endParaRPr lang="en-US" sz="1700" dirty="0"/>
          </a:p>
        </p:txBody>
      </p:sp>
      <p:sp>
        <p:nvSpPr>
          <p:cNvPr id="41" name="Text 37"/>
          <p:cNvSpPr txBox="1"/>
          <p:nvPr/>
        </p:nvSpPr>
        <p:spPr>
          <a:xfrm>
            <a:off x="6762750" y="3790950"/>
            <a:ext cx="4762500" cy="1809750"/>
          </a:xfrm>
          <a:prstGeom prst="rect">
            <a:avLst/>
          </a:prstGeom>
          <a:noFill/>
          <a:ln/>
        </p:spPr>
        <p:txBody>
          <a:bodyPr wrap="square" lIns="0" tIns="0" rIns="0" bIns="0" rtlCol="0" anchor="t"/>
          <a:lstStyle/>
          <a:p>
            <a:pPr marL="203200" indent="-203200">
              <a:spcAft>
                <a:spcPts val="600"/>
              </a:spcAft>
              <a:buSzPct val="100000"/>
              <a:buChar char="•"/>
            </a:pPr>
            <a:r>
              <a:rPr lang="en-US" sz="1150" dirty="0">
                <a:solidFill>
                  <a:srgbClr val="143B37"/>
                </a:solidFill>
                <a:latin typeface="Arial" pitchFamily="34" charset="0"/>
                <a:ea typeface="Arial" pitchFamily="34" charset="-122"/>
                <a:cs typeface="Arial" pitchFamily="34" charset="-120"/>
              </a:rPr>
              <a:t>Avoided emissions: avoided grid import multiplied by 0.4750 kg CO2e per kWh (Thailand Greenhouse Gas Management Organization, 2022-2024 grid mix).</a:t>
            </a:r>
            <a:endParaRPr lang="en-US" sz="1150" dirty="0"/>
          </a:p>
          <a:p>
            <a:pPr marL="203200" indent="-203200">
              <a:spcAft>
                <a:spcPts val="600"/>
              </a:spcAft>
              <a:buSzPct val="100000"/>
              <a:buChar char="•"/>
            </a:pPr>
            <a:r>
              <a:rPr lang="en-US" sz="1150" dirty="0">
                <a:solidFill>
                  <a:srgbClr val="143B37"/>
                </a:solidFill>
                <a:latin typeface="Arial" pitchFamily="34" charset="0"/>
                <a:ea typeface="Arial" pitchFamily="34" charset="-122"/>
                <a:cs typeface="Arial" pitchFamily="34" charset="-120"/>
              </a:rPr>
              <a:t>Excluded at the client's direction: grid connection cost, power factor mitigation (no kVAR data supplied), permit and licence fees (no published schedule).</a:t>
            </a:r>
            <a:endParaRPr lang="en-US" sz="1150" dirty="0"/>
          </a:p>
          <a:p>
            <a:pPr marL="203200" indent="-203200">
              <a:spcAft>
                <a:spcPts val="600"/>
              </a:spcAft>
              <a:buSzPct val="100000"/>
              <a:buChar char="•"/>
            </a:pPr>
            <a:r>
              <a:rPr lang="en-US" sz="1150" dirty="0">
                <a:solidFill>
                  <a:srgbClr val="143B37"/>
                </a:solidFill>
                <a:latin typeface="Arial" pitchFamily="34" charset="0"/>
                <a:ea typeface="Arial" pitchFamily="34" charset="-122"/>
                <a:cs typeface="Arial" pitchFamily="34" charset="-120"/>
              </a:rPr>
              <a:t>Fifteen inputs are provisional and marked as such in the workbooks; the ones that move the answer are the roof area, the debt terms and the insurance rate (Appendix A).</a:t>
            </a:r>
            <a:endParaRPr lang="en-US" sz="1150" dirty="0"/>
          </a:p>
        </p:txBody>
      </p:sp>
      <p:sp>
        <p:nvSpPr>
          <p:cNvPr id="42" name="Text 38"/>
          <p:cNvSpPr txBox="1"/>
          <p:nvPr/>
        </p:nvSpPr>
        <p:spPr>
          <a:xfrm>
            <a:off x="514350" y="5867400"/>
            <a:ext cx="11220450" cy="247650"/>
          </a:xfrm>
          <a:prstGeom prst="rect">
            <a:avLst/>
          </a:prstGeom>
          <a:noFill/>
          <a:ln/>
        </p:spPr>
        <p:txBody>
          <a:bodyPr wrap="square" lIns="0" tIns="0" rIns="0" bIns="0" rtlCol="0" anchor="t"/>
          <a:lstStyle/>
          <a:p>
            <a:pPr algn="l" indent="0" marL="0">
              <a:buNone/>
            </a:pPr>
            <a:r>
              <a:rPr lang="en-US" sz="1200" i="1" dirty="0">
                <a:solidFill>
                  <a:srgbClr val="4D6D68"/>
                </a:solidFill>
                <a:latin typeface="Arial" pitchFamily="34" charset="0"/>
                <a:ea typeface="Arial" pitchFamily="34" charset="-122"/>
                <a:cs typeface="Arial" pitchFamily="34" charset="-120"/>
              </a:rPr>
              <a:t>All results are before grid connection, permitting and power-factor costs; add them when quoted.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Six configurations were optimised</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9</a:t>
            </a:r>
            <a:endParaRPr lang="en-US" sz="1000" dirty="0"/>
          </a:p>
        </p:txBody>
      </p:sp>
      <p:sp>
        <p:nvSpPr>
          <p:cNvPr id="8" name="Shape 4"/>
          <p:cNvSpPr/>
          <p:nvPr/>
        </p:nvSpPr>
        <p:spPr>
          <a:xfrm>
            <a:off x="514350" y="1238250"/>
            <a:ext cx="3619500" cy="1257300"/>
          </a:xfrm>
          <a:prstGeom prst="roundRect">
            <a:avLst>
              <a:gd name="adj" fmla="val 13636"/>
            </a:avLst>
          </a:prstGeom>
          <a:solidFill>
            <a:srgbClr val="B7D9D2"/>
          </a:solidFill>
          <a:ln w="12700">
            <a:solidFill>
              <a:srgbClr val="B7D9D2"/>
            </a:solidFill>
            <a:prstDash val="solid"/>
          </a:ln>
        </p:spPr>
      </p:sp>
      <p:sp>
        <p:nvSpPr>
          <p:cNvPr id="9" name="Text 5"/>
          <p:cNvSpPr txBox="1"/>
          <p:nvPr/>
        </p:nvSpPr>
        <p:spPr>
          <a:xfrm>
            <a:off x="704850" y="1390650"/>
            <a:ext cx="419100" cy="457200"/>
          </a:xfrm>
          <a:prstGeom prst="rect">
            <a:avLst/>
          </a:prstGeom>
          <a:noFill/>
          <a:ln/>
        </p:spPr>
        <p:txBody>
          <a:bodyPr wrap="square" lIns="0" tIns="0" rIns="0" bIns="0" rtlCol="0" anchor="t"/>
          <a:lstStyle/>
          <a:p>
            <a:pPr algn="l" indent="0" marL="0">
              <a:buNone/>
            </a:pPr>
            <a:r>
              <a:rPr lang="en-US" sz="3000" b="1" dirty="0">
                <a:solidFill>
                  <a:srgbClr val="143B37"/>
                </a:solidFill>
                <a:latin typeface="Arial" pitchFamily="34" charset="0"/>
                <a:ea typeface="Arial" pitchFamily="34" charset="-122"/>
                <a:cs typeface="Arial" pitchFamily="34" charset="-120"/>
              </a:rPr>
              <a:t>1</a:t>
            </a:r>
            <a:endParaRPr lang="en-US" sz="3000" dirty="0"/>
          </a:p>
        </p:txBody>
      </p:sp>
      <p:sp>
        <p:nvSpPr>
          <p:cNvPr id="10" name="Text 6"/>
          <p:cNvSpPr txBox="1"/>
          <p:nvPr/>
        </p:nvSpPr>
        <p:spPr>
          <a:xfrm>
            <a:off x="1238250" y="1409700"/>
            <a:ext cx="2762250" cy="285750"/>
          </a:xfrm>
          <a:prstGeom prst="rect">
            <a:avLst/>
          </a:prstGeom>
          <a:noFill/>
          <a:ln/>
        </p:spPr>
        <p:txBody>
          <a:bodyPr wrap="square" lIns="0" tIns="0" rIns="0" bIns="0" rtlCol="0" anchor="t"/>
          <a:lstStyle/>
          <a:p>
            <a:pPr algn="l" indent="0" marL="0">
              <a:buNone/>
            </a:pPr>
            <a:r>
              <a:rPr lang="en-US" sz="1600" b="1" dirty="0">
                <a:solidFill>
                  <a:srgbClr val="143B37"/>
                </a:solidFill>
                <a:latin typeface="Arial" pitchFamily="34" charset="0"/>
                <a:ea typeface="Arial" pitchFamily="34" charset="-122"/>
                <a:cs typeface="Arial" pitchFamily="34" charset="-120"/>
              </a:rPr>
              <a:t>Roof, low</a:t>
            </a:r>
            <a:endParaRPr lang="en-US" sz="1600" dirty="0"/>
          </a:p>
        </p:txBody>
      </p:sp>
      <p:sp>
        <p:nvSpPr>
          <p:cNvPr id="11" name="Text 7"/>
          <p:cNvSpPr txBox="1"/>
          <p:nvPr/>
        </p:nvSpPr>
        <p:spPr>
          <a:xfrm>
            <a:off x="1238250" y="1752600"/>
            <a:ext cx="2762250" cy="342900"/>
          </a:xfrm>
          <a:prstGeom prst="rect">
            <a:avLst/>
          </a:prstGeom>
          <a:noFill/>
          <a:ln/>
        </p:spPr>
        <p:txBody>
          <a:bodyPr wrap="square" lIns="0" tIns="0" rIns="0" bIns="0" rtlCol="0" anchor="t"/>
          <a:lstStyle/>
          <a:p>
            <a:pPr algn="l" indent="0" marL="0">
              <a:buNone/>
            </a:pPr>
            <a:r>
              <a:rPr lang="en-US" sz="1200" dirty="0">
                <a:solidFill>
                  <a:srgbClr val="143B37"/>
                </a:solidFill>
                <a:latin typeface="Arial" pitchFamily="34" charset="0"/>
                <a:ea typeface="Arial" pitchFamily="34" charset="-122"/>
                <a:cs typeface="Arial" pitchFamily="34" charset="-120"/>
              </a:rPr>
              <a:t>PV capped at 1,685 kWp (24 m roof width)</a:t>
            </a:r>
            <a:endParaRPr lang="en-US" sz="1200" dirty="0"/>
          </a:p>
        </p:txBody>
      </p:sp>
      <p:sp>
        <p:nvSpPr>
          <p:cNvPr id="12" name="Text 8"/>
          <p:cNvSpPr txBox="1"/>
          <p:nvPr/>
        </p:nvSpPr>
        <p:spPr>
          <a:xfrm>
            <a:off x="1238250" y="2114550"/>
            <a:ext cx="2762250" cy="285750"/>
          </a:xfrm>
          <a:prstGeom prst="rect">
            <a:avLst/>
          </a:prstGeom>
          <a:noFill/>
          <a:ln/>
        </p:spPr>
        <p:txBody>
          <a:bodyPr wrap="square" lIns="0" tIns="0" rIns="0" bIns="0" rtlCol="0" anchor="t"/>
          <a:lstStyle/>
          <a:p>
            <a:pPr algn="l" indent="0" marL="0">
              <a:buNone/>
            </a:pPr>
            <a:r>
              <a:rPr lang="en-US" sz="1200" b="1" dirty="0">
                <a:solidFill>
                  <a:srgbClr val="143B37"/>
                </a:solidFill>
                <a:latin typeface="Arial" pitchFamily="34" charset="0"/>
                <a:ea typeface="Arial" pitchFamily="34" charset="-122"/>
                <a:cs typeface="Arial" pitchFamily="34" charset="-120"/>
              </a:rPr>
              <a:t>no storage</a:t>
            </a:r>
            <a:endParaRPr lang="en-US" sz="1200" dirty="0"/>
          </a:p>
        </p:txBody>
      </p:sp>
      <p:sp>
        <p:nvSpPr>
          <p:cNvPr id="13" name="Shape 9"/>
          <p:cNvSpPr/>
          <p:nvPr/>
        </p:nvSpPr>
        <p:spPr>
          <a:xfrm>
            <a:off x="4286250" y="1238250"/>
            <a:ext cx="3619500" cy="1257300"/>
          </a:xfrm>
          <a:prstGeom prst="roundRect">
            <a:avLst>
              <a:gd name="adj" fmla="val 13636"/>
            </a:avLst>
          </a:prstGeom>
          <a:solidFill>
            <a:srgbClr val="B7D9D2"/>
          </a:solidFill>
          <a:ln w="12700">
            <a:solidFill>
              <a:srgbClr val="B7D9D2"/>
            </a:solidFill>
            <a:prstDash val="solid"/>
          </a:ln>
        </p:spPr>
      </p:sp>
      <p:sp>
        <p:nvSpPr>
          <p:cNvPr id="14" name="Text 10"/>
          <p:cNvSpPr txBox="1"/>
          <p:nvPr/>
        </p:nvSpPr>
        <p:spPr>
          <a:xfrm>
            <a:off x="4476750" y="1390650"/>
            <a:ext cx="419100" cy="457200"/>
          </a:xfrm>
          <a:prstGeom prst="rect">
            <a:avLst/>
          </a:prstGeom>
          <a:noFill/>
          <a:ln/>
        </p:spPr>
        <p:txBody>
          <a:bodyPr wrap="square" lIns="0" tIns="0" rIns="0" bIns="0" rtlCol="0" anchor="t"/>
          <a:lstStyle/>
          <a:p>
            <a:pPr algn="l" indent="0" marL="0">
              <a:buNone/>
            </a:pPr>
            <a:r>
              <a:rPr lang="en-US" sz="3000" b="1" dirty="0">
                <a:solidFill>
                  <a:srgbClr val="143B37"/>
                </a:solidFill>
                <a:latin typeface="Arial" pitchFamily="34" charset="0"/>
                <a:ea typeface="Arial" pitchFamily="34" charset="-122"/>
                <a:cs typeface="Arial" pitchFamily="34" charset="-120"/>
              </a:rPr>
              <a:t>2</a:t>
            </a:r>
            <a:endParaRPr lang="en-US" sz="3000" dirty="0"/>
          </a:p>
        </p:txBody>
      </p:sp>
      <p:sp>
        <p:nvSpPr>
          <p:cNvPr id="15" name="Text 11"/>
          <p:cNvSpPr txBox="1"/>
          <p:nvPr/>
        </p:nvSpPr>
        <p:spPr>
          <a:xfrm>
            <a:off x="5010150" y="1409700"/>
            <a:ext cx="2762250" cy="285750"/>
          </a:xfrm>
          <a:prstGeom prst="rect">
            <a:avLst/>
          </a:prstGeom>
          <a:noFill/>
          <a:ln/>
        </p:spPr>
        <p:txBody>
          <a:bodyPr wrap="square" lIns="0" tIns="0" rIns="0" bIns="0" rtlCol="0" anchor="t"/>
          <a:lstStyle/>
          <a:p>
            <a:pPr algn="l" indent="0" marL="0">
              <a:buNone/>
            </a:pPr>
            <a:r>
              <a:rPr lang="en-US" sz="1600" b="1" dirty="0">
                <a:solidFill>
                  <a:srgbClr val="143B37"/>
                </a:solidFill>
                <a:latin typeface="Arial" pitchFamily="34" charset="0"/>
                <a:ea typeface="Arial" pitchFamily="34" charset="-122"/>
                <a:cs typeface="Arial" pitchFamily="34" charset="-120"/>
              </a:rPr>
              <a:t>Roof, mid</a:t>
            </a:r>
            <a:endParaRPr lang="en-US" sz="1600" dirty="0"/>
          </a:p>
        </p:txBody>
      </p:sp>
      <p:sp>
        <p:nvSpPr>
          <p:cNvPr id="16" name="Text 12"/>
          <p:cNvSpPr txBox="1"/>
          <p:nvPr/>
        </p:nvSpPr>
        <p:spPr>
          <a:xfrm>
            <a:off x="5010150" y="1752600"/>
            <a:ext cx="2762250" cy="342900"/>
          </a:xfrm>
          <a:prstGeom prst="rect">
            <a:avLst/>
          </a:prstGeom>
          <a:noFill/>
          <a:ln/>
        </p:spPr>
        <p:txBody>
          <a:bodyPr wrap="square" lIns="0" tIns="0" rIns="0" bIns="0" rtlCol="0" anchor="t"/>
          <a:lstStyle/>
          <a:p>
            <a:pPr algn="l" indent="0" marL="0">
              <a:buNone/>
            </a:pPr>
            <a:r>
              <a:rPr lang="en-US" sz="1200" dirty="0">
                <a:solidFill>
                  <a:srgbClr val="143B37"/>
                </a:solidFill>
                <a:latin typeface="Arial" pitchFamily="34" charset="0"/>
                <a:ea typeface="Arial" pitchFamily="34" charset="-122"/>
                <a:cs typeface="Arial" pitchFamily="34" charset="-120"/>
              </a:rPr>
              <a:t>PV capped at 1,895 kWp (27 m)</a:t>
            </a:r>
            <a:endParaRPr lang="en-US" sz="1200" dirty="0"/>
          </a:p>
        </p:txBody>
      </p:sp>
      <p:sp>
        <p:nvSpPr>
          <p:cNvPr id="17" name="Text 13"/>
          <p:cNvSpPr txBox="1"/>
          <p:nvPr/>
        </p:nvSpPr>
        <p:spPr>
          <a:xfrm>
            <a:off x="5010150" y="2114550"/>
            <a:ext cx="2762250" cy="285750"/>
          </a:xfrm>
          <a:prstGeom prst="rect">
            <a:avLst/>
          </a:prstGeom>
          <a:noFill/>
          <a:ln/>
        </p:spPr>
        <p:txBody>
          <a:bodyPr wrap="square" lIns="0" tIns="0" rIns="0" bIns="0" rtlCol="0" anchor="t"/>
          <a:lstStyle/>
          <a:p>
            <a:pPr algn="l" indent="0" marL="0">
              <a:buNone/>
            </a:pPr>
            <a:r>
              <a:rPr lang="en-US" sz="1200" b="1" dirty="0">
                <a:solidFill>
                  <a:srgbClr val="143B37"/>
                </a:solidFill>
                <a:latin typeface="Arial" pitchFamily="34" charset="0"/>
                <a:ea typeface="Arial" pitchFamily="34" charset="-122"/>
                <a:cs typeface="Arial" pitchFamily="34" charset="-120"/>
              </a:rPr>
              <a:t>no storage</a:t>
            </a:r>
            <a:endParaRPr lang="en-US" sz="1200" dirty="0"/>
          </a:p>
        </p:txBody>
      </p:sp>
      <p:sp>
        <p:nvSpPr>
          <p:cNvPr id="18" name="Shape 14"/>
          <p:cNvSpPr/>
          <p:nvPr/>
        </p:nvSpPr>
        <p:spPr>
          <a:xfrm>
            <a:off x="8058150" y="1238250"/>
            <a:ext cx="3619500" cy="1257300"/>
          </a:xfrm>
          <a:prstGeom prst="roundRect">
            <a:avLst>
              <a:gd name="adj" fmla="val 13636"/>
            </a:avLst>
          </a:prstGeom>
          <a:solidFill>
            <a:srgbClr val="B7D9D2"/>
          </a:solidFill>
          <a:ln w="12700">
            <a:solidFill>
              <a:srgbClr val="B7D9D2"/>
            </a:solidFill>
            <a:prstDash val="solid"/>
          </a:ln>
        </p:spPr>
      </p:sp>
      <p:sp>
        <p:nvSpPr>
          <p:cNvPr id="19" name="Text 15"/>
          <p:cNvSpPr txBox="1"/>
          <p:nvPr/>
        </p:nvSpPr>
        <p:spPr>
          <a:xfrm>
            <a:off x="8248650" y="1390650"/>
            <a:ext cx="419100" cy="457200"/>
          </a:xfrm>
          <a:prstGeom prst="rect">
            <a:avLst/>
          </a:prstGeom>
          <a:noFill/>
          <a:ln/>
        </p:spPr>
        <p:txBody>
          <a:bodyPr wrap="square" lIns="0" tIns="0" rIns="0" bIns="0" rtlCol="0" anchor="t"/>
          <a:lstStyle/>
          <a:p>
            <a:pPr algn="l" indent="0" marL="0">
              <a:buNone/>
            </a:pPr>
            <a:r>
              <a:rPr lang="en-US" sz="3000" b="1" dirty="0">
                <a:solidFill>
                  <a:srgbClr val="143B37"/>
                </a:solidFill>
                <a:latin typeface="Arial" pitchFamily="34" charset="0"/>
                <a:ea typeface="Arial" pitchFamily="34" charset="-122"/>
                <a:cs typeface="Arial" pitchFamily="34" charset="-120"/>
              </a:rPr>
              <a:t>3</a:t>
            </a:r>
            <a:endParaRPr lang="en-US" sz="3000" dirty="0"/>
          </a:p>
        </p:txBody>
      </p:sp>
      <p:sp>
        <p:nvSpPr>
          <p:cNvPr id="20" name="Text 16"/>
          <p:cNvSpPr txBox="1"/>
          <p:nvPr/>
        </p:nvSpPr>
        <p:spPr>
          <a:xfrm>
            <a:off x="8782050" y="1409700"/>
            <a:ext cx="2762250" cy="285750"/>
          </a:xfrm>
          <a:prstGeom prst="rect">
            <a:avLst/>
          </a:prstGeom>
          <a:noFill/>
          <a:ln/>
        </p:spPr>
        <p:txBody>
          <a:bodyPr wrap="square" lIns="0" tIns="0" rIns="0" bIns="0" rtlCol="0" anchor="t"/>
          <a:lstStyle/>
          <a:p>
            <a:pPr algn="l" indent="0" marL="0">
              <a:buNone/>
            </a:pPr>
            <a:r>
              <a:rPr lang="en-US" sz="1600" b="1" dirty="0">
                <a:solidFill>
                  <a:srgbClr val="143B37"/>
                </a:solidFill>
                <a:latin typeface="Arial" pitchFamily="34" charset="0"/>
                <a:ea typeface="Arial" pitchFamily="34" charset="-122"/>
                <a:cs typeface="Arial" pitchFamily="34" charset="-120"/>
              </a:rPr>
              <a:t>Roof, high</a:t>
            </a:r>
            <a:endParaRPr lang="en-US" sz="1600" dirty="0"/>
          </a:p>
        </p:txBody>
      </p:sp>
      <p:sp>
        <p:nvSpPr>
          <p:cNvPr id="21" name="Text 17"/>
          <p:cNvSpPr txBox="1"/>
          <p:nvPr/>
        </p:nvSpPr>
        <p:spPr>
          <a:xfrm>
            <a:off x="8782050" y="1752600"/>
            <a:ext cx="2762250" cy="342900"/>
          </a:xfrm>
          <a:prstGeom prst="rect">
            <a:avLst/>
          </a:prstGeom>
          <a:noFill/>
          <a:ln/>
        </p:spPr>
        <p:txBody>
          <a:bodyPr wrap="square" lIns="0" tIns="0" rIns="0" bIns="0" rtlCol="0" anchor="t"/>
          <a:lstStyle/>
          <a:p>
            <a:pPr algn="l" indent="0" marL="0">
              <a:buNone/>
            </a:pPr>
            <a:r>
              <a:rPr lang="en-US" sz="1200" dirty="0">
                <a:solidFill>
                  <a:srgbClr val="143B37"/>
                </a:solidFill>
                <a:latin typeface="Arial" pitchFamily="34" charset="0"/>
                <a:ea typeface="Arial" pitchFamily="34" charset="-122"/>
                <a:cs typeface="Arial" pitchFamily="34" charset="-120"/>
              </a:rPr>
              <a:t>PV capped at 2,106 kWp (30 m)</a:t>
            </a:r>
            <a:endParaRPr lang="en-US" sz="1200" dirty="0"/>
          </a:p>
        </p:txBody>
      </p:sp>
      <p:sp>
        <p:nvSpPr>
          <p:cNvPr id="22" name="Text 18"/>
          <p:cNvSpPr txBox="1"/>
          <p:nvPr/>
        </p:nvSpPr>
        <p:spPr>
          <a:xfrm>
            <a:off x="8782050" y="2114550"/>
            <a:ext cx="2762250" cy="285750"/>
          </a:xfrm>
          <a:prstGeom prst="rect">
            <a:avLst/>
          </a:prstGeom>
          <a:noFill/>
          <a:ln/>
        </p:spPr>
        <p:txBody>
          <a:bodyPr wrap="square" lIns="0" tIns="0" rIns="0" bIns="0" rtlCol="0" anchor="t"/>
          <a:lstStyle/>
          <a:p>
            <a:pPr algn="l" indent="0" marL="0">
              <a:buNone/>
            </a:pPr>
            <a:r>
              <a:rPr lang="en-US" sz="1200" b="1" dirty="0">
                <a:solidFill>
                  <a:srgbClr val="143B37"/>
                </a:solidFill>
                <a:latin typeface="Arial" pitchFamily="34" charset="0"/>
                <a:ea typeface="Arial" pitchFamily="34" charset="-122"/>
                <a:cs typeface="Arial" pitchFamily="34" charset="-120"/>
              </a:rPr>
              <a:t>no storage</a:t>
            </a:r>
            <a:endParaRPr lang="en-US" sz="1200" dirty="0"/>
          </a:p>
        </p:txBody>
      </p:sp>
      <p:sp>
        <p:nvSpPr>
          <p:cNvPr id="23" name="Shape 19"/>
          <p:cNvSpPr/>
          <p:nvPr/>
        </p:nvSpPr>
        <p:spPr>
          <a:xfrm>
            <a:off x="514350" y="2667000"/>
            <a:ext cx="3619500" cy="1257300"/>
          </a:xfrm>
          <a:prstGeom prst="roundRect">
            <a:avLst>
              <a:gd name="adj" fmla="val 13636"/>
            </a:avLst>
          </a:prstGeom>
          <a:solidFill>
            <a:srgbClr val="3F8E73"/>
          </a:solidFill>
          <a:ln w="12700">
            <a:solidFill>
              <a:srgbClr val="3F8E73"/>
            </a:solidFill>
            <a:prstDash val="solid"/>
          </a:ln>
        </p:spPr>
      </p:sp>
      <p:sp>
        <p:nvSpPr>
          <p:cNvPr id="24" name="Text 20"/>
          <p:cNvSpPr txBox="1"/>
          <p:nvPr/>
        </p:nvSpPr>
        <p:spPr>
          <a:xfrm>
            <a:off x="704850" y="2819400"/>
            <a:ext cx="419100" cy="45720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25" name="Text 21"/>
          <p:cNvSpPr txBox="1"/>
          <p:nvPr/>
        </p:nvSpPr>
        <p:spPr>
          <a:xfrm>
            <a:off x="1238250" y="2838450"/>
            <a:ext cx="2762250" cy="28575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No roof limit</a:t>
            </a:r>
            <a:endParaRPr lang="en-US" sz="1600" dirty="0"/>
          </a:p>
        </p:txBody>
      </p:sp>
      <p:sp>
        <p:nvSpPr>
          <p:cNvPr id="26" name="Text 22"/>
          <p:cNvSpPr txBox="1"/>
          <p:nvPr/>
        </p:nvSpPr>
        <p:spPr>
          <a:xfrm>
            <a:off x="1238250" y="3181350"/>
            <a:ext cx="2762250" cy="342900"/>
          </a:xfrm>
          <a:prstGeom prst="rect">
            <a:avLst/>
          </a:prstGeom>
          <a:noFill/>
          <a:ln/>
        </p:spPr>
        <p:txBody>
          <a:bodyPr wrap="square" lIns="0" tIns="0" rIns="0" bIns="0" rtlCol="0" anchor="t"/>
          <a:lstStyle/>
          <a:p>
            <a:pPr algn="l" indent="0" marL="0">
              <a:buNone/>
            </a:pPr>
            <a:r>
              <a:rPr lang="en-US" sz="1200" dirty="0">
                <a:solidFill>
                  <a:srgbClr val="FFFFFF"/>
                </a:solidFill>
                <a:latin typeface="Arial" pitchFamily="34" charset="0"/>
                <a:ea typeface="Arial" pitchFamily="34" charset="-122"/>
                <a:cs typeface="Arial" pitchFamily="34" charset="-120"/>
              </a:rPr>
              <a:t>PV free up to the 3,230 kVA connection</a:t>
            </a:r>
            <a:endParaRPr lang="en-US" sz="1200" dirty="0"/>
          </a:p>
        </p:txBody>
      </p:sp>
      <p:sp>
        <p:nvSpPr>
          <p:cNvPr id="27" name="Text 23"/>
          <p:cNvSpPr txBox="1"/>
          <p:nvPr/>
        </p:nvSpPr>
        <p:spPr>
          <a:xfrm>
            <a:off x="1238250" y="3543300"/>
            <a:ext cx="2762250" cy="2857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no storage: the economic optimum</a:t>
            </a:r>
            <a:endParaRPr lang="en-US" sz="1200" dirty="0"/>
          </a:p>
        </p:txBody>
      </p:sp>
      <p:sp>
        <p:nvSpPr>
          <p:cNvPr id="28" name="Shape 24"/>
          <p:cNvSpPr/>
          <p:nvPr/>
        </p:nvSpPr>
        <p:spPr>
          <a:xfrm>
            <a:off x="4286250" y="2667000"/>
            <a:ext cx="3619500" cy="1257300"/>
          </a:xfrm>
          <a:prstGeom prst="roundRect">
            <a:avLst>
              <a:gd name="adj" fmla="val 13636"/>
            </a:avLst>
          </a:prstGeom>
          <a:solidFill>
            <a:srgbClr val="17685F"/>
          </a:solidFill>
          <a:ln w="12700">
            <a:solidFill>
              <a:srgbClr val="17685F"/>
            </a:solidFill>
            <a:prstDash val="solid"/>
          </a:ln>
        </p:spPr>
      </p:sp>
      <p:sp>
        <p:nvSpPr>
          <p:cNvPr id="29" name="Text 25"/>
          <p:cNvSpPr txBox="1"/>
          <p:nvPr/>
        </p:nvSpPr>
        <p:spPr>
          <a:xfrm>
            <a:off x="4476750" y="2819400"/>
            <a:ext cx="419100" cy="45720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30" name="Text 26"/>
          <p:cNvSpPr txBox="1"/>
          <p:nvPr/>
        </p:nvSpPr>
        <p:spPr>
          <a:xfrm>
            <a:off x="5010150" y="2838450"/>
            <a:ext cx="2762250" cy="28575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Roof, low, with storage</a:t>
            </a:r>
            <a:endParaRPr lang="en-US" sz="1600" dirty="0"/>
          </a:p>
        </p:txBody>
      </p:sp>
      <p:sp>
        <p:nvSpPr>
          <p:cNvPr id="31" name="Text 27"/>
          <p:cNvSpPr txBox="1"/>
          <p:nvPr/>
        </p:nvSpPr>
        <p:spPr>
          <a:xfrm>
            <a:off x="5010150" y="3181350"/>
            <a:ext cx="2762250" cy="342900"/>
          </a:xfrm>
          <a:prstGeom prst="rect">
            <a:avLst/>
          </a:prstGeom>
          <a:noFill/>
          <a:ln/>
        </p:spPr>
        <p:txBody>
          <a:bodyPr wrap="square" lIns="0" tIns="0" rIns="0" bIns="0" rtlCol="0" anchor="t"/>
          <a:lstStyle/>
          <a:p>
            <a:pPr algn="l" indent="0" marL="0">
              <a:buNone/>
            </a:pPr>
            <a:r>
              <a:rPr lang="en-US" sz="1200" dirty="0">
                <a:solidFill>
                  <a:srgbClr val="FFFFFF"/>
                </a:solidFill>
                <a:latin typeface="Arial" pitchFamily="34" charset="0"/>
                <a:ea typeface="Arial" pitchFamily="34" charset="-122"/>
                <a:cs typeface="Arial" pitchFamily="34" charset="-120"/>
              </a:rPr>
              <a:t>PV capped at 1,685 kWp</a:t>
            </a:r>
            <a:endParaRPr lang="en-US" sz="1200" dirty="0"/>
          </a:p>
        </p:txBody>
      </p:sp>
      <p:sp>
        <p:nvSpPr>
          <p:cNvPr id="32" name="Text 28"/>
          <p:cNvSpPr txBox="1"/>
          <p:nvPr/>
        </p:nvSpPr>
        <p:spPr>
          <a:xfrm>
            <a:off x="5010150" y="3543300"/>
            <a:ext cx="2762250" cy="2857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storage sized by the optimiser</a:t>
            </a:r>
            <a:endParaRPr lang="en-US" sz="1200" dirty="0"/>
          </a:p>
        </p:txBody>
      </p:sp>
      <p:sp>
        <p:nvSpPr>
          <p:cNvPr id="33" name="Shape 29"/>
          <p:cNvSpPr/>
          <p:nvPr/>
        </p:nvSpPr>
        <p:spPr>
          <a:xfrm>
            <a:off x="8058150" y="2667000"/>
            <a:ext cx="3619500" cy="1257300"/>
          </a:xfrm>
          <a:prstGeom prst="roundRect">
            <a:avLst>
              <a:gd name="adj" fmla="val 13636"/>
            </a:avLst>
          </a:prstGeom>
          <a:solidFill>
            <a:srgbClr val="17685F"/>
          </a:solidFill>
          <a:ln w="12700">
            <a:solidFill>
              <a:srgbClr val="17685F"/>
            </a:solidFill>
            <a:prstDash val="solid"/>
          </a:ln>
        </p:spPr>
      </p:sp>
      <p:sp>
        <p:nvSpPr>
          <p:cNvPr id="34" name="Text 30"/>
          <p:cNvSpPr txBox="1"/>
          <p:nvPr/>
        </p:nvSpPr>
        <p:spPr>
          <a:xfrm>
            <a:off x="8248650" y="2819400"/>
            <a:ext cx="419100" cy="45720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35" name="Text 31"/>
          <p:cNvSpPr txBox="1"/>
          <p:nvPr/>
        </p:nvSpPr>
        <p:spPr>
          <a:xfrm>
            <a:off x="8782050" y="2838450"/>
            <a:ext cx="2762250" cy="28575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No roof limit, with storage</a:t>
            </a:r>
            <a:endParaRPr lang="en-US" sz="1600" dirty="0"/>
          </a:p>
        </p:txBody>
      </p:sp>
      <p:sp>
        <p:nvSpPr>
          <p:cNvPr id="36" name="Text 32"/>
          <p:cNvSpPr txBox="1"/>
          <p:nvPr/>
        </p:nvSpPr>
        <p:spPr>
          <a:xfrm>
            <a:off x="8782050" y="3181350"/>
            <a:ext cx="2762250" cy="342900"/>
          </a:xfrm>
          <a:prstGeom prst="rect">
            <a:avLst/>
          </a:prstGeom>
          <a:noFill/>
          <a:ln/>
        </p:spPr>
        <p:txBody>
          <a:bodyPr wrap="square" lIns="0" tIns="0" rIns="0" bIns="0" rtlCol="0" anchor="t"/>
          <a:lstStyle/>
          <a:p>
            <a:pPr algn="l" indent="0" marL="0">
              <a:buNone/>
            </a:pPr>
            <a:r>
              <a:rPr lang="en-US" sz="1200" dirty="0">
                <a:solidFill>
                  <a:srgbClr val="FFFFFF"/>
                </a:solidFill>
                <a:latin typeface="Arial" pitchFamily="34" charset="0"/>
                <a:ea typeface="Arial" pitchFamily="34" charset="-122"/>
                <a:cs typeface="Arial" pitchFamily="34" charset="-120"/>
              </a:rPr>
              <a:t>PV free</a:t>
            </a:r>
            <a:endParaRPr lang="en-US" sz="1200" dirty="0"/>
          </a:p>
        </p:txBody>
      </p:sp>
      <p:sp>
        <p:nvSpPr>
          <p:cNvPr id="37" name="Text 33"/>
          <p:cNvSpPr txBox="1"/>
          <p:nvPr/>
        </p:nvSpPr>
        <p:spPr>
          <a:xfrm>
            <a:off x="8782050" y="3543300"/>
            <a:ext cx="2762250" cy="28575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storage sized by the optimiser</a:t>
            </a:r>
            <a:endParaRPr lang="en-US" sz="1200" dirty="0"/>
          </a:p>
        </p:txBody>
      </p:sp>
      <p:sp>
        <p:nvSpPr>
          <p:cNvPr id="38" name="Shape 34"/>
          <p:cNvSpPr/>
          <p:nvPr/>
        </p:nvSpPr>
        <p:spPr>
          <a:xfrm>
            <a:off x="514350" y="4191000"/>
            <a:ext cx="11220450" cy="1905000"/>
          </a:xfrm>
          <a:prstGeom prst="roundRect">
            <a:avLst>
              <a:gd name="adj" fmla="val 9000"/>
            </a:avLst>
          </a:prstGeom>
          <a:solidFill>
            <a:srgbClr val="FFFFFF"/>
          </a:solidFill>
          <a:ln w="12700">
            <a:solidFill>
              <a:srgbClr val="8AB8B0"/>
            </a:solidFill>
            <a:prstDash val="solid"/>
          </a:ln>
        </p:spPr>
      </p:sp>
      <p:sp>
        <p:nvSpPr>
          <p:cNvPr id="39" name="Text 35"/>
          <p:cNvSpPr txBox="1"/>
          <p:nvPr/>
        </p:nvSpPr>
        <p:spPr>
          <a:xfrm>
            <a:off x="742950" y="4362450"/>
            <a:ext cx="4762500" cy="266700"/>
          </a:xfrm>
          <a:prstGeom prst="rect">
            <a:avLst/>
          </a:prstGeom>
          <a:noFill/>
          <a:ln/>
        </p:spPr>
        <p:txBody>
          <a:bodyPr wrap="square" lIns="0" tIns="0" rIns="0" bIns="0" rtlCol="0" anchor="t"/>
          <a:lstStyle/>
          <a:p>
            <a:pPr algn="l" indent="0" marL="0">
              <a:buNone/>
            </a:pPr>
            <a:r>
              <a:rPr lang="en-US" sz="1600" b="1" dirty="0">
                <a:solidFill>
                  <a:srgbClr val="17685F"/>
                </a:solidFill>
                <a:latin typeface="Arial" pitchFamily="34" charset="0"/>
                <a:ea typeface="Arial" pitchFamily="34" charset="-122"/>
                <a:cs typeface="Arial" pitchFamily="34" charset="-120"/>
              </a:rPr>
              <a:t>How the roof estimate is built</a:t>
            </a:r>
            <a:endParaRPr lang="en-US" sz="1600" dirty="0"/>
          </a:p>
        </p:txBody>
      </p:sp>
      <p:sp>
        <p:nvSpPr>
          <p:cNvPr id="40" name="Shape 36"/>
          <p:cNvSpPr/>
          <p:nvPr/>
        </p:nvSpPr>
        <p:spPr>
          <a:xfrm>
            <a:off x="742950" y="4743450"/>
            <a:ext cx="1638300" cy="495300"/>
          </a:xfrm>
          <a:prstGeom prst="roundRect">
            <a:avLst>
              <a:gd name="adj" fmla="val 23077"/>
            </a:avLst>
          </a:prstGeom>
          <a:solidFill>
            <a:srgbClr val="CFE7E2"/>
          </a:solidFill>
          <a:ln w="12700">
            <a:solidFill>
              <a:srgbClr val="CFE7E2"/>
            </a:solidFill>
            <a:prstDash val="solid"/>
          </a:ln>
        </p:spPr>
      </p:sp>
      <p:sp>
        <p:nvSpPr>
          <p:cNvPr id="41" name="Text 37"/>
          <p:cNvSpPr txBox="1"/>
          <p:nvPr/>
        </p:nvSpPr>
        <p:spPr>
          <a:xfrm>
            <a:off x="819150" y="4743450"/>
            <a:ext cx="1485900" cy="495300"/>
          </a:xfrm>
          <a:prstGeom prst="rect">
            <a:avLst/>
          </a:prstGeom>
          <a:noFill/>
          <a:ln/>
        </p:spPr>
        <p:txBody>
          <a:bodyPr wrap="square" lIns="0" tIns="0" rIns="0" bIns="0" rtlCol="0" anchor="ctr"/>
          <a:lstStyle/>
          <a:p>
            <a:pPr algn="ctr" indent="0" marL="0">
              <a:buNone/>
            </a:pPr>
            <a:r>
              <a:rPr lang="en-US" sz="1300" b="1" dirty="0">
                <a:solidFill>
                  <a:srgbClr val="143B37"/>
                </a:solidFill>
                <a:latin typeface="Arial" pitchFamily="34" charset="0"/>
                <a:ea typeface="Arial" pitchFamily="34" charset="-122"/>
                <a:cs typeface="Arial" pitchFamily="34" charset="-120"/>
              </a:rPr>
              <a:t>5 roofs</a:t>
            </a:r>
            <a:endParaRPr lang="en-US" sz="1300" dirty="0"/>
          </a:p>
        </p:txBody>
      </p:sp>
      <p:sp>
        <p:nvSpPr>
          <p:cNvPr id="42" name="Shape 38"/>
          <p:cNvSpPr/>
          <p:nvPr/>
        </p:nvSpPr>
        <p:spPr>
          <a:xfrm>
            <a:off x="2533650" y="4743450"/>
            <a:ext cx="1638300" cy="495300"/>
          </a:xfrm>
          <a:prstGeom prst="roundRect">
            <a:avLst>
              <a:gd name="adj" fmla="val 23077"/>
            </a:avLst>
          </a:prstGeom>
          <a:solidFill>
            <a:srgbClr val="CFE7E2"/>
          </a:solidFill>
          <a:ln w="12700">
            <a:solidFill>
              <a:srgbClr val="CFE7E2"/>
            </a:solidFill>
            <a:prstDash val="solid"/>
          </a:ln>
        </p:spPr>
      </p:sp>
      <p:sp>
        <p:nvSpPr>
          <p:cNvPr id="43" name="Text 39"/>
          <p:cNvSpPr txBox="1"/>
          <p:nvPr/>
        </p:nvSpPr>
        <p:spPr>
          <a:xfrm>
            <a:off x="2609850" y="4743450"/>
            <a:ext cx="1485900" cy="495300"/>
          </a:xfrm>
          <a:prstGeom prst="rect">
            <a:avLst/>
          </a:prstGeom>
          <a:noFill/>
          <a:ln/>
        </p:spPr>
        <p:txBody>
          <a:bodyPr wrap="square" lIns="0" tIns="0" rIns="0" bIns="0" rtlCol="0" anchor="ctr"/>
          <a:lstStyle/>
          <a:p>
            <a:pPr algn="ctr" indent="0" marL="0">
              <a:buNone/>
            </a:pPr>
            <a:r>
              <a:rPr lang="en-US" sz="1300" b="1" dirty="0">
                <a:solidFill>
                  <a:srgbClr val="143B37"/>
                </a:solidFill>
                <a:latin typeface="Arial" pitchFamily="34" charset="0"/>
                <a:ea typeface="Arial" pitchFamily="34" charset="-122"/>
                <a:cs typeface="Arial" pitchFamily="34" charset="-120"/>
              </a:rPr>
              <a:t>x 108 m</a:t>
            </a:r>
            <a:endParaRPr lang="en-US" sz="1300" dirty="0"/>
          </a:p>
        </p:txBody>
      </p:sp>
      <p:sp>
        <p:nvSpPr>
          <p:cNvPr id="44" name="Shape 40"/>
          <p:cNvSpPr/>
          <p:nvPr/>
        </p:nvSpPr>
        <p:spPr>
          <a:xfrm>
            <a:off x="4324350" y="4743450"/>
            <a:ext cx="1638300" cy="495300"/>
          </a:xfrm>
          <a:prstGeom prst="roundRect">
            <a:avLst>
              <a:gd name="adj" fmla="val 23077"/>
            </a:avLst>
          </a:prstGeom>
          <a:solidFill>
            <a:srgbClr val="CFE7E2"/>
          </a:solidFill>
          <a:ln w="12700">
            <a:solidFill>
              <a:srgbClr val="CFE7E2"/>
            </a:solidFill>
            <a:prstDash val="solid"/>
          </a:ln>
        </p:spPr>
      </p:sp>
      <p:sp>
        <p:nvSpPr>
          <p:cNvPr id="45" name="Text 41"/>
          <p:cNvSpPr txBox="1"/>
          <p:nvPr/>
        </p:nvSpPr>
        <p:spPr>
          <a:xfrm>
            <a:off x="4400550" y="4743450"/>
            <a:ext cx="1485900" cy="495300"/>
          </a:xfrm>
          <a:prstGeom prst="rect">
            <a:avLst/>
          </a:prstGeom>
          <a:noFill/>
          <a:ln/>
        </p:spPr>
        <p:txBody>
          <a:bodyPr wrap="square" lIns="0" tIns="0" rIns="0" bIns="0" rtlCol="0" anchor="ctr"/>
          <a:lstStyle/>
          <a:p>
            <a:pPr algn="ctr" indent="0" marL="0">
              <a:buNone/>
            </a:pPr>
            <a:r>
              <a:rPr lang="en-US" sz="1300" b="1" dirty="0">
                <a:solidFill>
                  <a:srgbClr val="143B37"/>
                </a:solidFill>
                <a:latin typeface="Arial" pitchFamily="34" charset="0"/>
                <a:ea typeface="Arial" pitchFamily="34" charset="-122"/>
                <a:cs typeface="Arial" pitchFamily="34" charset="-120"/>
              </a:rPr>
              <a:t>x 24 to 30 m</a:t>
            </a:r>
            <a:endParaRPr lang="en-US" sz="1300" dirty="0"/>
          </a:p>
        </p:txBody>
      </p:sp>
      <p:sp>
        <p:nvSpPr>
          <p:cNvPr id="46" name="Shape 42"/>
          <p:cNvSpPr/>
          <p:nvPr/>
        </p:nvSpPr>
        <p:spPr>
          <a:xfrm>
            <a:off x="6115050" y="4743450"/>
            <a:ext cx="1638300" cy="495300"/>
          </a:xfrm>
          <a:prstGeom prst="roundRect">
            <a:avLst>
              <a:gd name="adj" fmla="val 23077"/>
            </a:avLst>
          </a:prstGeom>
          <a:solidFill>
            <a:srgbClr val="CFE7E2"/>
          </a:solidFill>
          <a:ln w="12700">
            <a:solidFill>
              <a:srgbClr val="CFE7E2"/>
            </a:solidFill>
            <a:prstDash val="solid"/>
          </a:ln>
        </p:spPr>
      </p:sp>
      <p:sp>
        <p:nvSpPr>
          <p:cNvPr id="47" name="Text 43"/>
          <p:cNvSpPr txBox="1"/>
          <p:nvPr/>
        </p:nvSpPr>
        <p:spPr>
          <a:xfrm>
            <a:off x="6191250" y="4743450"/>
            <a:ext cx="1485900" cy="495300"/>
          </a:xfrm>
          <a:prstGeom prst="rect">
            <a:avLst/>
          </a:prstGeom>
          <a:noFill/>
          <a:ln/>
        </p:spPr>
        <p:txBody>
          <a:bodyPr wrap="square" lIns="0" tIns="0" rIns="0" bIns="0" rtlCol="0" anchor="ctr"/>
          <a:lstStyle/>
          <a:p>
            <a:pPr algn="ctr" indent="0" marL="0">
              <a:buNone/>
            </a:pPr>
            <a:r>
              <a:rPr lang="en-US" sz="1300" b="1" dirty="0">
                <a:solidFill>
                  <a:srgbClr val="143B37"/>
                </a:solidFill>
                <a:latin typeface="Arial" pitchFamily="34" charset="0"/>
                <a:ea typeface="Arial" pitchFamily="34" charset="-122"/>
                <a:cs typeface="Arial" pitchFamily="34" charset="-120"/>
              </a:rPr>
              <a:t>x 65% usable</a:t>
            </a:r>
            <a:endParaRPr lang="en-US" sz="1300" dirty="0"/>
          </a:p>
        </p:txBody>
      </p:sp>
      <p:sp>
        <p:nvSpPr>
          <p:cNvPr id="48" name="Shape 44"/>
          <p:cNvSpPr/>
          <p:nvPr/>
        </p:nvSpPr>
        <p:spPr>
          <a:xfrm>
            <a:off x="7905750" y="4743450"/>
            <a:ext cx="1638300" cy="495300"/>
          </a:xfrm>
          <a:prstGeom prst="roundRect">
            <a:avLst>
              <a:gd name="adj" fmla="val 23077"/>
            </a:avLst>
          </a:prstGeom>
          <a:solidFill>
            <a:srgbClr val="CFE7E2"/>
          </a:solidFill>
          <a:ln w="12700">
            <a:solidFill>
              <a:srgbClr val="CFE7E2"/>
            </a:solidFill>
            <a:prstDash val="solid"/>
          </a:ln>
        </p:spPr>
      </p:sp>
      <p:sp>
        <p:nvSpPr>
          <p:cNvPr id="49" name="Text 45"/>
          <p:cNvSpPr txBox="1"/>
          <p:nvPr/>
        </p:nvSpPr>
        <p:spPr>
          <a:xfrm>
            <a:off x="7981950" y="4743450"/>
            <a:ext cx="1485900" cy="495300"/>
          </a:xfrm>
          <a:prstGeom prst="rect">
            <a:avLst/>
          </a:prstGeom>
          <a:noFill/>
          <a:ln/>
        </p:spPr>
        <p:txBody>
          <a:bodyPr wrap="square" lIns="0" tIns="0" rIns="0" bIns="0" rtlCol="0" anchor="ctr"/>
          <a:lstStyle/>
          <a:p>
            <a:pPr algn="ctr" indent="0" marL="0">
              <a:buNone/>
            </a:pPr>
            <a:r>
              <a:rPr lang="en-US" sz="1300" b="1" dirty="0">
                <a:solidFill>
                  <a:srgbClr val="143B37"/>
                </a:solidFill>
                <a:latin typeface="Arial" pitchFamily="34" charset="0"/>
                <a:ea typeface="Arial" pitchFamily="34" charset="-122"/>
                <a:cs typeface="Arial" pitchFamily="34" charset="-120"/>
              </a:rPr>
              <a:t>x 0.20 kW/m2</a:t>
            </a:r>
            <a:endParaRPr lang="en-US" sz="1300" dirty="0"/>
          </a:p>
        </p:txBody>
      </p:sp>
      <p:sp>
        <p:nvSpPr>
          <p:cNvPr id="50" name="Shape 46"/>
          <p:cNvSpPr/>
          <p:nvPr/>
        </p:nvSpPr>
        <p:spPr>
          <a:xfrm>
            <a:off x="9696450" y="4743450"/>
            <a:ext cx="1638300" cy="495300"/>
          </a:xfrm>
          <a:prstGeom prst="roundRect">
            <a:avLst>
              <a:gd name="adj" fmla="val 23077"/>
            </a:avLst>
          </a:prstGeom>
          <a:solidFill>
            <a:srgbClr val="17685F"/>
          </a:solidFill>
          <a:ln w="12700">
            <a:solidFill>
              <a:srgbClr val="17685F"/>
            </a:solidFill>
            <a:prstDash val="solid"/>
          </a:ln>
        </p:spPr>
      </p:sp>
      <p:sp>
        <p:nvSpPr>
          <p:cNvPr id="51" name="Text 47"/>
          <p:cNvSpPr txBox="1"/>
          <p:nvPr/>
        </p:nvSpPr>
        <p:spPr>
          <a:xfrm>
            <a:off x="9772650" y="4743450"/>
            <a:ext cx="1485900" cy="4953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 1,685 to 2,106 kWp</a:t>
            </a:r>
            <a:endParaRPr lang="en-US" sz="1300" dirty="0"/>
          </a:p>
        </p:txBody>
      </p:sp>
      <p:sp>
        <p:nvSpPr>
          <p:cNvPr id="52" name="Text 48"/>
          <p:cNvSpPr txBox="1"/>
          <p:nvPr/>
        </p:nvSpPr>
        <p:spPr>
          <a:xfrm>
            <a:off x="742950" y="5391150"/>
            <a:ext cx="10763250" cy="533400"/>
          </a:xfrm>
          <a:prstGeom prst="rect">
            <a:avLst/>
          </a:prstGeom>
          <a:noFill/>
          <a:ln/>
        </p:spPr>
        <p:txBody>
          <a:bodyPr wrap="square" lIns="0" tIns="0" rIns="0" bIns="0" rtlCol="0" anchor="t"/>
          <a:lstStyle/>
          <a:p>
            <a:pPr algn="l" indent="0" marL="0">
              <a:buNone/>
            </a:pPr>
            <a:r>
              <a:rPr lang="en-US" sz="1250" dirty="0">
                <a:solidFill>
                  <a:srgbClr val="143B37"/>
                </a:solidFill>
                <a:latin typeface="Arial" pitchFamily="34" charset="0"/>
                <a:ea typeface="Arial" pitchFamily="34" charset="-122"/>
                <a:cs typeface="Arial" pitchFamily="34" charset="-120"/>
              </a:rPr>
              <a:t>The widths are the uncertain term and the pitch was not recorded. The optimiser wants 2,549 kWp without storage and 2,847 kWp with it, so the roof binds across the whole plausible range.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Results: the six cases side by side</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14350" y="1238250"/>
          <a:ext cx="11220450" cy="914400"/>
        </p:xfrm>
        <a:graphic>
          <a:graphicData uri="http://schemas.openxmlformats.org/drawingml/2006/table">
            <a:tbl>
              <a:tblPr/>
              <a:tblGrid>
                <a:gridCol w="2095500"/>
                <a:gridCol w="857250"/>
                <a:gridCol w="1809750"/>
                <a:gridCol w="1143000"/>
                <a:gridCol w="1333500"/>
                <a:gridCol w="857250"/>
                <a:gridCol w="857250"/>
                <a:gridCol w="762000"/>
                <a:gridCol w="1504950"/>
              </a:tblGrid>
              <a:tr h="361950">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Case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PV (kWp)</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Storage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Capex (USD)</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Year-1 savings (USD)</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Grid offset</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tCO2e / yr</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Equity IRR</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Equity NPV (USD)</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r>
              <a:tr h="361950">
                <a:tc>
                  <a:txBody>
                    <a:bodyPr/>
                    <a:lstStyle/>
                    <a:p>
                      <a:pPr algn="l" indent="0" marL="0">
                        <a:buNone/>
                      </a:pPr>
                      <a:r>
                        <a:rPr lang="en-US" sz="1150" dirty="0">
                          <a:solidFill>
                            <a:srgbClr val="143B37"/>
                          </a:solidFill>
                          <a:latin typeface="Arial" pitchFamily="34" charset="0"/>
                          <a:ea typeface="Arial" pitchFamily="34" charset="-122"/>
                          <a:cs typeface="Arial" pitchFamily="34" charset="-120"/>
                        </a:rPr>
                        <a:t>1. Roof, low</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1,685</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43B37"/>
                          </a:solidFill>
                          <a:latin typeface="Arial" pitchFamily="34" charset="0"/>
                          <a:ea typeface="Arial" pitchFamily="34" charset="-122"/>
                          <a:cs typeface="Arial" pitchFamily="34" charset="-120"/>
                        </a:rPr>
                        <a:t>none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842,500</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272,717</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30.8%</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1,096</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66.4%</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1,304,997</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algn="l" indent="0" marL="0">
                        <a:buNone/>
                      </a:pPr>
                      <a:r>
                        <a:rPr lang="en-US" sz="1150" dirty="0">
                          <a:solidFill>
                            <a:srgbClr val="143B37"/>
                          </a:solidFill>
                          <a:latin typeface="Arial" pitchFamily="34" charset="0"/>
                          <a:ea typeface="Arial" pitchFamily="34" charset="-122"/>
                          <a:cs typeface="Arial" pitchFamily="34" charset="-120"/>
                        </a:rPr>
                        <a:t>2. Roof, mid</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1,895</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43B37"/>
                          </a:solidFill>
                          <a:latin typeface="Arial" pitchFamily="34" charset="0"/>
                          <a:ea typeface="Arial" pitchFamily="34" charset="-122"/>
                          <a:cs typeface="Arial" pitchFamily="34" charset="-120"/>
                        </a:rPr>
                        <a:t>none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947,500</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299,784</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33.8%</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1,205</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64.5%</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1,415,588</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algn="l" indent="0" marL="0">
                        <a:buNone/>
                      </a:pPr>
                      <a:r>
                        <a:rPr lang="en-US" sz="1150" dirty="0">
                          <a:solidFill>
                            <a:srgbClr val="143B37"/>
                          </a:solidFill>
                          <a:latin typeface="Arial" pitchFamily="34" charset="0"/>
                          <a:ea typeface="Arial" pitchFamily="34" charset="-122"/>
                          <a:cs typeface="Arial" pitchFamily="34" charset="-120"/>
                        </a:rPr>
                        <a:t>3. Roof, high</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2,106</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43B37"/>
                          </a:solidFill>
                          <a:latin typeface="Arial" pitchFamily="34" charset="0"/>
                          <a:ea typeface="Arial" pitchFamily="34" charset="-122"/>
                          <a:cs typeface="Arial" pitchFamily="34" charset="-120"/>
                        </a:rPr>
                        <a:t>none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1,053,000</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324,301</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36.6%</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1,304</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62.2%</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1,506,642</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algn="l" indent="0" marL="0">
                        <a:buNone/>
                      </a:pPr>
                      <a:r>
                        <a:rPr lang="en-US" sz="1150" dirty="0">
                          <a:solidFill>
                            <a:srgbClr val="143B37"/>
                          </a:solidFill>
                          <a:latin typeface="Arial" pitchFamily="34" charset="0"/>
                          <a:ea typeface="Arial" pitchFamily="34" charset="-122"/>
                          <a:cs typeface="Arial" pitchFamily="34" charset="-120"/>
                        </a:rPr>
                        <a:t>4. No roof limit</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2,549</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43B37"/>
                          </a:solidFill>
                          <a:latin typeface="Arial" pitchFamily="34" charset="0"/>
                          <a:ea typeface="Arial" pitchFamily="34" charset="-122"/>
                          <a:cs typeface="Arial" pitchFamily="34" charset="-120"/>
                        </a:rPr>
                        <a:t>none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1,274,321</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364,048</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41.1%</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1,465</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56.1%</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43B37"/>
                          </a:solidFill>
                          <a:latin typeface="Arial" pitchFamily="34" charset="0"/>
                          <a:ea typeface="Arial" pitchFamily="34" charset="-122"/>
                          <a:cs typeface="Arial" pitchFamily="34" charset="-120"/>
                        </a:rPr>
                        <a:t>1,610,103</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61950">
                <a:tc>
                  <a:txBody>
                    <a:bodyPr/>
                    <a:lstStyle/>
                    <a:p>
                      <a:pPr algn="l" indent="0" marL="0">
                        <a:buNone/>
                      </a:pPr>
                      <a:r>
                        <a:rPr lang="en-US" sz="1150" b="1" dirty="0">
                          <a:solidFill>
                            <a:srgbClr val="143B37"/>
                          </a:solidFill>
                          <a:latin typeface="Arial" pitchFamily="34" charset="0"/>
                          <a:ea typeface="Arial" pitchFamily="34" charset="-122"/>
                          <a:cs typeface="Arial" pitchFamily="34" charset="-120"/>
                        </a:rPr>
                        <a:t>5. Roof, low, with storage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1,685</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ctr" indent="0" marL="0">
                        <a:buNone/>
                      </a:pPr>
                      <a:r>
                        <a:rPr lang="en-US" sz="1150" b="1" dirty="0">
                          <a:solidFill>
                            <a:srgbClr val="143B37"/>
                          </a:solidFill>
                          <a:latin typeface="Arial" pitchFamily="34" charset="0"/>
                          <a:ea typeface="Arial" pitchFamily="34" charset="-122"/>
                          <a:cs typeface="Arial" pitchFamily="34" charset="-120"/>
                        </a:rPr>
                        <a:t>222 kW / 367 kWh</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919,716</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289,920</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32.1%</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1,116</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64.2%</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1,353,566</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r>
              <a:tr h="361950">
                <a:tc>
                  <a:txBody>
                    <a:bodyPr/>
                    <a:lstStyle/>
                    <a:p>
                      <a:pPr algn="l" indent="0" marL="0">
                        <a:buNone/>
                      </a:pPr>
                      <a:r>
                        <a:rPr lang="en-US" sz="1150" b="1" dirty="0">
                          <a:solidFill>
                            <a:srgbClr val="143B37"/>
                          </a:solidFill>
                          <a:latin typeface="Arial" pitchFamily="34" charset="0"/>
                          <a:ea typeface="Arial" pitchFamily="34" charset="-122"/>
                          <a:cs typeface="Arial" pitchFamily="34" charset="-120"/>
                        </a:rPr>
                        <a:t>6. No roof limit, with storage</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2,847</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ctr" indent="0" marL="0">
                        <a:buNone/>
                      </a:pPr>
                      <a:r>
                        <a:rPr lang="en-US" sz="1150" b="1" dirty="0">
                          <a:solidFill>
                            <a:srgbClr val="143B37"/>
                          </a:solidFill>
                          <a:latin typeface="Arial" pitchFamily="34" charset="0"/>
                          <a:ea typeface="Arial" pitchFamily="34" charset="-122"/>
                          <a:cs typeface="Arial" pitchFamily="34" charset="-120"/>
                        </a:rPr>
                        <a:t>507 kW / 1,881 kWh</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1,756,407</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460,458</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50.4%</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1,740</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49.6%</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c>
                  <a:txBody>
                    <a:bodyPr/>
                    <a:lstStyle/>
                    <a:p>
                      <a:pPr algn="r" indent="0" marL="0">
                        <a:buNone/>
                      </a:pPr>
                      <a:r>
                        <a:rPr lang="en-US" sz="1150" b="1" dirty="0">
                          <a:solidFill>
                            <a:srgbClr val="143B37"/>
                          </a:solidFill>
                          <a:latin typeface="Arial" pitchFamily="34" charset="0"/>
                          <a:ea typeface="Arial" pitchFamily="34" charset="-122"/>
                          <a:cs typeface="Arial" pitchFamily="34" charset="-120"/>
                        </a:rPr>
                        <a:t>1,855,912</a:t>
                      </a:r>
                      <a:endParaRPr lang="en-US" sz="115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CFE7E2"/>
                    </a:solidFill>
                  </a:tcPr>
                </a:tc>
              </a:tr>
            </a:tbl>
          </a:graphicData>
        </a:graphic>
      </p:graphicFrame>
      <p:sp>
        <p:nvSpPr>
          <p:cNvPr id="9" name="Text 4"/>
          <p:cNvSpPr txBox="1"/>
          <p:nvPr/>
        </p:nvSpPr>
        <p:spPr>
          <a:xfrm>
            <a:off x="514350" y="4400550"/>
            <a:ext cx="3810000" cy="266700"/>
          </a:xfrm>
          <a:prstGeom prst="rect">
            <a:avLst/>
          </a:prstGeom>
          <a:noFill/>
          <a:ln/>
        </p:spPr>
        <p:txBody>
          <a:bodyPr wrap="square" lIns="0" tIns="0" rIns="0" bIns="0" rtlCol="0" anchor="t"/>
          <a:lstStyle/>
          <a:p>
            <a:pPr algn="l" indent="0" marL="0">
              <a:buNone/>
            </a:pPr>
            <a:r>
              <a:rPr lang="en-US" sz="1600" b="1" dirty="0">
                <a:solidFill>
                  <a:srgbClr val="17685F"/>
                </a:solidFill>
                <a:latin typeface="Arial" pitchFamily="34" charset="0"/>
                <a:ea typeface="Arial" pitchFamily="34" charset="-122"/>
                <a:cs typeface="Arial" pitchFamily="34" charset="-120"/>
              </a:rPr>
              <a:t>Reading the table</a:t>
            </a:r>
            <a:endParaRPr lang="en-US" sz="1600" dirty="0"/>
          </a:p>
        </p:txBody>
      </p:sp>
      <p:sp>
        <p:nvSpPr>
          <p:cNvPr id="10" name="Text 5"/>
          <p:cNvSpPr txBox="1"/>
          <p:nvPr/>
        </p:nvSpPr>
        <p:spPr>
          <a:xfrm>
            <a:off x="514350" y="4724400"/>
            <a:ext cx="11220450" cy="161925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143B37"/>
                </a:solidFill>
                <a:latin typeface="Arial" pitchFamily="34" charset="0"/>
                <a:ea typeface="Arial" pitchFamily="34" charset="-122"/>
                <a:cs typeface="Arial" pitchFamily="34" charset="-120"/>
              </a:rPr>
              <a:t>Every case returns its equity in under two years at the 500 USD/kWp price; the differences between cases are in scale, not in whether the investment works.</a:t>
            </a:r>
            <a:endParaRPr lang="en-US" sz="1300" dirty="0"/>
          </a:p>
          <a:p>
            <a:pPr marL="203200" indent="-203200">
              <a:spcAft>
                <a:spcPts val="800"/>
              </a:spcAft>
              <a:buSzPct val="100000"/>
              <a:buChar char="•"/>
            </a:pPr>
            <a:r>
              <a:rPr lang="en-US" sz="1300" dirty="0">
                <a:solidFill>
                  <a:srgbClr val="143B37"/>
                </a:solidFill>
                <a:latin typeface="Arial" pitchFamily="34" charset="0"/>
                <a:ea typeface="Arial" pitchFamily="34" charset="-122"/>
                <a:cs typeface="Arial" pitchFamily="34" charset="-120"/>
              </a:rPr>
              <a:t>Storage adds 77,000 USD of capex at the roof-limited size and 17,000 USD of year-1 savings, lifting NPV by 49,000 USD; unconstrained, it adds 1.9 MWh and lifts NPV by 246,000 USD.</a:t>
            </a:r>
            <a:endParaRPr lang="en-US" sz="1300" dirty="0"/>
          </a:p>
          <a:p>
            <a:pPr marL="203200" indent="-203200">
              <a:spcAft>
                <a:spcPts val="800"/>
              </a:spcAft>
              <a:buSzPct val="100000"/>
              <a:buChar char="•"/>
            </a:pPr>
            <a:r>
              <a:rPr lang="en-US" sz="1300" dirty="0">
                <a:solidFill>
                  <a:srgbClr val="143B37"/>
                </a:solidFill>
                <a:latin typeface="Arial" pitchFamily="34" charset="0"/>
                <a:ea typeface="Arial" pitchFamily="34" charset="-122"/>
                <a:cs typeface="Arial" pitchFamily="34" charset="-120"/>
              </a:rPr>
              <a:t>Equity IRR falls with size because each added kilowatt is used less on site; NPV, not IRR, is the figure to size 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Bigger systems return more in total, less per dollar</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11</a:t>
            </a:r>
            <a:endParaRPr lang="en-US" sz="1000" dirty="0"/>
          </a:p>
        </p:txBody>
      </p:sp>
      <p:sp>
        <p:nvSpPr>
          <p:cNvPr id="8" name="Text 4"/>
          <p:cNvSpPr txBox="1"/>
          <p:nvPr/>
        </p:nvSpPr>
        <p:spPr>
          <a:xfrm>
            <a:off x="514350" y="1181100"/>
            <a:ext cx="57150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Equity NPV (USD, 20 years at 11 percent)</a:t>
            </a:r>
            <a:endParaRPr lang="en-US" sz="1500" dirty="0"/>
          </a:p>
        </p:txBody>
      </p:sp>
      <p:graphicFrame>
        <p:nvGraphicFramePr>
          <p:cNvPr id="9" name="Chart 0" descr=""/>
          <p:cNvGraphicFramePr/>
          <p:nvPr/>
        </p:nvGraphicFramePr>
        <p:xfrm>
          <a:off x="514350" y="1466850"/>
          <a:ext cx="5905500" cy="400050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6858000" y="1181100"/>
            <a:ext cx="47625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Equity IRR</a:t>
            </a:r>
            <a:endParaRPr lang="en-US" sz="1500" dirty="0"/>
          </a:p>
        </p:txBody>
      </p:sp>
      <p:graphicFrame>
        <p:nvGraphicFramePr>
          <p:cNvPr id="11" name="Chart 1" descr=""/>
          <p:cNvGraphicFramePr/>
          <p:nvPr/>
        </p:nvGraphicFramePr>
        <p:xfrm>
          <a:off x="6858000" y="1466850"/>
          <a:ext cx="4876800" cy="2190750"/>
        </p:xfrm>
        <a:graphic xmlns:a="http://schemas.openxmlformats.org/drawingml/2006/main">
          <a:graphicData uri="http://schemas.openxmlformats.org/drawingml/2006/chart">
            <c:chart xmlns:c="http://schemas.openxmlformats.org/drawingml/2006/chart" r:id="rId3"/>
          </a:graphicData>
        </a:graphic>
      </p:graphicFrame>
      <p:sp>
        <p:nvSpPr>
          <p:cNvPr id="12" name="Shape 6"/>
          <p:cNvSpPr/>
          <p:nvPr/>
        </p:nvSpPr>
        <p:spPr>
          <a:xfrm>
            <a:off x="6858000" y="3848100"/>
            <a:ext cx="4876800" cy="1619250"/>
          </a:xfrm>
          <a:prstGeom prst="roundRect">
            <a:avLst>
              <a:gd name="adj" fmla="val 10588"/>
            </a:avLst>
          </a:prstGeom>
          <a:solidFill>
            <a:srgbClr val="17685F"/>
          </a:solidFill>
          <a:ln w="12700">
            <a:solidFill>
              <a:srgbClr val="17685F"/>
            </a:solidFill>
            <a:prstDash val="solid"/>
          </a:ln>
        </p:spPr>
      </p:sp>
      <p:sp>
        <p:nvSpPr>
          <p:cNvPr id="13" name="Text 7"/>
          <p:cNvSpPr txBox="1"/>
          <p:nvPr/>
        </p:nvSpPr>
        <p:spPr>
          <a:xfrm>
            <a:off x="7086600" y="4000500"/>
            <a:ext cx="4476750" cy="247650"/>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Capex and equity by case (USD)</a:t>
            </a:r>
            <a:endParaRPr lang="en-US" sz="1300" dirty="0"/>
          </a:p>
        </p:txBody>
      </p:sp>
      <p:sp>
        <p:nvSpPr>
          <p:cNvPr id="14" name="Text 8"/>
          <p:cNvSpPr txBox="1"/>
          <p:nvPr/>
        </p:nvSpPr>
        <p:spPr>
          <a:xfrm>
            <a:off x="7086600" y="4286250"/>
            <a:ext cx="4476750" cy="1143000"/>
          </a:xfrm>
          <a:prstGeom prst="rect">
            <a:avLst/>
          </a:prstGeom>
          <a:noFill/>
          <a:ln/>
        </p:spPr>
        <p:txBody>
          <a:bodyPr wrap="square" lIns="0" tIns="0" rIns="0" bIns="0" rtlCol="0" anchor="t"/>
          <a:lstStyle/>
          <a:p>
            <a:pPr algn="l" indent="0" marL="0">
              <a:buNone/>
            </a:pPr>
            <a:r>
              <a:rPr lang="en-US" sz="1150" b="1" dirty="0">
                <a:solidFill>
                  <a:srgbClr val="FFFFFF"/>
                </a:solidFill>
                <a:latin typeface="Arial" pitchFamily="34" charset="0"/>
                <a:ea typeface="Arial" pitchFamily="34" charset="-122"/>
                <a:cs typeface="Arial" pitchFamily="34" charset="-120"/>
              </a:rPr>
              <a:t>1: </a:t>
            </a:r>
            <a:pPr algn="l" indent="0" marL="0">
              <a:buNone/>
            </a:pPr>
            <a:r>
              <a:rPr lang="en-US" sz="1150" dirty="0">
                <a:solidFill>
                  <a:srgbClr val="FFFFFF"/>
                </a:solidFill>
                <a:latin typeface="Arial" pitchFamily="34" charset="0"/>
                <a:ea typeface="Arial" pitchFamily="34" charset="-122"/>
                <a:cs typeface="Arial" pitchFamily="34" charset="-120"/>
              </a:rPr>
              <a:t>capex 842,500, equity 252,750, debt 589,750</a:t>
            </a:r>
            <a:endParaRPr lang="en-US" sz="1150" dirty="0"/>
          </a:p>
          <a:p>
            <a:pPr algn="l" indent="0" marL="0">
              <a:buNone/>
            </a:pPr>
            <a:r>
              <a:rPr lang="en-US" sz="1150" b="1" dirty="0">
                <a:solidFill>
                  <a:srgbClr val="FFFFFF"/>
                </a:solidFill>
                <a:latin typeface="Arial" pitchFamily="34" charset="0"/>
                <a:ea typeface="Arial" pitchFamily="34" charset="-122"/>
                <a:cs typeface="Arial" pitchFamily="34" charset="-120"/>
              </a:rPr>
              <a:t>2: </a:t>
            </a:r>
            <a:pPr algn="l" indent="0" marL="0">
              <a:buNone/>
            </a:pPr>
            <a:r>
              <a:rPr lang="en-US" sz="1150" dirty="0">
                <a:solidFill>
                  <a:srgbClr val="FFFFFF"/>
                </a:solidFill>
                <a:latin typeface="Arial" pitchFamily="34" charset="0"/>
                <a:ea typeface="Arial" pitchFamily="34" charset="-122"/>
                <a:cs typeface="Arial" pitchFamily="34" charset="-120"/>
              </a:rPr>
              <a:t>capex 947,500, equity 284,250, debt 663,250</a:t>
            </a:r>
            <a:endParaRPr lang="en-US" sz="1150" dirty="0"/>
          </a:p>
          <a:p>
            <a:pPr algn="l" indent="0" marL="0">
              <a:buNone/>
            </a:pPr>
            <a:r>
              <a:rPr lang="en-US" sz="1150" b="1" dirty="0">
                <a:solidFill>
                  <a:srgbClr val="FFFFFF"/>
                </a:solidFill>
                <a:latin typeface="Arial" pitchFamily="34" charset="0"/>
                <a:ea typeface="Arial" pitchFamily="34" charset="-122"/>
                <a:cs typeface="Arial" pitchFamily="34" charset="-120"/>
              </a:rPr>
              <a:t>3: </a:t>
            </a:r>
            <a:pPr algn="l" indent="0" marL="0">
              <a:buNone/>
            </a:pPr>
            <a:r>
              <a:rPr lang="en-US" sz="1150" dirty="0">
                <a:solidFill>
                  <a:srgbClr val="FFFFFF"/>
                </a:solidFill>
                <a:latin typeface="Arial" pitchFamily="34" charset="0"/>
                <a:ea typeface="Arial" pitchFamily="34" charset="-122"/>
                <a:cs typeface="Arial" pitchFamily="34" charset="-120"/>
              </a:rPr>
              <a:t>capex 1,053,000, equity 315,900, debt 737,100</a:t>
            </a:r>
            <a:endParaRPr lang="en-US" sz="1150" dirty="0"/>
          </a:p>
          <a:p>
            <a:pPr algn="l" indent="0" marL="0">
              <a:buNone/>
            </a:pPr>
            <a:r>
              <a:rPr lang="en-US" sz="1150" b="1" dirty="0">
                <a:solidFill>
                  <a:srgbClr val="FFFFFF"/>
                </a:solidFill>
                <a:latin typeface="Arial" pitchFamily="34" charset="0"/>
                <a:ea typeface="Arial" pitchFamily="34" charset="-122"/>
                <a:cs typeface="Arial" pitchFamily="34" charset="-120"/>
              </a:rPr>
              <a:t>4: </a:t>
            </a:r>
            <a:pPr algn="l" indent="0" marL="0">
              <a:buNone/>
            </a:pPr>
            <a:r>
              <a:rPr lang="en-US" sz="1150" dirty="0">
                <a:solidFill>
                  <a:srgbClr val="FFFFFF"/>
                </a:solidFill>
                <a:latin typeface="Arial" pitchFamily="34" charset="0"/>
                <a:ea typeface="Arial" pitchFamily="34" charset="-122"/>
                <a:cs typeface="Arial" pitchFamily="34" charset="-120"/>
              </a:rPr>
              <a:t>capex 1,274,321, equity 382,296, debt 892,025</a:t>
            </a:r>
            <a:endParaRPr lang="en-US" sz="1150" dirty="0"/>
          </a:p>
          <a:p>
            <a:pPr algn="l" indent="0" marL="0">
              <a:buNone/>
            </a:pPr>
            <a:r>
              <a:rPr lang="en-US" sz="1150" b="1" dirty="0">
                <a:solidFill>
                  <a:srgbClr val="FFFFFF"/>
                </a:solidFill>
                <a:latin typeface="Arial" pitchFamily="34" charset="0"/>
                <a:ea typeface="Arial" pitchFamily="34" charset="-122"/>
                <a:cs typeface="Arial" pitchFamily="34" charset="-120"/>
              </a:rPr>
              <a:t>5: </a:t>
            </a:r>
            <a:pPr algn="l" indent="0" marL="0">
              <a:buNone/>
            </a:pPr>
            <a:r>
              <a:rPr lang="en-US" sz="1150" dirty="0">
                <a:solidFill>
                  <a:srgbClr val="FFFFFF"/>
                </a:solidFill>
                <a:latin typeface="Arial" pitchFamily="34" charset="0"/>
                <a:ea typeface="Arial" pitchFamily="34" charset="-122"/>
                <a:cs typeface="Arial" pitchFamily="34" charset="-120"/>
              </a:rPr>
              <a:t>capex 919,716, equity 275,915, debt 643,801</a:t>
            </a:r>
            <a:endParaRPr lang="en-US" sz="1150" dirty="0"/>
          </a:p>
          <a:p>
            <a:pPr algn="l" indent="0" marL="0">
              <a:buNone/>
            </a:pPr>
            <a:r>
              <a:rPr lang="en-US" sz="1150" b="1" dirty="0">
                <a:solidFill>
                  <a:srgbClr val="FFFFFF"/>
                </a:solidFill>
                <a:latin typeface="Arial" pitchFamily="34" charset="0"/>
                <a:ea typeface="Arial" pitchFamily="34" charset="-122"/>
                <a:cs typeface="Arial" pitchFamily="34" charset="-120"/>
              </a:rPr>
              <a:t>6: </a:t>
            </a:r>
            <a:pPr algn="l" indent="0" marL="0">
              <a:buNone/>
            </a:pPr>
            <a:r>
              <a:rPr lang="en-US" sz="1150" dirty="0">
                <a:solidFill>
                  <a:srgbClr val="FFFFFF"/>
                </a:solidFill>
                <a:latin typeface="Arial" pitchFamily="34" charset="0"/>
                <a:ea typeface="Arial" pitchFamily="34" charset="-122"/>
                <a:cs typeface="Arial" pitchFamily="34" charset="-120"/>
              </a:rPr>
              <a:t>capex 1,756,407, equity 526,922, debt 1,229,485</a:t>
            </a:r>
            <a:endParaRPr lang="en-US" sz="1150" dirty="0"/>
          </a:p>
        </p:txBody>
      </p:sp>
      <p:sp>
        <p:nvSpPr>
          <p:cNvPr id="15" name="Text 9"/>
          <p:cNvSpPr txBox="1"/>
          <p:nvPr/>
        </p:nvSpPr>
        <p:spPr>
          <a:xfrm>
            <a:off x="514350" y="5619750"/>
            <a:ext cx="11220450" cy="381000"/>
          </a:xfrm>
          <a:prstGeom prst="rect">
            <a:avLst/>
          </a:prstGeom>
          <a:noFill/>
          <a:ln/>
        </p:spPr>
        <p:txBody>
          <a:bodyPr wrap="square" lIns="0" tIns="0" rIns="0" bIns="0" rtlCol="0" anchor="t"/>
          <a:lstStyle/>
          <a:p>
            <a:pPr algn="l" indent="0" marL="0">
              <a:buNone/>
            </a:pPr>
            <a:r>
              <a:rPr lang="en-US" sz="1200" i="1" dirty="0">
                <a:solidFill>
                  <a:srgbClr val="4D6D68"/>
                </a:solidFill>
                <a:latin typeface="Arial" pitchFamily="34" charset="0"/>
                <a:ea typeface="Arial" pitchFamily="34" charset="-122"/>
                <a:cs typeface="Arial" pitchFamily="34" charset="-120"/>
              </a:rPr>
              <a:t>Simple equity payback runs from 1.5 years (case 1) to 2.0 years (case 6). These are consequences of the 500 USD/kWp input; see slide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What storage buys: recovered curtailment and a lower monthly peak</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12</a:t>
            </a:r>
            <a:endParaRPr lang="en-US" sz="1000" dirty="0"/>
          </a:p>
        </p:txBody>
      </p:sp>
      <p:sp>
        <p:nvSpPr>
          <p:cNvPr id="8" name="Text 4"/>
          <p:cNvSpPr txBox="1"/>
          <p:nvPr/>
        </p:nvSpPr>
        <p:spPr>
          <a:xfrm>
            <a:off x="514350" y="1181100"/>
            <a:ext cx="66675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Case 6, average day: who serves the load (kW by hour)</a:t>
            </a:r>
            <a:endParaRPr lang="en-US" sz="1500" dirty="0"/>
          </a:p>
        </p:txBody>
      </p:sp>
      <p:graphicFrame>
        <p:nvGraphicFramePr>
          <p:cNvPr id="9" name="Chart 0" descr=""/>
          <p:cNvGraphicFramePr/>
          <p:nvPr/>
        </p:nvGraphicFramePr>
        <p:xfrm>
          <a:off x="514350" y="1466850"/>
          <a:ext cx="7239000" cy="314325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514350" y="4705350"/>
            <a:ext cx="7239000" cy="419100"/>
          </a:xfrm>
          <a:prstGeom prst="rect">
            <a:avLst/>
          </a:prstGeom>
          <a:noFill/>
          <a:ln/>
        </p:spPr>
        <p:txBody>
          <a:bodyPr wrap="square" lIns="0" tIns="0" rIns="0" bIns="0" rtlCol="0" anchor="t"/>
          <a:lstStyle/>
          <a:p>
            <a:pPr algn="l" indent="0" marL="0">
              <a:buNone/>
            </a:pPr>
            <a:r>
              <a:rPr lang="en-US" sz="1150" i="1" dirty="0">
                <a:solidFill>
                  <a:srgbClr val="4D6D68"/>
                </a:solidFill>
                <a:latin typeface="Arial" pitchFamily="34" charset="0"/>
                <a:ea typeface="Arial" pitchFamily="34" charset="-122"/>
                <a:cs typeface="Arial" pitchFamily="34" charset="-120"/>
              </a:rPr>
              <a:t>Late morning the array also charges the battery (up to 340 kW) and still curtails up to 400 kW; the battery gives it back from 18:00 to 22:00, inside the peak window.</a:t>
            </a:r>
            <a:endParaRPr lang="en-US" sz="1150" dirty="0"/>
          </a:p>
        </p:txBody>
      </p:sp>
      <p:sp>
        <p:nvSpPr>
          <p:cNvPr id="11" name="Shape 6"/>
          <p:cNvSpPr/>
          <p:nvPr/>
        </p:nvSpPr>
        <p:spPr>
          <a:xfrm>
            <a:off x="8096250" y="1181100"/>
            <a:ext cx="3638550" cy="1276350"/>
          </a:xfrm>
          <a:prstGeom prst="roundRect">
            <a:avLst>
              <a:gd name="adj" fmla="val 13433"/>
            </a:avLst>
          </a:prstGeom>
          <a:solidFill>
            <a:srgbClr val="17685F"/>
          </a:solidFill>
          <a:ln w="12700">
            <a:solidFill>
              <a:srgbClr val="17685F"/>
            </a:solidFill>
            <a:prstDash val="solid"/>
          </a:ln>
        </p:spPr>
      </p:sp>
      <p:sp>
        <p:nvSpPr>
          <p:cNvPr id="12" name="Text 7"/>
          <p:cNvSpPr txBox="1"/>
          <p:nvPr/>
        </p:nvSpPr>
        <p:spPr>
          <a:xfrm>
            <a:off x="8324850" y="1314450"/>
            <a:ext cx="3238500" cy="4191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529 MWh / yr</a:t>
            </a:r>
            <a:endParaRPr lang="en-US" sz="2400" dirty="0"/>
          </a:p>
        </p:txBody>
      </p:sp>
      <p:sp>
        <p:nvSpPr>
          <p:cNvPr id="13" name="Text 8"/>
          <p:cNvSpPr txBox="1"/>
          <p:nvPr/>
        </p:nvSpPr>
        <p:spPr>
          <a:xfrm>
            <a:off x="8324850" y="1771650"/>
            <a:ext cx="3238500" cy="628650"/>
          </a:xfrm>
          <a:prstGeom prst="rect">
            <a:avLst/>
          </a:prstGeom>
          <a:noFill/>
          <a:ln/>
        </p:spPr>
        <p:txBody>
          <a:bodyPr wrap="square" lIns="0" tIns="0" rIns="0" bIns="0" rtlCol="0" anchor="t"/>
          <a:lstStyle/>
          <a:p>
            <a:pPr algn="l" indent="0" marL="0">
              <a:buNone/>
            </a:pPr>
            <a:r>
              <a:rPr lang="en-US" sz="1150" dirty="0">
                <a:solidFill>
                  <a:srgbClr val="FFFFFF"/>
                </a:solidFill>
                <a:latin typeface="Arial" pitchFamily="34" charset="0"/>
                <a:ea typeface="Arial" pitchFamily="34" charset="-122"/>
                <a:cs typeface="Arial" pitchFamily="34" charset="-120"/>
              </a:rPr>
              <a:t>delivered by the case 6 battery to the load, mostly in the evening peak hours</a:t>
            </a:r>
            <a:endParaRPr lang="en-US" sz="1150" dirty="0"/>
          </a:p>
        </p:txBody>
      </p:sp>
      <p:sp>
        <p:nvSpPr>
          <p:cNvPr id="14" name="Shape 9"/>
          <p:cNvSpPr/>
          <p:nvPr/>
        </p:nvSpPr>
        <p:spPr>
          <a:xfrm>
            <a:off x="8096250" y="2609850"/>
            <a:ext cx="3638550" cy="1276350"/>
          </a:xfrm>
          <a:prstGeom prst="roundRect">
            <a:avLst>
              <a:gd name="adj" fmla="val 13433"/>
            </a:avLst>
          </a:prstGeom>
          <a:solidFill>
            <a:srgbClr val="3F8E73"/>
          </a:solidFill>
          <a:ln w="12700">
            <a:solidFill>
              <a:srgbClr val="3F8E73"/>
            </a:solidFill>
            <a:prstDash val="solid"/>
          </a:ln>
        </p:spPr>
      </p:sp>
      <p:sp>
        <p:nvSpPr>
          <p:cNvPr id="15" name="Text 10"/>
          <p:cNvSpPr txBox="1"/>
          <p:nvPr/>
        </p:nvSpPr>
        <p:spPr>
          <a:xfrm>
            <a:off x="8324850" y="2743200"/>
            <a:ext cx="3238500" cy="4191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8.6% to 6.5%</a:t>
            </a:r>
            <a:endParaRPr lang="en-US" sz="2400" dirty="0"/>
          </a:p>
        </p:txBody>
      </p:sp>
      <p:sp>
        <p:nvSpPr>
          <p:cNvPr id="16" name="Text 11"/>
          <p:cNvSpPr txBox="1"/>
          <p:nvPr/>
        </p:nvSpPr>
        <p:spPr>
          <a:xfrm>
            <a:off x="8324850" y="3200400"/>
            <a:ext cx="3238500" cy="628650"/>
          </a:xfrm>
          <a:prstGeom prst="rect">
            <a:avLst/>
          </a:prstGeom>
          <a:noFill/>
          <a:ln/>
        </p:spPr>
        <p:txBody>
          <a:bodyPr wrap="square" lIns="0" tIns="0" rIns="0" bIns="0" rtlCol="0" anchor="t"/>
          <a:lstStyle/>
          <a:p>
            <a:pPr algn="l" indent="0" marL="0">
              <a:buNone/>
            </a:pPr>
            <a:r>
              <a:rPr lang="en-US" sz="1150" dirty="0">
                <a:solidFill>
                  <a:srgbClr val="FFFFFF"/>
                </a:solidFill>
                <a:latin typeface="Arial" pitchFamily="34" charset="0"/>
                <a:ea typeface="Arial" pitchFamily="34" charset="-122"/>
                <a:cs typeface="Arial" pitchFamily="34" charset="-120"/>
              </a:rPr>
              <a:t>curtailment at the roof-limited array without and with storage (cases 1 and 5): energy that would otherwise be lost</a:t>
            </a:r>
            <a:endParaRPr lang="en-US" sz="1150" dirty="0"/>
          </a:p>
        </p:txBody>
      </p:sp>
      <p:sp>
        <p:nvSpPr>
          <p:cNvPr id="17" name="Shape 12"/>
          <p:cNvSpPr/>
          <p:nvPr/>
        </p:nvSpPr>
        <p:spPr>
          <a:xfrm>
            <a:off x="8096250" y="4038600"/>
            <a:ext cx="3638550" cy="1276350"/>
          </a:xfrm>
          <a:prstGeom prst="roundRect">
            <a:avLst>
              <a:gd name="adj" fmla="val 13433"/>
            </a:avLst>
          </a:prstGeom>
          <a:solidFill>
            <a:srgbClr val="FFFFFF"/>
          </a:solidFill>
          <a:ln w="12700">
            <a:solidFill>
              <a:srgbClr val="8AB8B0"/>
            </a:solidFill>
            <a:prstDash val="solid"/>
          </a:ln>
        </p:spPr>
      </p:sp>
      <p:sp>
        <p:nvSpPr>
          <p:cNvPr id="18" name="Text 13"/>
          <p:cNvSpPr txBox="1"/>
          <p:nvPr/>
        </p:nvSpPr>
        <p:spPr>
          <a:xfrm>
            <a:off x="8324850" y="4171950"/>
            <a:ext cx="3238500" cy="419100"/>
          </a:xfrm>
          <a:prstGeom prst="rect">
            <a:avLst/>
          </a:prstGeom>
          <a:noFill/>
          <a:ln/>
        </p:spPr>
        <p:txBody>
          <a:bodyPr wrap="square" lIns="0" tIns="0" rIns="0" bIns="0" rtlCol="0" anchor="ctr"/>
          <a:lstStyle/>
          <a:p>
            <a:pPr algn="l" indent="0" marL="0">
              <a:buNone/>
            </a:pPr>
            <a:r>
              <a:rPr lang="en-US" sz="2400" b="1" dirty="0">
                <a:solidFill>
                  <a:srgbClr val="17685F"/>
                </a:solidFill>
                <a:latin typeface="Arial" pitchFamily="34" charset="0"/>
                <a:ea typeface="Arial" pitchFamily="34" charset="-122"/>
                <a:cs typeface="Arial" pitchFamily="34" charset="-120"/>
              </a:rPr>
              <a:t>32,470 USD / yr</a:t>
            </a:r>
            <a:endParaRPr lang="en-US" sz="2400" dirty="0"/>
          </a:p>
        </p:txBody>
      </p:sp>
      <p:sp>
        <p:nvSpPr>
          <p:cNvPr id="19" name="Text 14"/>
          <p:cNvSpPr txBox="1"/>
          <p:nvPr/>
        </p:nvSpPr>
        <p:spPr>
          <a:xfrm>
            <a:off x="8324850" y="4629150"/>
            <a:ext cx="3238500" cy="628650"/>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case 6 demand charge savings; the battery covers the interval that would set the monthly peak</a:t>
            </a:r>
            <a:endParaRPr lang="en-US" sz="1150" dirty="0"/>
          </a:p>
        </p:txBody>
      </p:sp>
      <p:sp>
        <p:nvSpPr>
          <p:cNvPr id="20" name="Text 15"/>
          <p:cNvSpPr txBox="1"/>
          <p:nvPr/>
        </p:nvSpPr>
        <p:spPr>
          <a:xfrm>
            <a:off x="514350" y="5334000"/>
            <a:ext cx="11220450" cy="381000"/>
          </a:xfrm>
          <a:prstGeom prst="rect">
            <a:avLst/>
          </a:prstGeom>
          <a:noFill/>
          <a:ln/>
        </p:spPr>
        <p:txBody>
          <a:bodyPr wrap="square" lIns="0" tIns="0" rIns="0" bIns="0" rtlCol="0" anchor="t"/>
          <a:lstStyle/>
          <a:p>
            <a:pPr algn="l" indent="0" marL="0">
              <a:buNone/>
            </a:pPr>
            <a:r>
              <a:rPr lang="en-US" sz="1250" b="1" dirty="0">
                <a:solidFill>
                  <a:srgbClr val="143B37"/>
                </a:solidFill>
                <a:latin typeface="Arial" pitchFamily="34" charset="0"/>
                <a:ea typeface="Arial" pitchFamily="34" charset="-122"/>
                <a:cs typeface="Arial" pitchFamily="34" charset="-120"/>
              </a:rPr>
              <a:t>The conclusion held at three battery price points, so it rests on the tariff shape and the no-export rule, not on one quotation.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The year-10 battery replacement meets the final loan year</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13</a:t>
            </a:r>
            <a:endParaRPr lang="en-US" sz="1000" dirty="0"/>
          </a:p>
        </p:txBody>
      </p:sp>
      <p:sp>
        <p:nvSpPr>
          <p:cNvPr id="8" name="Text 4"/>
          <p:cNvSpPr txBox="1"/>
          <p:nvPr/>
        </p:nvSpPr>
        <p:spPr>
          <a:xfrm>
            <a:off x="514350" y="1181100"/>
            <a:ext cx="66675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Debt service coverage ratio, years 1 to 10</a:t>
            </a:r>
            <a:endParaRPr lang="en-US" sz="1500" dirty="0"/>
          </a:p>
        </p:txBody>
      </p:sp>
      <p:graphicFrame>
        <p:nvGraphicFramePr>
          <p:cNvPr id="9" name="Chart 0" descr=""/>
          <p:cNvGraphicFramePr/>
          <p:nvPr/>
        </p:nvGraphicFramePr>
        <p:xfrm>
          <a:off x="514350" y="1466850"/>
          <a:ext cx="7239000" cy="3429000"/>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8096250" y="1181100"/>
            <a:ext cx="3638550" cy="3714750"/>
          </a:xfrm>
          <a:prstGeom prst="roundRect">
            <a:avLst>
              <a:gd name="adj" fmla="val 4712"/>
            </a:avLst>
          </a:prstGeom>
          <a:solidFill>
            <a:srgbClr val="17685F"/>
          </a:solidFill>
          <a:ln w="12700">
            <a:solidFill>
              <a:srgbClr val="17685F"/>
            </a:solidFill>
            <a:prstDash val="solid"/>
          </a:ln>
        </p:spPr>
      </p:sp>
      <p:sp>
        <p:nvSpPr>
          <p:cNvPr id="11" name="Text 6"/>
          <p:cNvSpPr txBox="1"/>
          <p:nvPr/>
        </p:nvSpPr>
        <p:spPr>
          <a:xfrm>
            <a:off x="8324850" y="1390650"/>
            <a:ext cx="3238500" cy="285750"/>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A structuring point</a:t>
            </a:r>
            <a:endParaRPr lang="en-US" sz="1700" dirty="0"/>
          </a:p>
        </p:txBody>
      </p:sp>
      <p:sp>
        <p:nvSpPr>
          <p:cNvPr id="12" name="Text 7"/>
          <p:cNvSpPr txBox="1"/>
          <p:nvPr/>
        </p:nvSpPr>
        <p:spPr>
          <a:xfrm>
            <a:off x="8324850" y="1790700"/>
            <a:ext cx="3200400" cy="3048000"/>
          </a:xfrm>
          <a:prstGeom prst="rect">
            <a:avLst/>
          </a:prstGeom>
          <a:noFill/>
          <a:ln/>
        </p:spPr>
        <p:txBody>
          <a:bodyPr wrap="square" lIns="0" tIns="0" rIns="0" bIns="0" rtlCol="0" anchor="t"/>
          <a:lstStyle/>
          <a:p>
            <a:pPr marL="203200" indent="-203200">
              <a:spcAft>
                <a:spcPts val="800"/>
              </a:spcAft>
              <a:buSzPct val="100000"/>
              <a:buChar char="•"/>
            </a:pPr>
            <a:r>
              <a:rPr lang="en-US" sz="1200" dirty="0">
                <a:solidFill>
                  <a:srgbClr val="FFFFFF"/>
                </a:solidFill>
                <a:latin typeface="Arial" pitchFamily="34" charset="0"/>
                <a:ea typeface="Arial" pitchFamily="34" charset="-122"/>
                <a:cs typeface="Arial" pitchFamily="34" charset="-120"/>
              </a:rPr>
              <a:t>Case 6, year 10: cash available for debt service 109,516 USD against 171,027 USD of debt service after a 332,891 USD battery replacement.</a:t>
            </a:r>
            <a:endParaRPr lang="en-US" sz="1200" dirty="0"/>
          </a:p>
          <a:p>
            <a:pPr marL="203200" indent="-203200">
              <a:spcAft>
                <a:spcPts val="800"/>
              </a:spcAft>
              <a:buSzPct val="100000"/>
              <a:buChar char="•"/>
            </a:pPr>
            <a:r>
              <a:rPr lang="en-US" sz="1200" dirty="0">
                <a:solidFill>
                  <a:srgbClr val="FFFFFF"/>
                </a:solidFill>
                <a:latin typeface="Arial" pitchFamily="34" charset="0"/>
                <a:ea typeface="Arial" pitchFamily="34" charset="-122"/>
                <a:cs typeface="Arial" pitchFamily="34" charset="-120"/>
              </a:rPr>
              <a:t>A lender will expect the replacement funded from a reserve built in years 1 to 9, or a tenor set so the replacement falls after the final payment. Either fix is routine.</a:t>
            </a:r>
            <a:endParaRPr lang="en-US" sz="1200" dirty="0"/>
          </a:p>
          <a:p>
            <a:pPr marL="203200" indent="-203200">
              <a:spcAft>
                <a:spcPts val="800"/>
              </a:spcAft>
              <a:buSzPct val="100000"/>
              <a:buChar char="•"/>
            </a:pPr>
            <a:r>
              <a:rPr lang="en-US" sz="1200" dirty="0">
                <a:solidFill>
                  <a:srgbClr val="FFFFFF"/>
                </a:solidFill>
                <a:latin typeface="Arial" pitchFamily="34" charset="0"/>
                <a:ea typeface="Arial" pitchFamily="34" charset="-122"/>
                <a:cs typeface="Arial" pitchFamily="34" charset="-120"/>
              </a:rPr>
              <a:t>The minimum coverage figure on the case 6 workbook should be read with this in mind.</a:t>
            </a:r>
            <a:endParaRPr lang="en-US" sz="1200" dirty="0"/>
          </a:p>
          <a:p>
            <a:pPr marL="203200" indent="-203200">
              <a:spcAft>
                <a:spcPts val="800"/>
              </a:spcAft>
              <a:buSzPct val="100000"/>
              <a:buChar char="•"/>
            </a:pPr>
            <a:r>
              <a:rPr lang="en-US" sz="1200" dirty="0">
                <a:solidFill>
                  <a:srgbClr val="FFFFFF"/>
                </a:solidFill>
                <a:latin typeface="Arial" pitchFamily="34" charset="0"/>
                <a:ea typeface="Arial" pitchFamily="34" charset="-122"/>
                <a:cs typeface="Arial" pitchFamily="34" charset="-120"/>
              </a:rPr>
              <a:t>The optimiser's own degradation model puts the case 6 battery at 96 percent capacity after 20 years; the year-10 full replacement is conservative by a wide margin.</a:t>
            </a:r>
            <a:endParaRPr lang="en-US" sz="1200" dirty="0"/>
          </a:p>
        </p:txBody>
      </p:sp>
      <p:sp>
        <p:nvSpPr>
          <p:cNvPr id="13" name="Text 8"/>
          <p:cNvSpPr txBox="1"/>
          <p:nvPr/>
        </p:nvSpPr>
        <p:spPr>
          <a:xfrm>
            <a:off x="514350" y="5048250"/>
            <a:ext cx="7239000" cy="419100"/>
          </a:xfrm>
          <a:prstGeom prst="rect">
            <a:avLst/>
          </a:prstGeom>
          <a:noFill/>
          <a:ln/>
        </p:spPr>
        <p:txBody>
          <a:bodyPr wrap="square" lIns="0" tIns="0" rIns="0" bIns="0" rtlCol="0" anchor="t"/>
          <a:lstStyle/>
          <a:p>
            <a:pPr algn="l" indent="0" marL="0">
              <a:buNone/>
            </a:pPr>
            <a:r>
              <a:rPr lang="en-US" sz="1150" i="1" dirty="0">
                <a:solidFill>
                  <a:srgbClr val="4D6D68"/>
                </a:solidFill>
                <a:latin typeface="Arial" pitchFamily="34" charset="0"/>
                <a:ea typeface="Arial" pitchFamily="34" charset="-122"/>
                <a:cs typeface="Arial" pitchFamily="34" charset="-120"/>
              </a:rPr>
              <a:t>Average coverage over the loan: case 5 2.89, case 6 2.31. PV inverter replacement (10 percent of PV capex) follows in year 11, after the loan.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Two inputs move the answer: capital cost and export</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14</a:t>
            </a:r>
            <a:endParaRPr lang="en-US" sz="1000" dirty="0"/>
          </a:p>
        </p:txBody>
      </p:sp>
      <p:sp>
        <p:nvSpPr>
          <p:cNvPr id="8" name="Text 4"/>
          <p:cNvSpPr txBox="1"/>
          <p:nvPr/>
        </p:nvSpPr>
        <p:spPr>
          <a:xfrm>
            <a:off x="514350" y="1181100"/>
            <a:ext cx="53340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Installed PV cost, USD per kWp</a:t>
            </a:r>
            <a:endParaRPr lang="en-US" sz="1500" dirty="0"/>
          </a:p>
        </p:txBody>
      </p:sp>
      <p:graphicFrame>
        <p:nvGraphicFramePr>
          <p:cNvPr id="9" name="Chart 0" descr=""/>
          <p:cNvGraphicFramePr/>
          <p:nvPr/>
        </p:nvGraphicFramePr>
        <p:xfrm>
          <a:off x="514350" y="1466850"/>
          <a:ext cx="5334000" cy="285750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514350" y="4419600"/>
            <a:ext cx="5334000" cy="857250"/>
          </a:xfrm>
          <a:prstGeom prst="rect">
            <a:avLst/>
          </a:prstGeom>
          <a:noFill/>
          <a:ln/>
        </p:spPr>
        <p:txBody>
          <a:bodyPr wrap="square" lIns="0" tIns="0" rIns="0" bIns="0" rtlCol="0" anchor="t"/>
          <a:lstStyle/>
          <a:p>
            <a:pPr algn="l" indent="0" marL="0">
              <a:buNone/>
            </a:pPr>
            <a:r>
              <a:rPr lang="en-US" sz="1250" dirty="0">
                <a:solidFill>
                  <a:srgbClr val="143B37"/>
                </a:solidFill>
                <a:latin typeface="Arial" pitchFamily="34" charset="0"/>
                <a:ea typeface="Arial" pitchFamily="34" charset="-122"/>
                <a:cs typeface="Arial" pitchFamily="34" charset="-120"/>
              </a:rPr>
              <a:t>The 500 USD/kWp price is used as given. It is why simple equity payback is 1.5 years; a quotation at 650 USD/kWp would change the picture materially. Confirming the price is worth more than refining anything else in the analysis.</a:t>
            </a:r>
            <a:endParaRPr lang="en-US" sz="1250" dirty="0"/>
          </a:p>
        </p:txBody>
      </p:sp>
      <p:sp>
        <p:nvSpPr>
          <p:cNvPr id="11" name="Text 6"/>
          <p:cNvSpPr txBox="1"/>
          <p:nvPr/>
        </p:nvSpPr>
        <p:spPr>
          <a:xfrm>
            <a:off x="6381750" y="1181100"/>
            <a:ext cx="5334000" cy="247650"/>
          </a:xfrm>
          <a:prstGeom prst="rect">
            <a:avLst/>
          </a:prstGeom>
          <a:noFill/>
          <a:ln/>
        </p:spPr>
        <p:txBody>
          <a:bodyPr wrap="square" lIns="0" tIns="0" rIns="0" bIns="0" rtlCol="0" anchor="t"/>
          <a:lstStyle/>
          <a:p>
            <a:pPr algn="l" indent="0" marL="0">
              <a:buNone/>
            </a:pPr>
            <a:r>
              <a:rPr lang="en-US" sz="1500" b="1" dirty="0">
                <a:solidFill>
                  <a:srgbClr val="17685F"/>
                </a:solidFill>
                <a:latin typeface="Arial" pitchFamily="34" charset="0"/>
                <a:ea typeface="Arial" pitchFamily="34" charset="-122"/>
                <a:cs typeface="Arial" pitchFamily="34" charset="-120"/>
              </a:rPr>
              <a:t>Share of production curtailed (no export)</a:t>
            </a:r>
            <a:endParaRPr lang="en-US" sz="1500" dirty="0"/>
          </a:p>
        </p:txBody>
      </p:sp>
      <p:graphicFrame>
        <p:nvGraphicFramePr>
          <p:cNvPr id="12" name="Chart 1" descr=""/>
          <p:cNvGraphicFramePr/>
          <p:nvPr/>
        </p:nvGraphicFramePr>
        <p:xfrm>
          <a:off x="6381750" y="1466850"/>
          <a:ext cx="5334000" cy="2857500"/>
        </p:xfrm>
        <a:graphic xmlns:a="http://schemas.openxmlformats.org/drawingml/2006/main">
          <a:graphicData uri="http://schemas.openxmlformats.org/drawingml/2006/chart">
            <c:chart xmlns:c="http://schemas.openxmlformats.org/drawingml/2006/chart" r:id="rId3"/>
          </a:graphicData>
        </a:graphic>
      </p:graphicFrame>
      <p:sp>
        <p:nvSpPr>
          <p:cNvPr id="13" name="Text 7"/>
          <p:cNvSpPr txBox="1"/>
          <p:nvPr/>
        </p:nvSpPr>
        <p:spPr>
          <a:xfrm>
            <a:off x="6381750" y="4419600"/>
            <a:ext cx="5334000" cy="857250"/>
          </a:xfrm>
          <a:prstGeom prst="rect">
            <a:avLst/>
          </a:prstGeom>
          <a:noFill/>
          <a:ln/>
        </p:spPr>
        <p:txBody>
          <a:bodyPr wrap="square" lIns="0" tIns="0" rIns="0" bIns="0" rtlCol="0" anchor="t"/>
          <a:lstStyle/>
          <a:p>
            <a:pPr algn="l" indent="0" marL="0">
              <a:buNone/>
            </a:pPr>
            <a:r>
              <a:rPr lang="en-US" sz="1250" dirty="0">
                <a:solidFill>
                  <a:srgbClr val="143B37"/>
                </a:solidFill>
                <a:latin typeface="Arial" pitchFamily="34" charset="0"/>
                <a:ea typeface="Arial" pitchFamily="34" charset="-122"/>
                <a:cs typeface="Arial" pitchFamily="34" charset="-120"/>
              </a:rPr>
              <a:t>At the unconstrained optimum nearly one fifth of generation is discarded. An export price, if PEA or a third party offers one, would raise both the value of the larger systems and the optimal size; the question is left open rather than priced by assumption.</a:t>
            </a:r>
            <a:endParaRPr lang="en-US" sz="1250" dirty="0"/>
          </a:p>
        </p:txBody>
      </p:sp>
      <p:sp>
        <p:nvSpPr>
          <p:cNvPr id="14" name="Text 8"/>
          <p:cNvSpPr txBox="1"/>
          <p:nvPr/>
        </p:nvSpPr>
        <p:spPr>
          <a:xfrm>
            <a:off x="514350" y="5524500"/>
            <a:ext cx="11220450" cy="228600"/>
          </a:xfrm>
          <a:prstGeom prst="rect">
            <a:avLst/>
          </a:prstGeom>
          <a:noFill/>
          <a:ln/>
        </p:spPr>
        <p:txBody>
          <a:bodyPr wrap="square" lIns="0" tIns="0" rIns="0" bIns="0" rtlCol="0" anchor="t"/>
          <a:lstStyle/>
          <a:p>
            <a:pPr algn="l" indent="0" marL="0">
              <a:buNone/>
            </a:pPr>
            <a:r>
              <a:rPr lang="en-US" sz="1100" i="1" dirty="0">
                <a:solidFill>
                  <a:srgbClr val="4D6D68"/>
                </a:solidFill>
                <a:latin typeface="Arial" pitchFamily="34" charset="0"/>
                <a:ea typeface="Arial" pitchFamily="34" charset="-122"/>
                <a:cs typeface="Arial" pitchFamily="34" charset="-120"/>
              </a:rPr>
              <a:t>Cases: 1 roof low, 2 roof mid, 3 roof high, 4 no roof limit, 5 roof low with storage, 6 no roof limit with storage.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Recommendation: build to the roof, with storage</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15</a:t>
            </a:r>
            <a:endParaRPr lang="en-US" sz="1000" dirty="0"/>
          </a:p>
        </p:txBody>
      </p:sp>
      <p:sp>
        <p:nvSpPr>
          <p:cNvPr id="8" name="Shape 4"/>
          <p:cNvSpPr/>
          <p:nvPr/>
        </p:nvSpPr>
        <p:spPr>
          <a:xfrm>
            <a:off x="514350" y="1200150"/>
            <a:ext cx="5524500" cy="2381250"/>
          </a:xfrm>
          <a:prstGeom prst="roundRect">
            <a:avLst>
              <a:gd name="adj" fmla="val 7200"/>
            </a:avLst>
          </a:prstGeom>
          <a:solidFill>
            <a:srgbClr val="17685F"/>
          </a:solidFill>
          <a:ln w="12700">
            <a:solidFill>
              <a:srgbClr val="17685F"/>
            </a:solidFill>
            <a:prstDash val="solid"/>
          </a:ln>
        </p:spPr>
      </p:sp>
      <p:sp>
        <p:nvSpPr>
          <p:cNvPr id="9" name="Text 5"/>
          <p:cNvSpPr txBox="1"/>
          <p:nvPr/>
        </p:nvSpPr>
        <p:spPr>
          <a:xfrm>
            <a:off x="742950" y="1371600"/>
            <a:ext cx="4953000" cy="28575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Base case: case 5</a:t>
            </a:r>
            <a:endParaRPr lang="en-US" sz="1800" dirty="0"/>
          </a:p>
        </p:txBody>
      </p:sp>
      <p:sp>
        <p:nvSpPr>
          <p:cNvPr id="10" name="Text 6"/>
          <p:cNvSpPr txBox="1"/>
          <p:nvPr/>
        </p:nvSpPr>
        <p:spPr>
          <a:xfrm>
            <a:off x="742950" y="1733550"/>
            <a:ext cx="5048250" cy="1714500"/>
          </a:xfrm>
          <a:prstGeom prst="rect">
            <a:avLst/>
          </a:prstGeom>
          <a:noFill/>
          <a:ln/>
        </p:spPr>
        <p:txBody>
          <a:bodyPr wrap="square" lIns="0" tIns="0" rIns="0" bIns="0" rtlCol="0" anchor="t"/>
          <a:lstStyle/>
          <a:p>
            <a:pPr algn="l" indent="0" marL="0">
              <a:spcAft>
                <a:spcPts val="600"/>
              </a:spcAft>
              <a:buNone/>
            </a:pPr>
            <a:r>
              <a:rPr lang="en-US" sz="1250" b="1" dirty="0">
                <a:solidFill>
                  <a:srgbClr val="FFFFFF"/>
                </a:solidFill>
                <a:latin typeface="Arial" pitchFamily="34" charset="0"/>
                <a:ea typeface="Arial" pitchFamily="34" charset="-122"/>
                <a:cs typeface="Arial" pitchFamily="34" charset="-120"/>
              </a:rPr>
              <a:t>1,685 kWp PV with 222 kW / 367 kWh storage</a:t>
            </a:r>
            <a:endParaRPr lang="en-US" sz="1250" dirty="0"/>
          </a:p>
          <a:p>
            <a:pPr algn="l" indent="0" marL="0">
              <a:spcAft>
                <a:spcPts val="400"/>
              </a:spcAft>
              <a:buNone/>
            </a:pPr>
            <a:r>
              <a:rPr lang="en-US" sz="1250" dirty="0">
                <a:solidFill>
                  <a:srgbClr val="FFFFFF"/>
                </a:solidFill>
                <a:latin typeface="Arial" pitchFamily="34" charset="0"/>
                <a:ea typeface="Arial" pitchFamily="34" charset="-122"/>
                <a:cs typeface="Arial" pitchFamily="34" charset="-120"/>
              </a:rPr>
              <a:t>Capex 919,716 USD, equity 275,915 USD</a:t>
            </a:r>
            <a:endParaRPr lang="en-US" sz="1250" dirty="0"/>
          </a:p>
          <a:p>
            <a:pPr algn="l" indent="0" marL="0">
              <a:spcAft>
                <a:spcPts val="400"/>
              </a:spcAft>
              <a:buNone/>
            </a:pPr>
            <a:r>
              <a:rPr lang="en-US" sz="1250" dirty="0">
                <a:solidFill>
                  <a:srgbClr val="FFFFFF"/>
                </a:solidFill>
                <a:latin typeface="Arial" pitchFamily="34" charset="0"/>
                <a:ea typeface="Arial" pitchFamily="34" charset="-122"/>
                <a:cs typeface="Arial" pitchFamily="34" charset="-120"/>
              </a:rPr>
              <a:t>Year-1 savings 289,920 USD; grid offset 32 percent; 1,116 tCO2e a year avoided</a:t>
            </a:r>
            <a:endParaRPr lang="en-US" sz="1250" dirty="0"/>
          </a:p>
          <a:p>
            <a:pPr algn="l" indent="0" marL="0">
              <a:spcAft>
                <a:spcPts val="400"/>
              </a:spcAft>
              <a:buNone/>
            </a:pPr>
            <a:r>
              <a:rPr lang="en-US" sz="1250" dirty="0">
                <a:solidFill>
                  <a:srgbClr val="FFFFFF"/>
                </a:solidFill>
                <a:latin typeface="Arial" pitchFamily="34" charset="0"/>
                <a:ea typeface="Arial" pitchFamily="34" charset="-122"/>
                <a:cs typeface="Arial" pitchFamily="34" charset="-120"/>
              </a:rPr>
              <a:t>Equity NPV 1,353,566 USD; IRR 64.2%; coverage above 2.2 in every year</a:t>
            </a:r>
            <a:endParaRPr lang="en-US" sz="1250" dirty="0"/>
          </a:p>
          <a:p>
            <a:pPr algn="l" indent="0" marL="0">
              <a:buNone/>
            </a:pPr>
            <a:r>
              <a:rPr lang="en-US" sz="1250" dirty="0">
                <a:solidFill>
                  <a:srgbClr val="CFE7E2"/>
                </a:solidFill>
                <a:latin typeface="Arial" pitchFamily="34" charset="0"/>
                <a:ea typeface="Arial" pitchFamily="34" charset="-122"/>
                <a:cs typeface="Arial" pitchFamily="34" charset="-120"/>
              </a:rPr>
              <a:t>Fits the smallest roof reading; every metre of roof confirmed beyond it adds value.</a:t>
            </a:r>
            <a:endParaRPr lang="en-US" sz="1250" dirty="0"/>
          </a:p>
        </p:txBody>
      </p:sp>
      <p:sp>
        <p:nvSpPr>
          <p:cNvPr id="11" name="Shape 7"/>
          <p:cNvSpPr/>
          <p:nvPr/>
        </p:nvSpPr>
        <p:spPr>
          <a:xfrm>
            <a:off x="6210300" y="1200150"/>
            <a:ext cx="5524500" cy="2381250"/>
          </a:xfrm>
          <a:prstGeom prst="roundRect">
            <a:avLst>
              <a:gd name="adj" fmla="val 7200"/>
            </a:avLst>
          </a:prstGeom>
          <a:solidFill>
            <a:srgbClr val="FFFFFF"/>
          </a:solidFill>
          <a:ln w="12700">
            <a:solidFill>
              <a:srgbClr val="8AB8B0"/>
            </a:solidFill>
            <a:prstDash val="solid"/>
          </a:ln>
        </p:spPr>
      </p:sp>
      <p:sp>
        <p:nvSpPr>
          <p:cNvPr id="12" name="Text 8"/>
          <p:cNvSpPr txBox="1"/>
          <p:nvPr/>
        </p:nvSpPr>
        <p:spPr>
          <a:xfrm>
            <a:off x="6438900" y="1371600"/>
            <a:ext cx="4953000" cy="285750"/>
          </a:xfrm>
          <a:prstGeom prst="rect">
            <a:avLst/>
          </a:prstGeom>
          <a:noFill/>
          <a:ln/>
        </p:spPr>
        <p:txBody>
          <a:bodyPr wrap="square" lIns="0" tIns="0" rIns="0" bIns="0" rtlCol="0" anchor="t"/>
          <a:lstStyle/>
          <a:p>
            <a:pPr algn="l" indent="0" marL="0">
              <a:buNone/>
            </a:pPr>
            <a:r>
              <a:rPr lang="en-US" sz="1800" b="1" dirty="0">
                <a:solidFill>
                  <a:srgbClr val="17685F"/>
                </a:solidFill>
                <a:latin typeface="Arial" pitchFamily="34" charset="0"/>
                <a:ea typeface="Arial" pitchFamily="34" charset="-122"/>
                <a:cs typeface="Arial" pitchFamily="34" charset="-120"/>
              </a:rPr>
              <a:t>Upside: case 6, if the roof allows</a:t>
            </a:r>
            <a:endParaRPr lang="en-US" sz="1800" dirty="0"/>
          </a:p>
        </p:txBody>
      </p:sp>
      <p:sp>
        <p:nvSpPr>
          <p:cNvPr id="13" name="Text 9"/>
          <p:cNvSpPr txBox="1"/>
          <p:nvPr/>
        </p:nvSpPr>
        <p:spPr>
          <a:xfrm>
            <a:off x="6438900" y="1733550"/>
            <a:ext cx="5048250" cy="1714500"/>
          </a:xfrm>
          <a:prstGeom prst="rect">
            <a:avLst/>
          </a:prstGeom>
          <a:noFill/>
          <a:ln/>
        </p:spPr>
        <p:txBody>
          <a:bodyPr wrap="square" lIns="0" tIns="0" rIns="0" bIns="0" rtlCol="0" anchor="t"/>
          <a:lstStyle/>
          <a:p>
            <a:pPr algn="l" indent="0" marL="0">
              <a:spcAft>
                <a:spcPts val="600"/>
              </a:spcAft>
              <a:buNone/>
            </a:pPr>
            <a:r>
              <a:rPr lang="en-US" sz="1250" b="1" dirty="0">
                <a:solidFill>
                  <a:srgbClr val="143B37"/>
                </a:solidFill>
                <a:latin typeface="Arial" pitchFamily="34" charset="0"/>
                <a:ea typeface="Arial" pitchFamily="34" charset="-122"/>
                <a:cs typeface="Arial" pitchFamily="34" charset="-120"/>
              </a:rPr>
              <a:t>2,847 kWp PV with 507 kW / 1,881 kWh storage</a:t>
            </a:r>
            <a:endParaRPr lang="en-US" sz="1250" dirty="0"/>
          </a:p>
          <a:p>
            <a:pPr algn="l" indent="0" marL="0">
              <a:spcAft>
                <a:spcPts val="400"/>
              </a:spcAft>
              <a:buNone/>
            </a:pPr>
            <a:r>
              <a:rPr lang="en-US" sz="1250" dirty="0">
                <a:solidFill>
                  <a:srgbClr val="143B37"/>
                </a:solidFill>
                <a:latin typeface="Arial" pitchFamily="34" charset="0"/>
                <a:ea typeface="Arial" pitchFamily="34" charset="-122"/>
                <a:cs typeface="Arial" pitchFamily="34" charset="-120"/>
              </a:rPr>
              <a:t>Capex 1,756,407 USD, equity 526,922 USD</a:t>
            </a:r>
            <a:endParaRPr lang="en-US" sz="1250" dirty="0"/>
          </a:p>
          <a:p>
            <a:pPr algn="l" indent="0" marL="0">
              <a:spcAft>
                <a:spcPts val="400"/>
              </a:spcAft>
              <a:buNone/>
            </a:pPr>
            <a:r>
              <a:rPr lang="en-US" sz="1250" dirty="0">
                <a:solidFill>
                  <a:srgbClr val="143B37"/>
                </a:solidFill>
                <a:latin typeface="Arial" pitchFamily="34" charset="0"/>
                <a:ea typeface="Arial" pitchFamily="34" charset="-122"/>
                <a:cs typeface="Arial" pitchFamily="34" charset="-120"/>
              </a:rPr>
              <a:t>Year-1 savings 460,458 USD; grid offset 50 percent; 1,740 tCO2e a year avoided</a:t>
            </a:r>
            <a:endParaRPr lang="en-US" sz="1250" dirty="0"/>
          </a:p>
          <a:p>
            <a:pPr algn="l" indent="0" marL="0">
              <a:spcAft>
                <a:spcPts val="400"/>
              </a:spcAft>
              <a:buNone/>
            </a:pPr>
            <a:r>
              <a:rPr lang="en-US" sz="1250" dirty="0">
                <a:solidFill>
                  <a:srgbClr val="143B37"/>
                </a:solidFill>
                <a:latin typeface="Arial" pitchFamily="34" charset="0"/>
                <a:ea typeface="Arial" pitchFamily="34" charset="-122"/>
                <a:cs typeface="Arial" pitchFamily="34" charset="-120"/>
              </a:rPr>
              <a:t>Equity NPV 1,855,912 USD; IRR 49.6%; year-10 replacement needs a reserve or a longer tenor</a:t>
            </a:r>
            <a:endParaRPr lang="en-US" sz="1250" dirty="0"/>
          </a:p>
          <a:p>
            <a:pPr algn="l" indent="0" marL="0">
              <a:buNone/>
            </a:pPr>
            <a:r>
              <a:rPr lang="en-US" sz="1250" dirty="0">
                <a:solidFill>
                  <a:srgbClr val="4D6D68"/>
                </a:solidFill>
                <a:latin typeface="Arial" pitchFamily="34" charset="0"/>
                <a:ea typeface="Arial" pitchFamily="34" charset="-122"/>
                <a:cs typeface="Arial" pitchFamily="34" charset="-120"/>
              </a:rPr>
              <a:t>Needs about 35 percent more roof than the most generous survey reading.</a:t>
            </a:r>
            <a:endParaRPr lang="en-US" sz="1250" dirty="0"/>
          </a:p>
        </p:txBody>
      </p:sp>
      <p:sp>
        <p:nvSpPr>
          <p:cNvPr id="14" name="Text 10"/>
          <p:cNvSpPr txBox="1"/>
          <p:nvPr/>
        </p:nvSpPr>
        <p:spPr>
          <a:xfrm>
            <a:off x="514350" y="3810000"/>
            <a:ext cx="5715000" cy="285750"/>
          </a:xfrm>
          <a:prstGeom prst="rect">
            <a:avLst/>
          </a:prstGeom>
          <a:noFill/>
          <a:ln/>
        </p:spPr>
        <p:txBody>
          <a:bodyPr wrap="square" lIns="0" tIns="0" rIns="0" bIns="0" rtlCol="0" anchor="t"/>
          <a:lstStyle/>
          <a:p>
            <a:pPr algn="l" indent="0" marL="0">
              <a:buNone/>
            </a:pPr>
            <a:r>
              <a:rPr lang="en-US" sz="1800" b="1" dirty="0">
                <a:solidFill>
                  <a:srgbClr val="17685F"/>
                </a:solidFill>
                <a:latin typeface="Arial" pitchFamily="34" charset="0"/>
                <a:ea typeface="Arial" pitchFamily="34" charset="-122"/>
                <a:cs typeface="Arial" pitchFamily="34" charset="-120"/>
              </a:rPr>
              <a:t>Next steps, in order of value</a:t>
            </a:r>
            <a:endParaRPr lang="en-US" sz="1800" dirty="0"/>
          </a:p>
        </p:txBody>
      </p:sp>
      <p:sp>
        <p:nvSpPr>
          <p:cNvPr id="15" name="Shape 11"/>
          <p:cNvSpPr/>
          <p:nvPr/>
        </p:nvSpPr>
        <p:spPr>
          <a:xfrm>
            <a:off x="514350" y="4171950"/>
            <a:ext cx="2628900" cy="1676400"/>
          </a:xfrm>
          <a:prstGeom prst="roundRect">
            <a:avLst>
              <a:gd name="adj" fmla="val 10227"/>
            </a:avLst>
          </a:prstGeom>
          <a:solidFill>
            <a:srgbClr val="3F8E73"/>
          </a:solidFill>
          <a:ln w="12700">
            <a:solidFill>
              <a:srgbClr val="3F8E73"/>
            </a:solidFill>
            <a:prstDash val="solid"/>
          </a:ln>
        </p:spPr>
      </p:sp>
      <p:sp>
        <p:nvSpPr>
          <p:cNvPr id="16" name="Text 12"/>
          <p:cNvSpPr txBox="1"/>
          <p:nvPr/>
        </p:nvSpPr>
        <p:spPr>
          <a:xfrm>
            <a:off x="704850" y="4305300"/>
            <a:ext cx="381000" cy="419100"/>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17" name="Text 13"/>
          <p:cNvSpPr txBox="1"/>
          <p:nvPr/>
        </p:nvSpPr>
        <p:spPr>
          <a:xfrm>
            <a:off x="1143000" y="4343400"/>
            <a:ext cx="1905000" cy="381000"/>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Measure the roof</a:t>
            </a:r>
            <a:endParaRPr lang="en-US" sz="1400" dirty="0"/>
          </a:p>
        </p:txBody>
      </p:sp>
      <p:sp>
        <p:nvSpPr>
          <p:cNvPr id="18" name="Text 14"/>
          <p:cNvSpPr txBox="1"/>
          <p:nvPr/>
        </p:nvSpPr>
        <p:spPr>
          <a:xfrm>
            <a:off x="704850" y="4800600"/>
            <a:ext cx="2286000" cy="952500"/>
          </a:xfrm>
          <a:prstGeom prst="rect">
            <a:avLst/>
          </a:prstGeom>
          <a:noFill/>
          <a:ln/>
        </p:spPr>
        <p:txBody>
          <a:bodyPr wrap="square" lIns="0" tIns="0" rIns="0" bIns="0" rtlCol="0" anchor="t"/>
          <a:lstStyle/>
          <a:p>
            <a:pPr algn="l" indent="0" marL="0">
              <a:buNone/>
            </a:pPr>
            <a:r>
              <a:rPr lang="en-US" sz="1150" dirty="0">
                <a:solidFill>
                  <a:srgbClr val="FFFFFF"/>
                </a:solidFill>
                <a:latin typeface="Arial" pitchFamily="34" charset="0"/>
                <a:ea typeface="Arial" pitchFamily="34" charset="-122"/>
                <a:cs typeface="Arial" pitchFamily="34" charset="-120"/>
              </a:rPr>
              <a:t>Widths and pitch of the five roofs. The optimum is 2.5 to 2.8 MWp; every confirmed square metre earns.</a:t>
            </a:r>
            <a:endParaRPr lang="en-US" sz="1150" dirty="0"/>
          </a:p>
        </p:txBody>
      </p:sp>
      <p:sp>
        <p:nvSpPr>
          <p:cNvPr id="19" name="Shape 15"/>
          <p:cNvSpPr/>
          <p:nvPr/>
        </p:nvSpPr>
        <p:spPr>
          <a:xfrm>
            <a:off x="3333750" y="4171950"/>
            <a:ext cx="2628900" cy="1676400"/>
          </a:xfrm>
          <a:prstGeom prst="roundRect">
            <a:avLst>
              <a:gd name="adj" fmla="val 10227"/>
            </a:avLst>
          </a:prstGeom>
          <a:solidFill>
            <a:srgbClr val="FFFFFF"/>
          </a:solidFill>
          <a:ln w="12700">
            <a:solidFill>
              <a:srgbClr val="8AB8B0"/>
            </a:solidFill>
            <a:prstDash val="solid"/>
          </a:ln>
        </p:spPr>
      </p:sp>
      <p:sp>
        <p:nvSpPr>
          <p:cNvPr id="20" name="Text 16"/>
          <p:cNvSpPr txBox="1"/>
          <p:nvPr/>
        </p:nvSpPr>
        <p:spPr>
          <a:xfrm>
            <a:off x="3524250" y="4305300"/>
            <a:ext cx="381000" cy="419100"/>
          </a:xfrm>
          <a:prstGeom prst="rect">
            <a:avLst/>
          </a:prstGeom>
          <a:noFill/>
          <a:ln/>
        </p:spPr>
        <p:txBody>
          <a:bodyPr wrap="square" lIns="0" tIns="0" rIns="0" bIns="0" rtlCol="0" anchor="t"/>
          <a:lstStyle/>
          <a:p>
            <a:pPr algn="l" indent="0" marL="0">
              <a:buNone/>
            </a:pPr>
            <a:r>
              <a:rPr lang="en-US" sz="2800" b="1" dirty="0">
                <a:solidFill>
                  <a:srgbClr val="17685F"/>
                </a:solidFill>
                <a:latin typeface="Arial" pitchFamily="34" charset="0"/>
                <a:ea typeface="Arial" pitchFamily="34" charset="-122"/>
                <a:cs typeface="Arial" pitchFamily="34" charset="-120"/>
              </a:rPr>
              <a:t>2</a:t>
            </a:r>
            <a:endParaRPr lang="en-US" sz="2800" dirty="0"/>
          </a:p>
        </p:txBody>
      </p:sp>
      <p:sp>
        <p:nvSpPr>
          <p:cNvPr id="21" name="Text 17"/>
          <p:cNvSpPr txBox="1"/>
          <p:nvPr/>
        </p:nvSpPr>
        <p:spPr>
          <a:xfrm>
            <a:off x="3962400" y="4343400"/>
            <a:ext cx="1905000" cy="381000"/>
          </a:xfrm>
          <a:prstGeom prst="rect">
            <a:avLst/>
          </a:prstGeom>
          <a:noFill/>
          <a:ln/>
        </p:spPr>
        <p:txBody>
          <a:bodyPr wrap="square" lIns="0" tIns="0" rIns="0" bIns="0" rtlCol="0" anchor="ctr"/>
          <a:lstStyle/>
          <a:p>
            <a:pPr algn="l" indent="0" marL="0">
              <a:buNone/>
            </a:pPr>
            <a:r>
              <a:rPr lang="en-US" sz="1400" b="1" dirty="0">
                <a:solidFill>
                  <a:srgbClr val="143B37"/>
                </a:solidFill>
                <a:latin typeface="Arial" pitchFamily="34" charset="0"/>
                <a:ea typeface="Arial" pitchFamily="34" charset="-122"/>
                <a:cs typeface="Arial" pitchFamily="34" charset="-120"/>
              </a:rPr>
              <a:t>Obtain an EPC quotation</a:t>
            </a:r>
            <a:endParaRPr lang="en-US" sz="1400" dirty="0"/>
          </a:p>
        </p:txBody>
      </p:sp>
      <p:sp>
        <p:nvSpPr>
          <p:cNvPr id="22" name="Text 18"/>
          <p:cNvSpPr txBox="1"/>
          <p:nvPr/>
        </p:nvSpPr>
        <p:spPr>
          <a:xfrm>
            <a:off x="3524250" y="4800600"/>
            <a:ext cx="2286000" cy="952500"/>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Check it against the 500 USD/kWp used here. Every return in this deck scales off that figure.</a:t>
            </a:r>
            <a:endParaRPr lang="en-US" sz="1150" dirty="0"/>
          </a:p>
        </p:txBody>
      </p:sp>
      <p:sp>
        <p:nvSpPr>
          <p:cNvPr id="23" name="Shape 19"/>
          <p:cNvSpPr/>
          <p:nvPr/>
        </p:nvSpPr>
        <p:spPr>
          <a:xfrm>
            <a:off x="6153150" y="4171950"/>
            <a:ext cx="2628900" cy="1676400"/>
          </a:xfrm>
          <a:prstGeom prst="roundRect">
            <a:avLst>
              <a:gd name="adj" fmla="val 10227"/>
            </a:avLst>
          </a:prstGeom>
          <a:solidFill>
            <a:srgbClr val="FFFFFF"/>
          </a:solidFill>
          <a:ln w="12700">
            <a:solidFill>
              <a:srgbClr val="8AB8B0"/>
            </a:solidFill>
            <a:prstDash val="solid"/>
          </a:ln>
        </p:spPr>
      </p:sp>
      <p:sp>
        <p:nvSpPr>
          <p:cNvPr id="24" name="Text 20"/>
          <p:cNvSpPr txBox="1"/>
          <p:nvPr/>
        </p:nvSpPr>
        <p:spPr>
          <a:xfrm>
            <a:off x="6343650" y="4305300"/>
            <a:ext cx="381000" cy="419100"/>
          </a:xfrm>
          <a:prstGeom prst="rect">
            <a:avLst/>
          </a:prstGeom>
          <a:noFill/>
          <a:ln/>
        </p:spPr>
        <p:txBody>
          <a:bodyPr wrap="square" lIns="0" tIns="0" rIns="0" bIns="0" rtlCol="0" anchor="t"/>
          <a:lstStyle/>
          <a:p>
            <a:pPr algn="l" indent="0" marL="0">
              <a:buNone/>
            </a:pPr>
            <a:r>
              <a:rPr lang="en-US" sz="2800" b="1" dirty="0">
                <a:solidFill>
                  <a:srgbClr val="17685F"/>
                </a:solidFill>
                <a:latin typeface="Arial" pitchFamily="34" charset="0"/>
                <a:ea typeface="Arial" pitchFamily="34" charset="-122"/>
                <a:cs typeface="Arial" pitchFamily="34" charset="-120"/>
              </a:rPr>
              <a:t>3</a:t>
            </a:r>
            <a:endParaRPr lang="en-US" sz="2800" dirty="0"/>
          </a:p>
        </p:txBody>
      </p:sp>
      <p:sp>
        <p:nvSpPr>
          <p:cNvPr id="25" name="Text 21"/>
          <p:cNvSpPr txBox="1"/>
          <p:nvPr/>
        </p:nvSpPr>
        <p:spPr>
          <a:xfrm>
            <a:off x="6781800" y="4343400"/>
            <a:ext cx="1905000" cy="381000"/>
          </a:xfrm>
          <a:prstGeom prst="rect">
            <a:avLst/>
          </a:prstGeom>
          <a:noFill/>
          <a:ln/>
        </p:spPr>
        <p:txBody>
          <a:bodyPr wrap="square" lIns="0" tIns="0" rIns="0" bIns="0" rtlCol="0" anchor="ctr"/>
          <a:lstStyle/>
          <a:p>
            <a:pPr algn="l" indent="0" marL="0">
              <a:buNone/>
            </a:pPr>
            <a:r>
              <a:rPr lang="en-US" sz="1400" b="1" dirty="0">
                <a:solidFill>
                  <a:srgbClr val="143B37"/>
                </a:solidFill>
                <a:latin typeface="Arial" pitchFamily="34" charset="0"/>
                <a:ea typeface="Arial" pitchFamily="34" charset="-122"/>
                <a:cs typeface="Arial" pitchFamily="34" charset="-120"/>
              </a:rPr>
              <a:t>Decide on grid export</a:t>
            </a:r>
            <a:endParaRPr lang="en-US" sz="1400" dirty="0"/>
          </a:p>
        </p:txBody>
      </p:sp>
      <p:sp>
        <p:nvSpPr>
          <p:cNvPr id="26" name="Text 22"/>
          <p:cNvSpPr txBox="1"/>
          <p:nvPr/>
        </p:nvSpPr>
        <p:spPr>
          <a:xfrm>
            <a:off x="6343650" y="4800600"/>
            <a:ext cx="2286000" cy="952500"/>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A price for surplus generation would raise the optimal size; none is assumed today.</a:t>
            </a:r>
            <a:endParaRPr lang="en-US" sz="1150" dirty="0"/>
          </a:p>
        </p:txBody>
      </p:sp>
      <p:sp>
        <p:nvSpPr>
          <p:cNvPr id="27" name="Shape 23"/>
          <p:cNvSpPr/>
          <p:nvPr/>
        </p:nvSpPr>
        <p:spPr>
          <a:xfrm>
            <a:off x="8972550" y="4171950"/>
            <a:ext cx="2628900" cy="1676400"/>
          </a:xfrm>
          <a:prstGeom prst="roundRect">
            <a:avLst>
              <a:gd name="adj" fmla="val 10227"/>
            </a:avLst>
          </a:prstGeom>
          <a:solidFill>
            <a:srgbClr val="FFFFFF"/>
          </a:solidFill>
          <a:ln w="12700">
            <a:solidFill>
              <a:srgbClr val="8AB8B0"/>
            </a:solidFill>
            <a:prstDash val="solid"/>
          </a:ln>
        </p:spPr>
      </p:sp>
      <p:sp>
        <p:nvSpPr>
          <p:cNvPr id="28" name="Text 24"/>
          <p:cNvSpPr txBox="1"/>
          <p:nvPr/>
        </p:nvSpPr>
        <p:spPr>
          <a:xfrm>
            <a:off x="9163050" y="4305300"/>
            <a:ext cx="381000" cy="419100"/>
          </a:xfrm>
          <a:prstGeom prst="rect">
            <a:avLst/>
          </a:prstGeom>
          <a:noFill/>
          <a:ln/>
        </p:spPr>
        <p:txBody>
          <a:bodyPr wrap="square" lIns="0" tIns="0" rIns="0" bIns="0" rtlCol="0" anchor="t"/>
          <a:lstStyle/>
          <a:p>
            <a:pPr algn="l" indent="0" marL="0">
              <a:buNone/>
            </a:pPr>
            <a:r>
              <a:rPr lang="en-US" sz="2800" b="1" dirty="0">
                <a:solidFill>
                  <a:srgbClr val="17685F"/>
                </a:solidFill>
                <a:latin typeface="Arial" pitchFamily="34" charset="0"/>
                <a:ea typeface="Arial" pitchFamily="34" charset="-122"/>
                <a:cs typeface="Arial" pitchFamily="34" charset="-120"/>
              </a:rPr>
              <a:t>4</a:t>
            </a:r>
            <a:endParaRPr lang="en-US" sz="2800" dirty="0"/>
          </a:p>
        </p:txBody>
      </p:sp>
      <p:sp>
        <p:nvSpPr>
          <p:cNvPr id="29" name="Text 25"/>
          <p:cNvSpPr txBox="1"/>
          <p:nvPr/>
        </p:nvSpPr>
        <p:spPr>
          <a:xfrm>
            <a:off x="9601200" y="4343400"/>
            <a:ext cx="1905000" cy="381000"/>
          </a:xfrm>
          <a:prstGeom prst="rect">
            <a:avLst/>
          </a:prstGeom>
          <a:noFill/>
          <a:ln/>
        </p:spPr>
        <p:txBody>
          <a:bodyPr wrap="square" lIns="0" tIns="0" rIns="0" bIns="0" rtlCol="0" anchor="ctr"/>
          <a:lstStyle/>
          <a:p>
            <a:pPr algn="l" indent="0" marL="0">
              <a:buNone/>
            </a:pPr>
            <a:r>
              <a:rPr lang="en-US" sz="1400" b="1" dirty="0">
                <a:solidFill>
                  <a:srgbClr val="143B37"/>
                </a:solidFill>
                <a:latin typeface="Arial" pitchFamily="34" charset="0"/>
                <a:ea typeface="Arial" pitchFamily="34" charset="-122"/>
                <a:cs typeface="Arial" pitchFamily="34" charset="-120"/>
              </a:rPr>
              <a:t>Supply monthly kVAR maxima</a:t>
            </a:r>
            <a:endParaRPr lang="en-US" sz="1400" dirty="0"/>
          </a:p>
        </p:txBody>
      </p:sp>
      <p:sp>
        <p:nvSpPr>
          <p:cNvPr id="30" name="Text 26"/>
          <p:cNvSpPr txBox="1"/>
          <p:nvPr/>
        </p:nvSpPr>
        <p:spPr>
          <a:xfrm>
            <a:off x="9163050" y="4800600"/>
            <a:ext cx="2286000" cy="952500"/>
          </a:xfrm>
          <a:prstGeom prst="rect">
            <a:avLst/>
          </a:prstGeom>
          <a:noFill/>
          <a:ln/>
        </p:spPr>
        <p:txBody>
          <a:bodyPr wrap="square" lIns="0" tIns="0" rIns="0" bIns="0" rtlCol="0" anchor="t"/>
          <a:lstStyle/>
          <a:p>
            <a:pPr algn="l" indent="0" marL="0">
              <a:buNone/>
            </a:pPr>
            <a:r>
              <a:rPr lang="en-US" sz="1150" dirty="0">
                <a:solidFill>
                  <a:srgbClr val="4D6D68"/>
                </a:solidFill>
                <a:latin typeface="Arial" pitchFamily="34" charset="0"/>
                <a:ea typeface="Arial" pitchFamily="34" charset="-122"/>
                <a:cs typeface="Arial" pitchFamily="34" charset="-120"/>
              </a:rPr>
              <a:t>Needed to assess power factor; mitigation is currently outside the capital cost.</a:t>
            </a:r>
            <a:endParaRPr lang="en-US" sz="1150" dirty="0"/>
          </a:p>
        </p:txBody>
      </p:sp>
      <p:sp>
        <p:nvSpPr>
          <p:cNvPr id="31" name="Text 27"/>
          <p:cNvSpPr txBox="1"/>
          <p:nvPr/>
        </p:nvSpPr>
        <p:spPr>
          <a:xfrm>
            <a:off x="514350" y="5981700"/>
            <a:ext cx="11220450" cy="285750"/>
          </a:xfrm>
          <a:prstGeom prst="rect">
            <a:avLst/>
          </a:prstGeom>
          <a:noFill/>
          <a:ln/>
        </p:spPr>
        <p:txBody>
          <a:bodyPr wrap="square" lIns="0" tIns="0" rIns="0" bIns="0" rtlCol="0" anchor="t"/>
          <a:lstStyle/>
          <a:p>
            <a:pPr algn="l" indent="0" marL="0">
              <a:buNone/>
            </a:pPr>
            <a:r>
              <a:rPr lang="en-US" sz="1150" i="1" dirty="0">
                <a:solidFill>
                  <a:srgbClr val="4D6D68"/>
                </a:solidFill>
                <a:latin typeface="Arial" pitchFamily="34" charset="0"/>
                <a:ea typeface="Arial" pitchFamily="34" charset="-122"/>
                <a:cs typeface="Arial" pitchFamily="34" charset="-120"/>
              </a:rPr>
              <a:t>Then: ERC generation licence and Aor.6 building modification permit (no published fee schedule); no environmental assessment below 5 MWp.</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Appendix A: provisional inputs</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14350" y="1200150"/>
          <a:ext cx="11220450" cy="914400"/>
        </p:xfrm>
        <a:graphic>
          <a:graphicData uri="http://schemas.openxmlformats.org/drawingml/2006/table">
            <a:tbl>
              <a:tblPr/>
              <a:tblGrid>
                <a:gridCol w="2857500"/>
                <a:gridCol w="3810000"/>
                <a:gridCol w="4552950"/>
              </a:tblGrid>
              <a:tr h="333375">
                <a:tc>
                  <a:txBody>
                    <a:bodyPr/>
                    <a:lstStyle/>
                    <a:p>
                      <a:pPr indent="0" marL="0">
                        <a:buNone/>
                      </a:pPr>
                      <a:r>
                        <a:rPr lang="en-US" sz="1100" b="1" dirty="0">
                          <a:solidFill>
                            <a:srgbClr val="FFFFFF"/>
                          </a:solidFill>
                          <a:latin typeface="Arial" pitchFamily="34" charset="0"/>
                          <a:ea typeface="Arial" pitchFamily="34" charset="-122"/>
                          <a:cs typeface="Arial" pitchFamily="34" charset="-120"/>
                        </a:rPr>
                        <a:t>Input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Value used</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Effect if changed</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24857B"/>
                    </a:solidFill>
                  </a:tcPr>
                </a:tc>
              </a:tr>
              <a:tr h="333375">
                <a:tc>
                  <a:txBody>
                    <a:bodyPr/>
                    <a:lstStyle/>
                    <a:p>
                      <a:pPr indent="0" marL="0">
                        <a:buNone/>
                      </a:pPr>
                      <a:r>
                        <a:rPr lang="en-US" sz="1100" dirty="0">
                          <a:solidFill>
                            <a:srgbClr val="143B37"/>
                          </a:solidFill>
                          <a:latin typeface="Arial" pitchFamily="34" charset="0"/>
                          <a:ea typeface="Arial" pitchFamily="34" charset="-122"/>
                          <a:cs typeface="Arial" pitchFamily="34" charset="-120"/>
                        </a:rPr>
                        <a:t>Usable roof area and PV cap</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8,424 m2, 1,685 kWp (low reading); mid 1,895, high 2,106</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Sets the size of every roof case; the highest-value open item</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33375">
                <a:tc>
                  <a:txBody>
                    <a:bodyPr/>
                    <a:lstStyle/>
                    <a:p>
                      <a:pPr indent="0" marL="0">
                        <a:buNone/>
                      </a:pPr>
                      <a:r>
                        <a:rPr lang="en-US" sz="1100" dirty="0">
                          <a:solidFill>
                            <a:srgbClr val="143B37"/>
                          </a:solidFill>
                          <a:latin typeface="Arial" pitchFamily="34" charset="0"/>
                          <a:ea typeface="Arial" pitchFamily="34" charset="-122"/>
                          <a:cs typeface="Arial" pitchFamily="34" charset="-120"/>
                        </a:rPr>
                        <a:t>Debt fraction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70 percent of capex</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Moves equity IRR and DSCR; NPV to equity changes with leverage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33375">
                <a:tc>
                  <a:txBody>
                    <a:bodyPr/>
                    <a:lstStyle/>
                    <a:p>
                      <a:pPr indent="0" marL="0">
                        <a:buNone/>
                      </a:pPr>
                      <a:r>
                        <a:rPr lang="en-US" sz="1100" dirty="0">
                          <a:solidFill>
                            <a:srgbClr val="143B37"/>
                          </a:solidFill>
                          <a:latin typeface="Arial" pitchFamily="34" charset="0"/>
                          <a:ea typeface="Arial" pitchFamily="34" charset="-122"/>
                          <a:cs typeface="Arial" pitchFamily="34" charset="-120"/>
                        </a:rPr>
                        <a:t>Debt term</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10 years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A longer tenor takes the year-10 replacement past the final payment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33375">
                <a:tc>
                  <a:txBody>
                    <a:bodyPr/>
                    <a:lstStyle/>
                    <a:p>
                      <a:pPr indent="0" marL="0">
                        <a:buNone/>
                      </a:pPr>
                      <a:r>
                        <a:rPr lang="en-US" sz="1100" dirty="0">
                          <a:solidFill>
                            <a:srgbClr val="143B37"/>
                          </a:solidFill>
                          <a:latin typeface="Arial" pitchFamily="34" charset="0"/>
                          <a:ea typeface="Arial" pitchFamily="34" charset="-122"/>
                          <a:cs typeface="Arial" pitchFamily="34" charset="-120"/>
                        </a:rPr>
                        <a:t>Insurance rate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0.5 percent of capex per year</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Recurring cost; second-order at this scale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33375">
                <a:tc>
                  <a:txBody>
                    <a:bodyPr/>
                    <a:lstStyle/>
                    <a:p>
                      <a:pPr indent="0" marL="0">
                        <a:buNone/>
                      </a:pPr>
                      <a:r>
                        <a:rPr lang="en-US" sz="1100" dirty="0">
                          <a:solidFill>
                            <a:srgbClr val="143B37"/>
                          </a:solidFill>
                          <a:latin typeface="Arial" pitchFamily="34" charset="0"/>
                          <a:ea typeface="Arial" pitchFamily="34" charset="-122"/>
                          <a:cs typeface="Arial" pitchFamily="34" charset="-120"/>
                        </a:rPr>
                        <a:t>PEA tariff escalation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3 percent per year</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Raises or lowers every year's savings; Ft is not forecast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33375">
                <a:tc>
                  <a:txBody>
                    <a:bodyPr/>
                    <a:lstStyle/>
                    <a:p>
                      <a:pPr indent="0" marL="0">
                        <a:buNone/>
                      </a:pPr>
                      <a:r>
                        <a:rPr lang="en-US" sz="1100" dirty="0">
                          <a:solidFill>
                            <a:srgbClr val="143B37"/>
                          </a:solidFill>
                          <a:latin typeface="Arial" pitchFamily="34" charset="0"/>
                          <a:ea typeface="Arial" pitchFamily="34" charset="-122"/>
                          <a:cs typeface="Arial" pitchFamily="34" charset="-120"/>
                        </a:rPr>
                        <a:t>Battery minimum duration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1.5 hours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Shapes the kW to kWh ratio the optimiser may choose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33375">
                <a:tc>
                  <a:txBody>
                    <a:bodyPr/>
                    <a:lstStyle/>
                    <a:p>
                      <a:pPr indent="0" marL="0">
                        <a:buNone/>
                      </a:pPr>
                      <a:r>
                        <a:rPr lang="en-US" sz="1100" dirty="0">
                          <a:solidFill>
                            <a:srgbClr val="143B37"/>
                          </a:solidFill>
                          <a:latin typeface="Arial" pitchFamily="34" charset="0"/>
                          <a:ea typeface="Arial" pitchFamily="34" charset="-122"/>
                          <a:cs typeface="Arial" pitchFamily="34" charset="-120"/>
                        </a:rPr>
                        <a:t>Battery O&amp;M</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1 percent of install cost per year</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Small; offset by the conservative replacement assumption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33375">
                <a:tc>
                  <a:txBody>
                    <a:bodyPr/>
                    <a:lstStyle/>
                    <a:p>
                      <a:pPr indent="0" marL="0">
                        <a:buNone/>
                      </a:pPr>
                      <a:r>
                        <a:rPr lang="en-US" sz="1100" dirty="0">
                          <a:solidFill>
                            <a:srgbClr val="143B37"/>
                          </a:solidFill>
                          <a:latin typeface="Arial" pitchFamily="34" charset="0"/>
                          <a:ea typeface="Arial" pitchFamily="34" charset="-122"/>
                          <a:cs typeface="Arial" pitchFamily="34" charset="-120"/>
                        </a:rPr>
                        <a:t>PV inverter replacement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year 11, 10 percent of PV capex</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Allotrope convention; a different year or share moves one year's cash flow</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33375">
                <a:tc>
                  <a:txBody>
                    <a:bodyPr/>
                    <a:lstStyle/>
                    <a:p>
                      <a:pPr indent="0" marL="0">
                        <a:buNone/>
                      </a:pPr>
                      <a:r>
                        <a:rPr lang="en-US" sz="1100" dirty="0">
                          <a:solidFill>
                            <a:srgbClr val="143B37"/>
                          </a:solidFill>
                          <a:latin typeface="Arial" pitchFamily="34" charset="0"/>
                          <a:ea typeface="Arial" pitchFamily="34" charset="-122"/>
                          <a:cs typeface="Arial" pitchFamily="34" charset="-120"/>
                        </a:rPr>
                        <a:t>PV tilt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15 degrees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Pitch not recorded; yield sensitivity is small at this latitude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33375">
                <a:tc>
                  <a:txBody>
                    <a:bodyPr/>
                    <a:lstStyle/>
                    <a:p>
                      <a:pPr indent="0" marL="0">
                        <a:buNone/>
                      </a:pPr>
                      <a:r>
                        <a:rPr lang="en-US" sz="1100" dirty="0">
                          <a:solidFill>
                            <a:srgbClr val="143B37"/>
                          </a:solidFill>
                          <a:latin typeface="Arial" pitchFamily="34" charset="0"/>
                          <a:ea typeface="Arial" pitchFamily="34" charset="-122"/>
                          <a:cs typeface="Arial" pitchFamily="34" charset="-120"/>
                        </a:rPr>
                        <a:t>Grid connection cost</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excluded; placeholder pending quotation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Add when quoted</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33375">
                <a:tc>
                  <a:txBody>
                    <a:bodyPr/>
                    <a:lstStyle/>
                    <a:p>
                      <a:pPr indent="0" marL="0">
                        <a:buNone/>
                      </a:pPr>
                      <a:r>
                        <a:rPr lang="en-US" sz="1100" dirty="0">
                          <a:solidFill>
                            <a:srgbClr val="143B37"/>
                          </a:solidFill>
                          <a:latin typeface="Arial" pitchFamily="34" charset="0"/>
                          <a:ea typeface="Arial" pitchFamily="34" charset="-122"/>
                          <a:cs typeface="Arial" pitchFamily="34" charset="-120"/>
                        </a:rPr>
                        <a:t>Permitting and licence fees</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excluded (no published schedule)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Add when quoted</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r h="333375">
                <a:tc>
                  <a:txBody>
                    <a:bodyPr/>
                    <a:lstStyle/>
                    <a:p>
                      <a:pPr indent="0" marL="0">
                        <a:buNone/>
                      </a:pPr>
                      <a:r>
                        <a:rPr lang="en-US" sz="1100" dirty="0">
                          <a:solidFill>
                            <a:srgbClr val="143B37"/>
                          </a:solidFill>
                          <a:latin typeface="Arial" pitchFamily="34" charset="0"/>
                          <a:ea typeface="Arial" pitchFamily="34" charset="-122"/>
                          <a:cs typeface="Arial" pitchFamily="34" charset="-120"/>
                        </a:rPr>
                        <a:t>Power factor mitigation</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excluded (no kVAR data)</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c>
                  <a:txBody>
                    <a:bodyPr/>
                    <a:lstStyle/>
                    <a:p>
                      <a:pPr indent="0" marL="0">
                        <a:buNone/>
                      </a:pPr>
                      <a:r>
                        <a:rPr lang="en-US" sz="1100" dirty="0">
                          <a:solidFill>
                            <a:srgbClr val="143B37"/>
                          </a:solidFill>
                          <a:latin typeface="Arial" pitchFamily="34" charset="0"/>
                          <a:ea typeface="Arial" pitchFamily="34" charset="-122"/>
                          <a:cs typeface="Arial" pitchFamily="34" charset="-120"/>
                        </a:rPr>
                        <a:t>Conditional charge of 56.07 THB per kVAR above the allowance</a:t>
                      </a:r>
                      <a:endParaRPr lang="en-US" sz="1100" dirty="0">
                        <a:latin typeface="Arial" charset="0"/>
                        <a:ea typeface="Arial" charset="0"/>
                        <a:cs typeface="Arial" charset="0"/>
                      </a:endParaRPr>
                    </a:p>
                  </a:txBody>
                  <a:tcPr marL="76200" marR="76200" marT="25400" marB="25400" anchor="ctr">
                    <a:lnL w="6350" cap="flat" cmpd="sng" algn="ctr">
                      <a:solidFill>
                        <a:srgbClr val="8AB8B0"/>
                      </a:solidFill>
                      <a:prstDash val="solid"/>
                      <a:round/>
                      <a:headEnd type="none" w="med" len="med"/>
                      <a:tailEnd type="none" w="med" len="med"/>
                    </a:lnL>
                    <a:lnR w="6350" cap="flat" cmpd="sng" algn="ctr">
                      <a:solidFill>
                        <a:srgbClr val="8AB8B0"/>
                      </a:solidFill>
                      <a:prstDash val="solid"/>
                      <a:round/>
                      <a:headEnd type="none" w="med" len="med"/>
                      <a:tailEnd type="none" w="med" len="med"/>
                    </a:lnR>
                    <a:lnT w="6350" cap="flat" cmpd="sng" algn="ctr">
                      <a:solidFill>
                        <a:srgbClr val="8AB8B0"/>
                      </a:solidFill>
                      <a:prstDash val="solid"/>
                      <a:round/>
                      <a:headEnd type="none" w="med" len="med"/>
                      <a:tailEnd type="none" w="med" len="med"/>
                    </a:lnT>
                    <a:lnB w="6350" cap="flat" cmpd="sng" algn="ctr">
                      <a:solidFill>
                        <a:srgbClr val="8AB8B0"/>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514350" y="5867400"/>
            <a:ext cx="11220450" cy="228600"/>
          </a:xfrm>
          <a:prstGeom prst="rect">
            <a:avLst/>
          </a:prstGeom>
          <a:noFill/>
          <a:ln/>
        </p:spPr>
        <p:txBody>
          <a:bodyPr wrap="square" lIns="0" tIns="0" rIns="0" bIns="0" rtlCol="0" anchor="t"/>
          <a:lstStyle/>
          <a:p>
            <a:pPr algn="l" indent="0" marL="0">
              <a:buNone/>
            </a:pPr>
            <a:r>
              <a:rPr lang="en-US" sz="1050" i="1" dirty="0">
                <a:solidFill>
                  <a:srgbClr val="4D6D68"/>
                </a:solidFill>
                <a:latin typeface="Arial" pitchFamily="34" charset="0"/>
                <a:ea typeface="Arial" pitchFamily="34" charset="-122"/>
                <a:cs typeface="Arial" pitchFamily="34" charset="-120"/>
              </a:rPr>
              <a:t>Counted as fifteen items on the workbook because the roof area and the PV cap are listed separately, as are the PV inverter year and share.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AF5F2"/>
        </a:solidFill>
      </p:bgPr>
    </p:bg>
    <p:spTree>
      <p:nvGrpSpPr>
        <p:cNvPr id="1" name=""/>
        <p:cNvGrpSpPr/>
        <p:nvPr/>
      </p:nvGrpSpPr>
      <p:grpSpPr>
        <a:xfrm>
          <a:off x="0" y="0"/>
          <a:ext cx="0" cy="0"/>
          <a:chOff x="0" y="0"/>
          <a:chExt cx="0" cy="0"/>
        </a:xfrm>
      </p:grpSpPr>
      <p:sp>
        <p:nvSpPr>
          <p:cNvPr id="2" name="Shape 0"/>
          <p:cNvSpPr/>
          <p:nvPr/>
        </p:nvSpPr>
        <p:spPr>
          <a:xfrm>
            <a:off x="76200" y="76200"/>
            <a:ext cx="12039600" cy="914400"/>
          </a:xfrm>
          <a:prstGeom prst="roundRect">
            <a:avLst>
              <a:gd name="adj" fmla="val 22917"/>
            </a:avLst>
          </a:prstGeom>
          <a:solidFill>
            <a:srgbClr val="24857B"/>
          </a:solidFill>
          <a:ln w="12700">
            <a:solidFill>
              <a:srgbClr val="24857B"/>
            </a:solidFill>
            <a:prstDash val="solid"/>
          </a:ln>
        </p:spPr>
      </p:sp>
      <p:sp>
        <p:nvSpPr>
          <p:cNvPr id="3" name="Text 1"/>
          <p:cNvSpPr txBox="1"/>
          <p:nvPr/>
        </p:nvSpPr>
        <p:spPr>
          <a:xfrm>
            <a:off x="400050" y="209550"/>
            <a:ext cx="9334500" cy="64770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Appendix B: technical basis, permitting and files</a:t>
            </a:r>
            <a:endParaRPr lang="en-US" sz="2400" dirty="0"/>
          </a:p>
        </p:txBody>
      </p:sp>
      <p:pic>
        <p:nvPicPr>
          <p:cNvPr id="4" name="Image 0" descr="preencoded.png">    </p:cNvPr>
          <p:cNvPicPr>
            <a:picLocks noChangeAspect="1"/>
          </p:cNvPicPr>
          <p:nvPr/>
        </p:nvPicPr>
        <p:blipFill>
          <a:blip r:embed="rId1"/>
          <a:stretch>
            <a:fillRect/>
          </a:stretch>
        </p:blipFill>
        <p:spPr>
          <a:xfrm>
            <a:off x="10172700" y="228600"/>
            <a:ext cx="1619250" cy="495300"/>
          </a:xfrm>
          <a:prstGeom prst="rect">
            <a:avLst/>
          </a:prstGeom>
        </p:spPr>
      </p:pic>
      <p:sp>
        <p:nvSpPr>
          <p:cNvPr id="5" name="Text 2"/>
          <p:cNvSpPr txBox="1"/>
          <p:nvPr/>
        </p:nvSpPr>
        <p:spPr>
          <a:xfrm>
            <a:off x="400050" y="6534150"/>
            <a:ext cx="6667500" cy="190500"/>
          </a:xfrm>
          <a:prstGeom prst="rect">
            <a:avLst/>
          </a:prstGeom>
          <a:noFill/>
          <a:ln/>
        </p:spPr>
        <p:txBody>
          <a:bodyPr wrap="square" lIns="0" tIns="0" rIns="0" bIns="0" rtlCol="0" anchor="ctr"/>
          <a:lstStyle/>
          <a:p>
            <a:pPr algn="l" indent="0" marL="0">
              <a:buNone/>
            </a:pPr>
            <a:r>
              <a:rPr lang="en-US" sz="1000" dirty="0">
                <a:solidFill>
                  <a:srgbClr val="4D6D68"/>
                </a:solidFill>
                <a:latin typeface="Arial" pitchFamily="34" charset="0"/>
                <a:ea typeface="Arial" pitchFamily="34" charset="-122"/>
                <a:cs typeface="Arial" pitchFamily="34" charset="-120"/>
              </a:rPr>
              <a:t>Rofu Thailand feasibility  |  Allotrope Partners  |  September 2026</a:t>
            </a:r>
            <a:endParaRPr lang="en-US" sz="1000" dirty="0"/>
          </a:p>
        </p:txBody>
      </p:sp>
      <p:sp>
        <p:nvSpPr>
          <p:cNvPr id="6" name="Text 3"/>
          <p:cNvSpPr txBox="1"/>
          <p:nvPr/>
        </p:nvSpPr>
        <p:spPr>
          <a:xfrm>
            <a:off x="11334750" y="6534150"/>
            <a:ext cx="457200" cy="190500"/>
          </a:xfrm>
          <a:prstGeom prst="rect">
            <a:avLst/>
          </a:prstGeom>
          <a:noFill/>
          <a:ln/>
        </p:spPr>
        <p:txBody>
          <a:bodyPr wrap="square" lIns="0" tIns="0" rIns="0" bIns="0" rtlCol="0" anchor="ctr"/>
          <a:lstStyle/>
          <a:p>
            <a:pPr algn="r" indent="0" marL="0">
              <a:buNone/>
            </a:pPr>
            <a:r>
              <a:rPr lang="en-US" sz="1000" dirty="0">
                <a:solidFill>
                  <a:srgbClr val="4D6D68"/>
                </a:solidFill>
                <a:latin typeface="Arial" pitchFamily="34" charset="0"/>
                <a:ea typeface="Arial" pitchFamily="34" charset="-122"/>
                <a:cs typeface="Arial" pitchFamily="34" charset="-120"/>
              </a:rPr>
              <a:t>17</a:t>
            </a:r>
            <a:endParaRPr lang="en-US" sz="1000" dirty="0"/>
          </a:p>
        </p:txBody>
      </p:sp>
      <p:sp>
        <p:nvSpPr>
          <p:cNvPr id="8" name="Shape 4"/>
          <p:cNvSpPr/>
          <p:nvPr/>
        </p:nvSpPr>
        <p:spPr>
          <a:xfrm>
            <a:off x="514350" y="1200150"/>
            <a:ext cx="3619500" cy="3238500"/>
          </a:xfrm>
          <a:prstGeom prst="roundRect">
            <a:avLst>
              <a:gd name="adj" fmla="val 5294"/>
            </a:avLst>
          </a:prstGeom>
          <a:solidFill>
            <a:srgbClr val="FFFFFF"/>
          </a:solidFill>
          <a:ln w="12700">
            <a:solidFill>
              <a:srgbClr val="8AB8B0"/>
            </a:solidFill>
            <a:prstDash val="solid"/>
          </a:ln>
        </p:spPr>
      </p:sp>
      <p:sp>
        <p:nvSpPr>
          <p:cNvPr id="9" name="Text 5"/>
          <p:cNvSpPr txBox="1"/>
          <p:nvPr/>
        </p:nvSpPr>
        <p:spPr>
          <a:xfrm>
            <a:off x="723900" y="1371600"/>
            <a:ext cx="3200400" cy="285750"/>
          </a:xfrm>
          <a:prstGeom prst="rect">
            <a:avLst/>
          </a:prstGeom>
          <a:noFill/>
          <a:ln/>
        </p:spPr>
        <p:txBody>
          <a:bodyPr wrap="square" lIns="0" tIns="0" rIns="0" bIns="0" rtlCol="0" anchor="t"/>
          <a:lstStyle/>
          <a:p>
            <a:pPr algn="l" indent="0" marL="0">
              <a:buNone/>
            </a:pPr>
            <a:r>
              <a:rPr lang="en-US" sz="1600" b="1" dirty="0">
                <a:solidFill>
                  <a:srgbClr val="17685F"/>
                </a:solidFill>
                <a:latin typeface="Arial" pitchFamily="34" charset="0"/>
                <a:ea typeface="Arial" pitchFamily="34" charset="-122"/>
                <a:cs typeface="Arial" pitchFamily="34" charset="-120"/>
              </a:rPr>
              <a:t>Optimisation</a:t>
            </a:r>
            <a:endParaRPr lang="en-US" sz="1600" dirty="0"/>
          </a:p>
        </p:txBody>
      </p:sp>
      <p:sp>
        <p:nvSpPr>
          <p:cNvPr id="10" name="Text 6"/>
          <p:cNvSpPr txBox="1"/>
          <p:nvPr/>
        </p:nvSpPr>
        <p:spPr>
          <a:xfrm>
            <a:off x="723900" y="1752600"/>
            <a:ext cx="3200400" cy="2571750"/>
          </a:xfrm>
          <a:prstGeom prst="rect">
            <a:avLst/>
          </a:prstGeom>
          <a:noFill/>
          <a:ln/>
        </p:spPr>
        <p:txBody>
          <a:bodyPr wrap="square" lIns="0" tIns="0" rIns="0" bIns="0" rtlCol="0" anchor="t"/>
          <a:lstStyle/>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REopt (NREL) v0.57 through Allotrope's REopt API, HiGHS solver.</a:t>
            </a:r>
            <a:endParaRPr lang="en-US" sz="1150" dirty="0"/>
          </a:p>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15 minute resolution, one metered year of load (2025).</a:t>
            </a:r>
            <a:endParaRPr lang="en-US" sz="1150" dirty="0"/>
          </a:p>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PVWatts irradiance for Phimai; tilt 15 degrees; 0.5 percent a year PV degradation.</a:t>
            </a:r>
            <a:endParaRPr lang="en-US" sz="1150" dirty="0"/>
          </a:p>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Objective: lowest 20 year cost of electricity for the site; no export; storage may charge from grid or PV.</a:t>
            </a:r>
            <a:endParaRPr lang="en-US" sz="1150" dirty="0"/>
          </a:p>
        </p:txBody>
      </p:sp>
      <p:sp>
        <p:nvSpPr>
          <p:cNvPr id="11" name="Shape 7"/>
          <p:cNvSpPr/>
          <p:nvPr/>
        </p:nvSpPr>
        <p:spPr>
          <a:xfrm>
            <a:off x="4286250" y="1200150"/>
            <a:ext cx="3619500" cy="3238500"/>
          </a:xfrm>
          <a:prstGeom prst="roundRect">
            <a:avLst>
              <a:gd name="adj" fmla="val 5294"/>
            </a:avLst>
          </a:prstGeom>
          <a:solidFill>
            <a:srgbClr val="17685F"/>
          </a:solidFill>
          <a:ln w="12700">
            <a:solidFill>
              <a:srgbClr val="17685F"/>
            </a:solidFill>
            <a:prstDash val="solid"/>
          </a:ln>
        </p:spPr>
      </p:sp>
      <p:sp>
        <p:nvSpPr>
          <p:cNvPr id="12" name="Text 8"/>
          <p:cNvSpPr txBox="1"/>
          <p:nvPr/>
        </p:nvSpPr>
        <p:spPr>
          <a:xfrm>
            <a:off x="4495800" y="1371600"/>
            <a:ext cx="3200400" cy="285750"/>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Pro forma</a:t>
            </a:r>
            <a:endParaRPr lang="en-US" sz="1600" dirty="0"/>
          </a:p>
        </p:txBody>
      </p:sp>
      <p:sp>
        <p:nvSpPr>
          <p:cNvPr id="13" name="Text 9"/>
          <p:cNvSpPr txBox="1"/>
          <p:nvPr/>
        </p:nvSpPr>
        <p:spPr>
          <a:xfrm>
            <a:off x="4495800" y="1752600"/>
            <a:ext cx="3200400" cy="2571750"/>
          </a:xfrm>
          <a:prstGeom prst="rect">
            <a:avLst/>
          </a:prstGeom>
          <a:noFill/>
          <a:ln/>
        </p:spPr>
        <p:txBody>
          <a:bodyPr wrap="square" lIns="0" tIns="0" rIns="0" bIns="0" rtlCol="0" anchor="t"/>
          <a:lstStyle/>
          <a:p>
            <a:pPr marL="203200" indent="-203200">
              <a:spcAft>
                <a:spcPts val="800"/>
              </a:spcAft>
              <a:buSzPct val="100000"/>
              <a:buChar char="•"/>
            </a:pPr>
            <a:r>
              <a:rPr lang="en-US" sz="1150" dirty="0">
                <a:solidFill>
                  <a:srgbClr val="FFFFFF"/>
                </a:solidFill>
                <a:latin typeface="Arial" pitchFamily="34" charset="0"/>
                <a:ea typeface="Arial" pitchFamily="34" charset="-122"/>
                <a:cs typeface="Arial" pitchFamily="34" charset="-120"/>
              </a:rPr>
              <a:t>20 year cash flow, direct ownership, 70 percent debt at 6.5 percent over 10 years.</a:t>
            </a:r>
            <a:endParaRPr lang="en-US" sz="1150" dirty="0"/>
          </a:p>
          <a:p>
            <a:pPr marL="203200" indent="-203200">
              <a:spcAft>
                <a:spcPts val="800"/>
              </a:spcAft>
              <a:buSzPct val="100000"/>
              <a:buChar char="•"/>
            </a:pPr>
            <a:r>
              <a:rPr lang="en-US" sz="1150" dirty="0">
                <a:solidFill>
                  <a:srgbClr val="FFFFFF"/>
                </a:solidFill>
                <a:latin typeface="Arial" pitchFamily="34" charset="0"/>
                <a:ea typeface="Arial" pitchFamily="34" charset="-122"/>
                <a:cs typeface="Arial" pitchFamily="34" charset="-120"/>
              </a:rPr>
              <a:t>Thai CIT 20 percent flat; 5 year machinery depreciation; 7 percent VAT on the bill.</a:t>
            </a:r>
            <a:endParaRPr lang="en-US" sz="1150" dirty="0"/>
          </a:p>
          <a:p>
            <a:pPr marL="203200" indent="-203200">
              <a:spcAft>
                <a:spcPts val="800"/>
              </a:spcAft>
              <a:buSzPct val="100000"/>
              <a:buChar char="•"/>
            </a:pPr>
            <a:r>
              <a:rPr lang="en-US" sz="1150" dirty="0">
                <a:solidFill>
                  <a:srgbClr val="FFFFFF"/>
                </a:solidFill>
                <a:latin typeface="Arial" pitchFamily="34" charset="0"/>
                <a:ea typeface="Arial" pitchFamily="34" charset="-122"/>
                <a:cs typeface="Arial" pitchFamily="34" charset="-120"/>
              </a:rPr>
              <a:t>Battery replaced in year 10 at 100 percent of install cost; PV inverter in year 11 at 10 percent of PV capex; both capitalised.</a:t>
            </a:r>
            <a:endParaRPr lang="en-US" sz="1150" dirty="0"/>
          </a:p>
          <a:p>
            <a:pPr marL="203200" indent="-203200">
              <a:spcAft>
                <a:spcPts val="800"/>
              </a:spcAft>
              <a:buSzPct val="100000"/>
              <a:buChar char="•"/>
            </a:pPr>
            <a:r>
              <a:rPr lang="en-US" sz="1150" dirty="0">
                <a:solidFill>
                  <a:srgbClr val="FFFFFF"/>
                </a:solidFill>
                <a:latin typeface="Arial" pitchFamily="34" charset="0"/>
                <a:ea typeface="Arial" pitchFamily="34" charset="-122"/>
                <a:cs typeface="Arial" pitchFamily="34" charset="-120"/>
              </a:rPr>
              <a:t>Every workbook reconciles its live formulas to the engine (audit sheet).</a:t>
            </a:r>
            <a:endParaRPr lang="en-US" sz="1150" dirty="0"/>
          </a:p>
        </p:txBody>
      </p:sp>
      <p:sp>
        <p:nvSpPr>
          <p:cNvPr id="14" name="Shape 10"/>
          <p:cNvSpPr/>
          <p:nvPr/>
        </p:nvSpPr>
        <p:spPr>
          <a:xfrm>
            <a:off x="8058150" y="1200150"/>
            <a:ext cx="3619500" cy="3238500"/>
          </a:xfrm>
          <a:prstGeom prst="roundRect">
            <a:avLst>
              <a:gd name="adj" fmla="val 5294"/>
            </a:avLst>
          </a:prstGeom>
          <a:solidFill>
            <a:srgbClr val="FFFFFF"/>
          </a:solidFill>
          <a:ln w="12700">
            <a:solidFill>
              <a:srgbClr val="8AB8B0"/>
            </a:solidFill>
            <a:prstDash val="solid"/>
          </a:ln>
        </p:spPr>
      </p:sp>
      <p:sp>
        <p:nvSpPr>
          <p:cNvPr id="15" name="Text 11"/>
          <p:cNvSpPr txBox="1"/>
          <p:nvPr/>
        </p:nvSpPr>
        <p:spPr>
          <a:xfrm>
            <a:off x="8267700" y="1371600"/>
            <a:ext cx="3200400" cy="285750"/>
          </a:xfrm>
          <a:prstGeom prst="rect">
            <a:avLst/>
          </a:prstGeom>
          <a:noFill/>
          <a:ln/>
        </p:spPr>
        <p:txBody>
          <a:bodyPr wrap="square" lIns="0" tIns="0" rIns="0" bIns="0" rtlCol="0" anchor="t"/>
          <a:lstStyle/>
          <a:p>
            <a:pPr algn="l" indent="0" marL="0">
              <a:buNone/>
            </a:pPr>
            <a:r>
              <a:rPr lang="en-US" sz="1600" b="1" dirty="0">
                <a:solidFill>
                  <a:srgbClr val="17685F"/>
                </a:solidFill>
                <a:latin typeface="Arial" pitchFamily="34" charset="0"/>
                <a:ea typeface="Arial" pitchFamily="34" charset="-122"/>
                <a:cs typeface="Arial" pitchFamily="34" charset="-120"/>
              </a:rPr>
              <a:t>Emissions and permitting</a:t>
            </a:r>
            <a:endParaRPr lang="en-US" sz="1600" dirty="0"/>
          </a:p>
        </p:txBody>
      </p:sp>
      <p:sp>
        <p:nvSpPr>
          <p:cNvPr id="16" name="Text 12"/>
          <p:cNvSpPr txBox="1"/>
          <p:nvPr/>
        </p:nvSpPr>
        <p:spPr>
          <a:xfrm>
            <a:off x="8267700" y="1752600"/>
            <a:ext cx="3200400" cy="2571750"/>
          </a:xfrm>
          <a:prstGeom prst="rect">
            <a:avLst/>
          </a:prstGeom>
          <a:noFill/>
          <a:ln/>
        </p:spPr>
        <p:txBody>
          <a:bodyPr wrap="square" lIns="0" tIns="0" rIns="0" bIns="0" rtlCol="0" anchor="t"/>
          <a:lstStyle/>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Avoided import x 0.4750 kg CO2e per kWh (TGO 2022-2024 grid mix, effective 1 January 2026).</a:t>
            </a:r>
            <a:endParaRPr lang="en-US" sz="1150" dirty="0"/>
          </a:p>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The optimiser's emissions outputs use US datasets and are not used.</a:t>
            </a:r>
            <a:endParaRPr lang="en-US" sz="1150" dirty="0"/>
          </a:p>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ERC generation licence and Aor.6 building modification permit required; no published fee schedules.</a:t>
            </a:r>
            <a:endParaRPr lang="en-US" sz="1150" dirty="0"/>
          </a:p>
          <a:p>
            <a:pPr marL="203200" indent="-203200">
              <a:spcAft>
                <a:spcPts val="800"/>
              </a:spcAft>
              <a:buSzPct val="100000"/>
              <a:buChar char="•"/>
            </a:pPr>
            <a:r>
              <a:rPr lang="en-US" sz="1150" dirty="0">
                <a:solidFill>
                  <a:srgbClr val="143B37"/>
                </a:solidFill>
                <a:latin typeface="Arial" pitchFamily="34" charset="0"/>
                <a:ea typeface="Arial" pitchFamily="34" charset="-122"/>
                <a:cs typeface="Arial" pitchFamily="34" charset="-120"/>
              </a:rPr>
              <a:t>IEE at 5 MWp, EIA at 10 MWp: not triggered below 3 MWp.</a:t>
            </a:r>
            <a:endParaRPr lang="en-US" sz="1150" dirty="0"/>
          </a:p>
        </p:txBody>
      </p:sp>
      <p:sp>
        <p:nvSpPr>
          <p:cNvPr id="17" name="Text 13"/>
          <p:cNvSpPr txBox="1"/>
          <p:nvPr/>
        </p:nvSpPr>
        <p:spPr>
          <a:xfrm>
            <a:off x="514350" y="4667250"/>
            <a:ext cx="11220450" cy="476250"/>
          </a:xfrm>
          <a:prstGeom prst="rect">
            <a:avLst/>
          </a:prstGeom>
          <a:noFill/>
          <a:ln/>
        </p:spPr>
        <p:txBody>
          <a:bodyPr wrap="square" lIns="0" tIns="0" rIns="0" bIns="0" rtlCol="0" anchor="t"/>
          <a:lstStyle/>
          <a:p>
            <a:pPr algn="l" indent="0" marL="0">
              <a:buNone/>
            </a:pPr>
            <a:r>
              <a:rPr lang="en-US" sz="1200" dirty="0">
                <a:solidFill>
                  <a:srgbClr val="143B37"/>
                </a:solidFill>
                <a:latin typeface="Arial" pitchFamily="34" charset="0"/>
                <a:ea typeface="Arial" pitchFamily="34" charset="-122"/>
                <a:cs typeface="Arial" pitchFamily="34" charset="-120"/>
              </a:rPr>
              <a:t>Files: six pro forma workbooks (one per case), the memo of 12 September 2026 and its Vietnamese translation, the tariff structure briefing, and the case inputs, solver payloads and raw results for each case.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Rofu Thailand rooftop solar and storage feasibility</dc:title>
  <dc:subject>PptxGenJS Presentation</dc:subject>
  <dc:creator>Allotrope Partners</dc:creator>
  <cp:lastModifiedBy>Allotrope Partners</cp:lastModifiedBy>
  <cp:revision>1</cp:revision>
  <dcterms:created xsi:type="dcterms:W3CDTF">2026-09-15T03:41:45Z</dcterms:created>
  <dcterms:modified xsi:type="dcterms:W3CDTF">2026-09-15T03:41:45Z</dcterms:modified>
</cp:coreProperties>
</file>
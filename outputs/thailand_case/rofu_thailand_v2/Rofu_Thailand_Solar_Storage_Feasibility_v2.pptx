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MWh</c:v>
                </c:pt>
              </c:strCache>
            </c:strRef>
          </c:tx>
          <c:spPr>
            <a:solidFill>
              <a:srgbClr val="3F8E73"/>
            </a:solidFill>
            <a:effectLst/>
          </c:spPr>
          <c:invertIfNegative val="0"/>
          <c:dLbls>
            <c:numFmt formatCode="#,##0" sourceLinked="0"/>
            <c:txPr>
              <a:bodyPr/>
              <a:lstStyle/>
              <a:p>
                <a:pPr>
                  <a:defRPr b="0" i="0" strike="noStrike" sz="900" u="none">
                    <a:solidFill>
                      <a:srgbClr val="143B37"/>
                    </a:solidFill>
                    <a:latin typeface="Arial"/>
                  </a:defRPr>
                </a:pPr>
              </a:p>
            </c:txPr>
            <c:showLegendKey val="0"/>
            <c:showVal val="1"/>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554</c:v>
                </c:pt>
                <c:pt idx="1">
                  <c:v>556</c:v>
                </c:pt>
                <c:pt idx="2">
                  <c:v>636</c:v>
                </c:pt>
                <c:pt idx="3">
                  <c:v>538</c:v>
                </c:pt>
                <c:pt idx="4">
                  <c:v>666</c:v>
                </c:pt>
                <c:pt idx="5">
                  <c:v>727</c:v>
                </c:pt>
                <c:pt idx="6">
                  <c:v>645</c:v>
                </c:pt>
                <c:pt idx="7">
                  <c:v>590</c:v>
                </c:pt>
                <c:pt idx="8">
                  <c:v>620</c:v>
                </c:pt>
                <c:pt idx="9">
                  <c:v>606</c:v>
                </c:pt>
                <c:pt idx="10">
                  <c:v>586</c:v>
                </c:pt>
                <c:pt idx="11">
                  <c:v>511</c:v>
                </c:pt>
              </c:numCache>
            </c:numRef>
          </c:val>
        </c:ser>
        <c:dLbls>
          <c:numFmt formatCode="#,##0" sourceLinked="0"/>
          <c:txPr>
            <a:bodyPr/>
            <a:lstStyle/>
            <a:p>
              <a:pPr>
                <a:defRPr b="0" i="0" strike="noStrike" sz="9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850"/>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kW</c:v>
                </c:pt>
              </c:strCache>
            </c:strRef>
          </c:tx>
          <c:spPr>
            <a:solidFill>
              <a:srgbClr val="17685F"/>
            </a:solidFill>
            <a:ln w="31750" cap="flat">
              <a:solidFill>
                <a:srgbClr val="1768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685F"/>
              </a:solidFill>
              <a:ln w="9525" cap="flat">
                <a:solidFill>
                  <a:srgbClr val="17685F"/>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544</c:v>
                </c:pt>
                <c:pt idx="1">
                  <c:v>680</c:v>
                </c:pt>
                <c:pt idx="2">
                  <c:v>679</c:v>
                </c:pt>
                <c:pt idx="3">
                  <c:v>670</c:v>
                </c:pt>
                <c:pt idx="4">
                  <c:v>631</c:v>
                </c:pt>
                <c:pt idx="5">
                  <c:v>504</c:v>
                </c:pt>
                <c:pt idx="6">
                  <c:v>530</c:v>
                </c:pt>
                <c:pt idx="7">
                  <c:v>780</c:v>
                </c:pt>
                <c:pt idx="8">
                  <c:v>1128</c:v>
                </c:pt>
                <c:pt idx="9">
                  <c:v>1152</c:v>
                </c:pt>
                <c:pt idx="10">
                  <c:v>1154</c:v>
                </c:pt>
                <c:pt idx="11">
                  <c:v>1013</c:v>
                </c:pt>
                <c:pt idx="12">
                  <c:v>846</c:v>
                </c:pt>
                <c:pt idx="13">
                  <c:v>1150</c:v>
                </c:pt>
                <c:pt idx="14">
                  <c:v>1150</c:v>
                </c:pt>
                <c:pt idx="15">
                  <c:v>1141</c:v>
                </c:pt>
                <c:pt idx="16">
                  <c:v>1067</c:v>
                </c:pt>
                <c:pt idx="17">
                  <c:v>725</c:v>
                </c:pt>
                <c:pt idx="18">
                  <c:v>762</c:v>
                </c:pt>
                <c:pt idx="19">
                  <c:v>708</c:v>
                </c:pt>
                <c:pt idx="20">
                  <c:v>723</c:v>
                </c:pt>
                <c:pt idx="21">
                  <c:v>706</c:v>
                </c:pt>
                <c:pt idx="22">
                  <c:v>695</c:v>
                </c:pt>
                <c:pt idx="23">
                  <c:v>682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Bill</c:v>
                </c:pt>
              </c:strCache>
            </c:strRef>
          </c:tx>
          <c:spPr>
            <a:solidFill>
              <a:schemeClr val="accent1"/>
            </a:solidFill>
            <a:ln w="9525" cap="flat">
              <a:solidFill>
                <a:srgbClr val="F9F9F9"/>
              </a:solidFill>
              <a:prstDash val="solid"/>
              <a:round/>
            </a:ln>
            <a:effectLst/>
          </c:spPr>
          <c:dPt>
            <c:idx val="0"/>
            <c:bubble3D val="0"/>
            <c:spPr>
              <a:solidFill>
                <a:srgbClr val="E98A55"/>
              </a:solidFill>
              <a:effectLst/>
            </c:spPr>
          </c:dPt>
          <c:dPt>
            <c:idx val="1"/>
            <c:bubble3D val="0"/>
            <c:spPr>
              <a:solidFill>
                <a:srgbClr val="3F8E73"/>
              </a:solidFill>
              <a:effectLst/>
            </c:spPr>
          </c:dPt>
          <c:dPt>
            <c:idx val="2"/>
            <c:bubble3D val="0"/>
            <c:spPr>
              <a:solidFill>
                <a:srgbClr val="F7D98B"/>
              </a:solidFill>
              <a:effectLst/>
            </c:spPr>
          </c:dPt>
          <c:dPt>
            <c:idx val="3"/>
            <c:bubble3D val="0"/>
            <c:spPr>
              <a:solidFill>
                <a:srgbClr val="D77C7F"/>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Peak energy</c:v>
                </c:pt>
                <c:pt idx="1">
                  <c:v>Off-peak energy</c:v>
                </c:pt>
                <c:pt idx="2">
                  <c:v>Demand</c:v>
                </c:pt>
                <c:pt idx="3">
                  <c:v>Ft</c:v>
                </c:pt>
              </c:strCache>
            </c:strRef>
          </c:cat>
          <c:val>
            <c:numRef>
              <c:f>Sheet1!$B$2:$B$5</c:f>
              <c:numCache>
                <c:ptCount val="4"/>
                <c:pt idx="0">
                  <c:v>1203884</c:v>
                </c:pt>
                <c:pt idx="1">
                  <c:v>890874</c:v>
                </c:pt>
                <c:pt idx="2">
                  <c:v>181848</c:v>
                </c:pt>
                <c:pt idx="3">
                  <c:v>124548</c:v>
                </c:pt>
              </c:numCache>
            </c:numRef>
          </c:val>
        </c:ser>
        <c:firstSliceAng val="0"/>
        <c:holeSize val="55"/>
      </c:doughnutChart>
      <c:spPr>
        <a:solidFill>
          <a:srgbClr val="FFFFFF"/>
        </a:solidFill>
        <a:ln>
          <a:noFill/>
        </a:ln>
        <a:effectLst/>
      </c:spPr>
    </c:plotArea>
    <c:legend>
      <c:legendPos val="r"/>
      <c:overlay val="0"/>
      <c:txPr>
        <a:bodyPr/>
        <a:lstStyle/>
        <a:p>
          <a:pPr>
            <a:defRPr sz="1000">
              <a:solidFill>
                <a:srgbClr val="143B37"/>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Equity NPV</c:v>
                </c:pt>
              </c:strCache>
            </c:strRef>
          </c:tx>
          <c:spPr>
            <a:solidFill>
              <a:srgbClr val="3F8E73"/>
            </a:solidFill>
            <a:effectLst/>
          </c:spPr>
          <c:invertIfNegative val="0"/>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cat>
            <c:multiLvlStrRef>
              <c:f>Sheet1!$A$2:$A$6</c:f>
              <c:multiLvlStrCache>
                <c:ptCount val="5"/>
                <c:lvl>
                  <c:pt idx="0">
                    <c:v>1. Roof F</c:v>
                  </c:pt>
                  <c:pt idx="1">
                    <c:v>2. Roof F, with storage</c:v>
                  </c:pt>
                  <c:pt idx="2">
                    <c:v>3. All roofs</c:v>
                  </c:pt>
                  <c:pt idx="3">
                    <c:v>4. All roofs, with storage</c:v>
                  </c:pt>
                  <c:pt idx="4">
                    <c:v>5. No roof limit, with storage</c:v>
                  </c:pt>
                </c:lvl>
              </c:multiLvlStrCache>
            </c:multiLvlStrRef>
          </c:cat>
          <c:val>
            <c:numRef>
              <c:f>Sheet1!$B$2:$B$6</c:f>
              <c:numCache>
                <c:formatCode>General</c:formatCode>
                <c:ptCount val="5"/>
                <c:pt idx="0">
                  <c:v>389829</c:v>
                </c:pt>
                <c:pt idx="1">
                  <c:v>394093</c:v>
                </c:pt>
                <c:pt idx="2">
                  <c:v>1512301</c:v>
                </c:pt>
                <c:pt idx="3">
                  <c:v>1612795</c:v>
                </c:pt>
                <c:pt idx="4">
                  <c:v>1855912</c:v>
                </c:pt>
              </c:numCache>
            </c:numRef>
          </c:val>
        </c:ser>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2300000"/>
          <c:min val="0"/>
        </c:scaling>
        <c:delete val="1"/>
        <c:axPos val="b"/>
        <c:majorGridlines>
          <c:spPr>
            <a:ln w="6350" cap="flat">
              <a:solidFill>
                <a:srgbClr val="D5E3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Equity IRR</c:v>
                </c:pt>
              </c:strCache>
            </c:strRef>
          </c:tx>
          <c:spPr>
            <a:solidFill>
              <a:srgbClr val="E98A55"/>
            </a:solidFill>
            <a:effectLst/>
          </c:spPr>
          <c:invertIfNegative val="0"/>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75.5</c:v>
                </c:pt>
                <c:pt idx="1">
                  <c:v>73.4</c:v>
                </c:pt>
                <c:pt idx="2">
                  <c:v>62</c:v>
                </c:pt>
                <c:pt idx="3">
                  <c:v>60.3</c:v>
                </c:pt>
                <c:pt idx="4">
                  <c:v>49.6</c:v>
                </c:pt>
              </c:numCache>
            </c:numRef>
          </c:val>
        </c:ser>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PV to load</c:v>
                </c:pt>
              </c:strCache>
            </c:strRef>
          </c:tx>
          <c:spPr>
            <a:solidFill>
              <a:srgbClr val="F7D9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0</c:v>
                </c:pt>
                <c:pt idx="1">
                  <c:v>0</c:v>
                </c:pt>
                <c:pt idx="2">
                  <c:v>0</c:v>
                </c:pt>
                <c:pt idx="3">
                  <c:v>0</c:v>
                </c:pt>
                <c:pt idx="4">
                  <c:v>0</c:v>
                </c:pt>
                <c:pt idx="5">
                  <c:v>0</c:v>
                </c:pt>
                <c:pt idx="6">
                  <c:v>37</c:v>
                </c:pt>
                <c:pt idx="7">
                  <c:v>277</c:v>
                </c:pt>
                <c:pt idx="8">
                  <c:v>565</c:v>
                </c:pt>
                <c:pt idx="9">
                  <c:v>792</c:v>
                </c:pt>
                <c:pt idx="10">
                  <c:v>944</c:v>
                </c:pt>
                <c:pt idx="11">
                  <c:v>923</c:v>
                </c:pt>
                <c:pt idx="12">
                  <c:v>801</c:v>
                </c:pt>
                <c:pt idx="13">
                  <c:v>975</c:v>
                </c:pt>
                <c:pt idx="14">
                  <c:v>865</c:v>
                </c:pt>
                <c:pt idx="15">
                  <c:v>647</c:v>
                </c:pt>
                <c:pt idx="16">
                  <c:v>376</c:v>
                </c:pt>
                <c:pt idx="17">
                  <c:v>92</c:v>
                </c:pt>
                <c:pt idx="18">
                  <c:v>0</c:v>
                </c:pt>
                <c:pt idx="19">
                  <c:v>0</c:v>
                </c:pt>
                <c:pt idx="20">
                  <c:v>0</c:v>
                </c:pt>
                <c:pt idx="21">
                  <c:v>0</c:v>
                </c:pt>
                <c:pt idx="22">
                  <c:v>0</c:v>
                </c:pt>
                <c:pt idx="23">
                  <c:v>0</c:v>
                </c:pt>
              </c:numCache>
            </c:numRef>
          </c:val>
        </c:ser>
        <c:ser>
          <c:idx val="1"/>
          <c:order val="1"/>
          <c:tx>
            <c:strRef>
              <c:f>Sheet1!$C$1</c:f>
              <c:strCache>
                <c:ptCount val="1"/>
                <c:pt idx="0">
                  <c:v>Battery to load</c:v>
                </c:pt>
              </c:strCache>
            </c:strRef>
          </c:tx>
          <c:spPr>
            <a:solidFill>
              <a:srgbClr val="3F8E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1</c:v>
                </c:pt>
                <c:pt idx="1">
                  <c:v>1</c:v>
                </c:pt>
                <c:pt idx="2">
                  <c:v>1</c:v>
                </c:pt>
                <c:pt idx="3">
                  <c:v>2</c:v>
                </c:pt>
                <c:pt idx="4">
                  <c:v>3</c:v>
                </c:pt>
                <c:pt idx="5">
                  <c:v>5</c:v>
                </c:pt>
                <c:pt idx="6">
                  <c:v>13</c:v>
                </c:pt>
                <c:pt idx="7">
                  <c:v>15</c:v>
                </c:pt>
                <c:pt idx="8">
                  <c:v>20</c:v>
                </c:pt>
                <c:pt idx="9">
                  <c:v>71</c:v>
                </c:pt>
                <c:pt idx="10">
                  <c:v>49</c:v>
                </c:pt>
                <c:pt idx="11">
                  <c:v>23</c:v>
                </c:pt>
                <c:pt idx="12">
                  <c:v>1</c:v>
                </c:pt>
                <c:pt idx="13">
                  <c:v>1</c:v>
                </c:pt>
                <c:pt idx="14">
                  <c:v>3</c:v>
                </c:pt>
                <c:pt idx="15">
                  <c:v>6</c:v>
                </c:pt>
                <c:pt idx="16">
                  <c:v>14</c:v>
                </c:pt>
                <c:pt idx="17">
                  <c:v>10</c:v>
                </c:pt>
                <c:pt idx="18">
                  <c:v>40</c:v>
                </c:pt>
                <c:pt idx="19">
                  <c:v>14</c:v>
                </c:pt>
                <c:pt idx="20">
                  <c:v>62</c:v>
                </c:pt>
                <c:pt idx="21">
                  <c:v>171</c:v>
                </c:pt>
                <c:pt idx="22">
                  <c:v>1</c:v>
                </c:pt>
                <c:pt idx="23">
                  <c:v>1</c:v>
                </c:pt>
              </c:numCache>
            </c:numRef>
          </c:val>
        </c:ser>
        <c:ser>
          <c:idx val="2"/>
          <c:order val="2"/>
          <c:tx>
            <c:strRef>
              <c:f>Sheet1!$D$1</c:f>
              <c:strCache>
                <c:ptCount val="1"/>
                <c:pt idx="0">
                  <c:v>Grid to load</c:v>
                </c:pt>
              </c:strCache>
            </c:strRef>
          </c:tx>
          <c:spPr>
            <a:solidFill>
              <a:srgbClr val="B7D9D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Sheet1!$D$2:$D$25</c:f>
              <c:numCache>
                <c:formatCode>General</c:formatCode>
                <c:ptCount val="24"/>
                <c:pt idx="0">
                  <c:v>543</c:v>
                </c:pt>
                <c:pt idx="1">
                  <c:v>679</c:v>
                </c:pt>
                <c:pt idx="2">
                  <c:v>678</c:v>
                </c:pt>
                <c:pt idx="3">
                  <c:v>668</c:v>
                </c:pt>
                <c:pt idx="4">
                  <c:v>628</c:v>
                </c:pt>
                <c:pt idx="5">
                  <c:v>499</c:v>
                </c:pt>
                <c:pt idx="6">
                  <c:v>479</c:v>
                </c:pt>
                <c:pt idx="7">
                  <c:v>489</c:v>
                </c:pt>
                <c:pt idx="8">
                  <c:v>543</c:v>
                </c:pt>
                <c:pt idx="9">
                  <c:v>289</c:v>
                </c:pt>
                <c:pt idx="10">
                  <c:v>161</c:v>
                </c:pt>
                <c:pt idx="11">
                  <c:v>67</c:v>
                </c:pt>
                <c:pt idx="12">
                  <c:v>44</c:v>
                </c:pt>
                <c:pt idx="13">
                  <c:v>174</c:v>
                </c:pt>
                <c:pt idx="14">
                  <c:v>282</c:v>
                </c:pt>
                <c:pt idx="15">
                  <c:v>489</c:v>
                </c:pt>
                <c:pt idx="16">
                  <c:v>677</c:v>
                </c:pt>
                <c:pt idx="17">
                  <c:v>623</c:v>
                </c:pt>
                <c:pt idx="18">
                  <c:v>721</c:v>
                </c:pt>
                <c:pt idx="19">
                  <c:v>695</c:v>
                </c:pt>
                <c:pt idx="20">
                  <c:v>661</c:v>
                </c:pt>
                <c:pt idx="21">
                  <c:v>535</c:v>
                </c:pt>
                <c:pt idx="22">
                  <c:v>695</c:v>
                </c:pt>
                <c:pt idx="23">
                  <c:v>682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1300"/>
          <c:min val="0"/>
        </c:scaling>
        <c:delete val="0"/>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43B37"/>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Case 1: roof F, PV only</c:v>
                </c:pt>
              </c:strCache>
            </c:strRef>
          </c:tx>
          <c:spPr>
            <a:solidFill>
              <a:srgbClr val="B7D9D2"/>
            </a:solidFill>
            <a:ln w="31750" cap="flat">
              <a:solidFill>
                <a:srgbClr val="B7D9D2"/>
              </a:solidFill>
              <a:prstDash val="solid"/>
              <a:round/>
            </a:ln>
            <a:effectLst/>
          </c:spPr>
          <c:invertIfNegative val="0"/>
          <c:dLbls>
            <c:numFmt formatCode="0.00" sourceLinked="0"/>
            <c:txPr>
              <a:bodyPr/>
              <a:lstStyle/>
              <a:p>
                <a:pPr>
                  <a:defRPr b="0" i="0" strike="noStrike" sz="900" u="none">
                    <a:solidFill>
                      <a:srgbClr val="143B37"/>
                    </a:solidFill>
                    <a:latin typeface="Arial"/>
                  </a:defRPr>
                </a:pPr>
              </a:p>
            </c:txPr>
            <c:dLblPos val="t"/>
            <c:showLegendKey val="0"/>
            <c:showVal val="1"/>
            <c:showCatName val="0"/>
            <c:showSerName val="0"/>
            <c:showPercent val="0"/>
            <c:showBubbleSize val="0"/>
            <c:showLeaderLines val="0"/>
          </c:dLbls>
          <c:marker>
            <c:symbol val="circle"/>
            <c:size val="6"/>
            <c:spPr>
              <a:solidFill>
                <a:srgbClr val="B7D9D2"/>
              </a:solidFill>
              <a:ln w="9525" cap="flat">
                <a:solidFill>
                  <a:srgbClr val="B7D9D2"/>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3.26</c:v>
                </c:pt>
                <c:pt idx="1">
                  <c:v>3.33</c:v>
                </c:pt>
                <c:pt idx="2">
                  <c:v>3.39</c:v>
                </c:pt>
                <c:pt idx="3">
                  <c:v>3.45</c:v>
                </c:pt>
                <c:pt idx="4">
                  <c:v>3.52</c:v>
                </c:pt>
                <c:pt idx="5">
                  <c:v>3.17</c:v>
                </c:pt>
                <c:pt idx="6">
                  <c:v>3.24</c:v>
                </c:pt>
                <c:pt idx="7">
                  <c:v>3.31</c:v>
                </c:pt>
                <c:pt idx="8">
                  <c:v>3.38</c:v>
                </c:pt>
                <c:pt idx="9">
                  <c:v>3.46</c:v>
                </c:pt>
              </c:numCache>
            </c:numRef>
          </c:val>
          <c:smooth val="0"/>
        </c:ser>
        <c:ser>
          <c:idx val="1"/>
          <c:order val="1"/>
          <c:tx>
            <c:strRef>
              <c:f>Sheet1!$C$1</c:f>
              <c:strCache>
                <c:ptCount val="1"/>
                <c:pt idx="0">
                  <c:v>Case 4: all roofs, with storage</c:v>
                </c:pt>
              </c:strCache>
            </c:strRef>
          </c:tx>
          <c:spPr>
            <a:solidFill>
              <a:srgbClr val="3F8E73"/>
            </a:solidFill>
            <a:ln w="31750" cap="flat">
              <a:solidFill>
                <a:srgbClr val="3F8E73"/>
              </a:solidFill>
              <a:prstDash val="solid"/>
              <a:round/>
            </a:ln>
            <a:effectLst/>
          </c:spPr>
          <c:invertIfNegative val="0"/>
          <c:dLbls>
            <c:numFmt formatCode="0.00" sourceLinked="0"/>
            <c:txPr>
              <a:bodyPr/>
              <a:lstStyle/>
              <a:p>
                <a:pPr>
                  <a:defRPr b="0" i="0" strike="noStrike" sz="900" u="none">
                    <a:solidFill>
                      <a:srgbClr val="143B37"/>
                    </a:solidFill>
                    <a:latin typeface="Arial"/>
                  </a:defRPr>
                </a:pPr>
              </a:p>
            </c:txPr>
            <c:dLblPos val="t"/>
            <c:showLegendKey val="0"/>
            <c:showVal val="1"/>
            <c:showCatName val="0"/>
            <c:showSerName val="0"/>
            <c:showPercent val="0"/>
            <c:showBubbleSize val="0"/>
            <c:showLeaderLines val="0"/>
          </c:dLbls>
          <c:marker>
            <c:symbol val="circle"/>
            <c:size val="6"/>
            <c:spPr>
              <a:solidFill>
                <a:srgbClr val="3F8E73"/>
              </a:solidFill>
              <a:ln w="9525" cap="flat">
                <a:solidFill>
                  <a:srgbClr val="3F8E73"/>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2.81</c:v>
                </c:pt>
                <c:pt idx="1">
                  <c:v>2.86</c:v>
                </c:pt>
                <c:pt idx="2">
                  <c:v>2.91</c:v>
                </c:pt>
                <c:pt idx="3">
                  <c:v>2.96</c:v>
                </c:pt>
                <c:pt idx="4">
                  <c:v>3.02</c:v>
                </c:pt>
                <c:pt idx="5">
                  <c:v>2.66</c:v>
                </c:pt>
                <c:pt idx="6">
                  <c:v>2.72</c:v>
                </c:pt>
                <c:pt idx="7">
                  <c:v>2.77</c:v>
                </c:pt>
                <c:pt idx="8">
                  <c:v>2.83</c:v>
                </c:pt>
                <c:pt idx="9">
                  <c:v>1.85</c:v>
                </c:pt>
              </c:numCache>
            </c:numRef>
          </c:val>
          <c:smooth val="0"/>
        </c:ser>
        <c:ser>
          <c:idx val="2"/>
          <c:order val="2"/>
          <c:tx>
            <c:strRef>
              <c:f>Sheet1!$D$1</c:f>
              <c:strCache>
                <c:ptCount val="1"/>
                <c:pt idx="0">
                  <c:v>Case 5: no roof limit, with storage</c:v>
                </c:pt>
              </c:strCache>
            </c:strRef>
          </c:tx>
          <c:spPr>
            <a:solidFill>
              <a:srgbClr val="E98A55"/>
            </a:solidFill>
            <a:ln w="31750" cap="flat">
              <a:solidFill>
                <a:srgbClr val="E98A55"/>
              </a:solidFill>
              <a:prstDash val="solid"/>
              <a:round/>
            </a:ln>
            <a:effectLst/>
          </c:spPr>
          <c:invertIfNegative val="0"/>
          <c:dLbls>
            <c:numFmt formatCode="0.00" sourceLinked="0"/>
            <c:txPr>
              <a:bodyPr/>
              <a:lstStyle/>
              <a:p>
                <a:pPr>
                  <a:defRPr b="0" i="0" strike="noStrike" sz="900" u="none">
                    <a:solidFill>
                      <a:srgbClr val="143B37"/>
                    </a:solidFill>
                    <a:latin typeface="Arial"/>
                  </a:defRPr>
                </a:pPr>
              </a:p>
            </c:txPr>
            <c:dLblPos val="t"/>
            <c:showLegendKey val="0"/>
            <c:showVal val="1"/>
            <c:showCatName val="0"/>
            <c:showSerName val="0"/>
            <c:showPercent val="0"/>
            <c:showBubbleSize val="0"/>
            <c:showLeaderLines val="0"/>
          </c:dLbls>
          <c:marker>
            <c:symbol val="circle"/>
            <c:size val="6"/>
            <c:spPr>
              <a:solidFill>
                <a:srgbClr val="E98A55"/>
              </a:solidFill>
              <a:ln w="9525" cap="flat">
                <a:solidFill>
                  <a:srgbClr val="E98A55"/>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Sheet1!$D$2:$D$11</c:f>
              <c:numCache>
                <c:formatCode>General</c:formatCode>
                <c:ptCount val="10"/>
                <c:pt idx="0">
                  <c:v>2.49</c:v>
                </c:pt>
                <c:pt idx="1">
                  <c:v>2.54</c:v>
                </c:pt>
                <c:pt idx="2">
                  <c:v>2.58</c:v>
                </c:pt>
                <c:pt idx="3">
                  <c:v>2.63</c:v>
                </c:pt>
                <c:pt idx="4">
                  <c:v>2.68</c:v>
                </c:pt>
                <c:pt idx="5">
                  <c:v>2.31</c:v>
                </c:pt>
                <c:pt idx="6">
                  <c:v>2.36</c:v>
                </c:pt>
                <c:pt idx="7">
                  <c:v>2.41</c:v>
                </c:pt>
                <c:pt idx="8">
                  <c:v>2.46</c:v>
                </c:pt>
                <c:pt idx="9">
                  <c:v>0.64</c:v>
                </c:pt>
              </c:numCache>
            </c:numRef>
          </c:val>
          <c:smooth val="0"/>
        </c:ser>
        <c:dLbls>
          <c:numFmt formatCode="0.00" sourceLinked="0"/>
          <c:txPr>
            <a:bodyPr/>
            <a:lstStyle/>
            <a:p>
              <a:pPr>
                <a:defRPr b="0" i="0" strike="noStrike" sz="900" u="none">
                  <a:solidFill>
                    <a:srgbClr val="143B37"/>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43B37"/>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USD/kWp</c:v>
                </c:pt>
              </c:strCache>
            </c:strRef>
          </c:tx>
          <c:spPr>
            <a:solidFill>
              <a:srgbClr val="17685F"/>
            </a:solidFill>
            <a:effectLst/>
          </c:spPr>
          <c:invertIfNegative val="0"/>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dPt>
            <c:idx val="0"/>
            <c:invertIfNegative val="0"/>
            <c:bubble3D val="0"/>
            <c:spPr>
              <a:solidFill>
                <a:srgbClr val="17685F"/>
              </a:solidFill>
              <a:effectLst/>
            </c:spPr>
          </c:dPt>
          <c:dPt>
            <c:idx val="1"/>
            <c:invertIfNegative val="0"/>
            <c:bubble3D val="0"/>
            <c:spPr>
              <a:solidFill>
                <a:srgbClr val="B7D9D2"/>
              </a:solidFill>
              <a:effectLst/>
            </c:spPr>
          </c:dPt>
          <c:dPt>
            <c:idx val="2"/>
            <c:invertIfNegative val="0"/>
            <c:bubble3D val="0"/>
            <c:spPr>
              <a:solidFill>
                <a:srgbClr val="B7D9D2"/>
              </a:solidFill>
              <a:effectLst/>
            </c:spPr>
          </c:dPt>
          <c:dPt>
            <c:idx val="3"/>
            <c:invertIfNegative val="0"/>
            <c:bubble3D val="0"/>
            <c:spPr>
              <a:solidFill>
                <a:srgbClr val="B7D9D2"/>
              </a:solidFill>
              <a:effectLst/>
            </c:spPr>
          </c:dPt>
          <c:cat>
            <c:multiLvlStrRef>
              <c:f>Sheet1!$A$2:$A$5</c:f>
              <c:multiLvlStrCache>
                <c:ptCount val="4"/>
                <c:lvl>
                  <c:pt idx="0">
                    <c:v>Keen quotation</c:v>
                  </c:pt>
                  <c:pt idx="1">
                    <c:v>Krungsri low</c:v>
                  </c:pt>
                  <c:pt idx="2">
                    <c:v>Krungsri high</c:v>
                  </c:pt>
                  <c:pt idx="3">
                    <c:v>MDPI 2025</c:v>
                  </c:pt>
                </c:lvl>
              </c:multiLvlStrCache>
            </c:multiLvlStrRef>
          </c:cat>
          <c:val>
            <c:numRef>
              <c:f>Sheet1!$B$2:$B$5</c:f>
              <c:numCache>
                <c:formatCode>General</c:formatCode>
                <c:ptCount val="4"/>
                <c:pt idx="0">
                  <c:v>500</c:v>
                </c:pt>
                <c:pt idx="1">
                  <c:v>615</c:v>
                </c:pt>
                <c:pt idx="2">
                  <c:v>769</c:v>
                </c:pt>
                <c:pt idx="3">
                  <c:v>767</c:v>
                </c:pt>
              </c:numCache>
            </c:numRef>
          </c:val>
        </c:ser>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900"/>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Curtailed</c:v>
                </c:pt>
              </c:strCache>
            </c:strRef>
          </c:tx>
          <c:spPr>
            <a:solidFill>
              <a:srgbClr val="E98A55"/>
            </a:solidFill>
            <a:effectLst/>
          </c:spPr>
          <c:invertIfNegative val="0"/>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1.4</c:v>
                </c:pt>
                <c:pt idx="1">
                  <c:v>1.3</c:v>
                </c:pt>
                <c:pt idx="2">
                  <c:v>13.2</c:v>
                </c:pt>
                <c:pt idx="3">
                  <c:v>9</c:v>
                </c:pt>
                <c:pt idx="4">
                  <c:v>12.7</c:v>
                </c:pt>
              </c:numCache>
            </c:numRef>
          </c:val>
        </c:ser>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16"/>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edition of the feasibility deck. The roof has been measured from satellite imagery (seven buildings, 16,319 m2) and the cases re-run: PV only and PV with storage on roof F (the roof replaced one to two years ago) and on all seven roofs, plus the unconstrained storage case carried over from the 12 September memo. Built from the five case records under outputs/thailand_case/rofu_thailand_v2 on master. Visual style follows the Rofu tariff structure briefing (Allotrope KEEN reference deck). All money in USD at 32.5 THB per USD unless marked THB.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from the five workbooks of 15 September 2026. Roof F alone (433 kWp) returns its equity in 1.4 years with an equity NPV of 389,829 USD; all seven roofs (2,122 kWp) with storage reach 1,612,795 USD. Storage is immaterial on roof F (the optimiser adds 33 kW / 50 kWh, below any practical size) and is selected on all roofs at 303 kW / 634 kWh. The roof still binds: the unconstrained optimum is 2,847 kWp.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optimiser is REopt (NREL) at 15 minute resolution with the HiGHS solver: it chooses PV and battery sizes and the hourly dispatch that minimise the 20 year cost of electricity for the site under the PEA tariff, with no export allowed. The pro forma (proforma_vietnam engine, Thailand profile) then builds the 20 year cash flow for direct ownership: capex, financing, O&amp;M, insurance, replacements, depreciation and CIT. This edition replaces the survey-based roof estimate of the 12 September memo with a measurement from satellite imagery and re-runs the roof cases in two groups, roof F alone and all seven roofs; the unconstrained storage case is carried over unchanged as the reference optimum. The battery price history (300 + 250 rejected; 100 + 150 selected at a 70 percent and again at a 100 percent year-10 replacement)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PEA invoice June 2025; RTS data collection workbook; KTH2 electricity use; 15 minute interval data for 2025 supplied by PEA. Monthly energy from the metered series used by the optimiser (7,235,301 kWh in the year). Roof: seven buildings measured from satellite imagery in September 2026, 16,319 m2 in total; roof F was replaced one to two years ago, the others are older and unreviewed.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Roof outlines traced on satellite imagery (September 2026) and measured building by building: A 2,818 m2, B 2,859, C 2,733, D 2,720, E 885, F 3,329, G 975; 16,319 m2 in total. The conversion to capacity keeps the memo's assumptions: 65 percent of the outlined area is usable (skylight strips, edges, walkways and equipment take the rest) at 0.20 kWp per usable m2, so all seven roofs carry 2,122 kWp and roof F alone 433 kWp. Condition: roof F, the main building at the front of the site, was replaced one to two years ago after leaks that could no longer be repaired; the other roofs are older, no replacement is planned, and their condition and suitability need a closer review before a decision. The memo's survey estimate (five roofs, 108 m long, 24 to 30 m wide: 12,960 to 16,200 m2 gross, 1,685 to 2,106 kWp) is superseded by the measurement, which sits at the top of that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load by hour across 2025 from the metered 15 minute series. The plant runs two shifts with a lunch dip and an evening step-down; weekday on-peak energy is billed from 09:00 to 22:00, the demand charge on the single highest on-peak interval of the month. Solar generation falls between about 06:00 and 18:00, so it overlaps the first nine hours of the peak window but none of the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Rates verified line by line against the June 2025 invoice (rate code 4224, 22-33 kV): the full bill reconstructs from these values to within 0.01 THB. June 2025: 631,580 kWh, 1,368 kW on-peak maximum, Ft 0.1972 THB/kWh, pre-VAT subtotal THB 2,407,767, amount due THB 2.58 million. Ft is revised every four months: 0.3672 (Jan-Apr 2025), 0.1972 (May-Aug 2025), 0.1572 (Sep-Dec 2025), 0.0972 (Jan-Apr 2026), 0.1623 (May-Aug 2026). A power-factor charge of 56.07 THB per kVAR applies above the tariff allowance; monthly kVAR data were not supplied, so it is not modelled.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Roof conversion as in the September memo: 65 percent of the outlined area usable at 0.20 kWp per usable m2, which is 0.13 kWp per outlined m2. Cost inputs from Keen's quotation: 500 USD/kWp installed for PV (the top of the confirmed C&amp;I rooftop range), 100 USD/kW plus 150 USD/kWh for the battery. O&amp;M was supplied at 1.5 percent of PV capex (7.50 USD/kWp per year); the optimiser rounds cost parameters to whole dollars and applied 8.00, which the workbooks disclose. Battery O&amp;M 1 percent of its install cost a year. The year-10 whole-system replacement at 100 percent of install cost is the conservative case; the PV inverter replacement at 10 percent of PV capex in year 11 is an Allotrope convention awaiting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Discount rate 11 percent (client-confirmed; a Thai rooftop developer cost of equity, on the conservative side for a factory investing in its own roof). Debt 70 percent at 6.5 percent over 10 years, provisional: the rate tracks Thai commercial bank MLR at end 2025; the fraction and tenor are placeholders pending confirmation. Emissions are an Allotrope calculation: avoided grid import times the TGO grid factor of 0.4750 kg CO2e per kWh (2022-2024 vintage, effective 1 January 2026); the optimiser's own emissions outputs are built on US datasets and are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 1 and 2 cap the array at roof F (433 kWp), cases 3 and 4 at all seven roofs (2,122 kWp); the even-numbered cases let the optimiser add storage up to 4 MW / 16 MWh and choose its size. Case 5 is the memo's unconstrained storage case (PV free up to the 3,230 kVA connection), carried over as the reference optimum; the memo's three survey-width cases and its unconstrained PV-only case are retired. All five solved to optimality with every other input as in the memo: 500 USD/kWp, 100 USD/kW plus 150 USD/kWh, no export, direct ownership, 70 percent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from the five pro forma workbooks (15 September 2026). Financing throughout is 70 percent debt at 6.5 percent over 10 years, 20 year life, 11 percent discount rate. Case 1 equity 64,920 USD against 151,480 USD of debt; case 4 equity 355,828 USD against 830,266 USD. Grid offset is on the memo's grid-to-load basis; the workbooks' figure also nets grid-to-storage and reads lower for the storage cases. Equity IRR falls as the system grows because each additional kilowatt is pushed further from the load; NPV, not IRR, is the figure to size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Equity NPV at 11 percent and equity IRR from the five workbooks. NPV rises with size from 389,829 USD on roof F to 1,612,795 USD on all roofs with storage and 1,855,912 USD at the unconstrained optimum; IRR falls from 75.5% to 49.6%. Cases 1 and 2 are indistinguishable on both measures: the roof F battery is a rounding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4 average day across 2025 from the optimiser's dispatch: PV serves the daytime load and charges the battery late morning when the array would otherwise be curtailed; the battery also charges from the grid off-peak overnight, discharges on the morning ramp (about 37 percent of its output) and into the evening on-peak hours (about 56 percent). Year 1 case 4: storage to load 193 MWh, PV to storage 128 MWh, grid to storage 86 MWh, PV curtailed 277 MWh (9.0%), demand charge savings 21,714 USD. Comparing cases 3 and 4 (identical arrays): curtailment falls from 13.2% to 9.0% when storage is added. On roof F (cases 1 and 2) the array is small against the load, curtailment is 1.4%, and the optimiser adds only 33 kW / 50 kWh for 1,649 USD a year of demand charge: below any practical battery size, so roof F is treated as PV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Debt service coverage by year from the case 4 and case 5 workbooks (case 1, PV only, for comparison). The whole battery system is replaced in year 10 at 100 percent of install cost, the same year as the last of ten level debt payments. Case 4, year 10: cash available for debt service 213,566 USD against a payment of 115,494 USD after a 125,344 USD replacement: coverage 1.85 in that one year against 2.74 on average, still above a typical 1.2 covenant. Case 5, with a battery three times larger, is the case that breaks: 109,516 against 171,027 USD, coverage 0.64. Neither a reserve nor a longer tenor has been modelled, deliberately, so the raw effect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Benchmarks: Krungsri Research puts Thai C&amp;I rooftop at THB 20,000 to 25,000 per kWp (615 to 769 USD at 32.5); Farungsang, Varquez and Tokimatsu (MDPI Sustainability 17(15):7052, August 2025) assume 767 USD/kWp. The 500 USD/kWp used here is Keen's quotation, about 19 percent below the bottom of that range; a current quotation is better evidence than a published average, but every return in the deck scales off it. Curtailment: the site is modelled with no export, so surplus generation is lost: 1.4% on roof F, 13.2% on all roofs without storage, 9.0% with. If export at any reasonable price can be negotiated, the larger systems improve and the optimal size rises. No price was assumed because none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Phase 1 is roof F, PV only (case 1): the roof is new, the array is small against the load, curtailment is negligible and the battery the optimiser would add is a token. Phase 2 extends to the six older roofs with storage (case 4) once a structural and sheeting review clears them; its figures here are the difference between cases 4 and 1, not a modelled sequence, so a phased build would be re-priced for mobilisation and for the timing of the second array. Case 5 remains the reference: the measured roof carries three quarters of the unconstrained optimum. Next steps in order of value: commission the roof condition review of A to E and G; obtain an EPC quotation for roof F against 500 USD/kWp; decide on grid export; supply monthly kVAR maxima. Permits: an ERC generation licence and an Aor.6 building modification permit are required; no environmental assessment below 5 MWp.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inputs are Allotrope estimates rather than confirmed figures and are marked 'PLACEHOLDER - pending Keen confirmation' on the Assumptions sheet of each workbook. The roof area itself is now measured; what remains provisional is the usable share (65 percent) and the condition of the six older roofs. The debt fraction and tenor and the insurance rate are the other inputs that move the answer. The rest are immaterial at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REopt (NREL) v0.57 via the Allotrope REopt API fork, HiGHS solver, 15 minute resolution, one metered year (2025). PVWatts irradiance and production factor for the site coordinates. Emissions from the TGO grid factor, not the optimiser. Permitting thresholds: initial environmental examination at 5 MWp, full assessment at 10 MWp; this project is under 3 MWp. Five workbooks accompany this edition, one per case, each with the full cash flow, the assumptions with sources, and the dispatch profile; case inputs, solver payload and raw results sit beside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1"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8.xml"/><Relationship Id="rId3" Type="http://schemas.openxmlformats.org/officeDocument/2006/relationships/chart" Target="/ppt/charts/chart9.xml"/><Relationship Id="rId1" Type="http://schemas.openxmlformats.org/officeDocument/2006/relationships/image" Target="../media/image-15-1.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68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495300" y="552450"/>
            <a:ext cx="4095750" cy="5753100"/>
          </a:xfrm>
          <a:prstGeom prst="roundRect">
            <a:avLst>
              <a:gd name="adj" fmla="val 13023"/>
            </a:avLst>
          </a:prstGeom>
          <a:solidFill>
            <a:srgbClr val="17685F"/>
          </a:solidFill>
          <a:ln w="12700">
            <a:solidFill>
              <a:srgbClr val="17685F"/>
            </a:solidFill>
            <a:prstDash val="solid"/>
          </a:ln>
        </p:spPr>
      </p:sp>
      <p:sp>
        <p:nvSpPr>
          <p:cNvPr id="4" name="Text 1"/>
          <p:cNvSpPr txBox="1"/>
          <p:nvPr/>
        </p:nvSpPr>
        <p:spPr>
          <a:xfrm>
            <a:off x="876300" y="1619250"/>
            <a:ext cx="3429000" cy="142875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Rofu Thailand</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rooftop solar and storage</a:t>
            </a:r>
            <a:endParaRPr lang="en-US" sz="3400" dirty="0"/>
          </a:p>
        </p:txBody>
      </p:sp>
      <p:sp>
        <p:nvSpPr>
          <p:cNvPr id="5" name="Text 2"/>
          <p:cNvSpPr txBox="1"/>
          <p:nvPr/>
        </p:nvSpPr>
        <p:spPr>
          <a:xfrm>
            <a:off x="876300" y="3333750"/>
            <a:ext cx="3333750" cy="1428750"/>
          </a:xfrm>
          <a:prstGeom prst="rect">
            <a:avLst/>
          </a:prstGeom>
          <a:noFill/>
          <a:ln/>
        </p:spPr>
        <p:txBody>
          <a:bodyPr wrap="square" lIns="0" tIns="0" rIns="0" bIns="0" rtlCol="0" anchor="t"/>
          <a:lstStyle/>
          <a:p>
            <a:pPr algn="l" indent="0" marL="0">
              <a:buNone/>
            </a:pPr>
            <a:r>
              <a:rPr lang="en-US" sz="1700" dirty="0">
                <a:solidFill>
                  <a:srgbClr val="FFFFFF"/>
                </a:solidFill>
                <a:latin typeface="Arial" pitchFamily="34" charset="0"/>
                <a:ea typeface="Arial" pitchFamily="34" charset="-122"/>
                <a:cs typeface="Arial" pitchFamily="34" charset="-120"/>
              </a:rPr>
              <a:t>Feasibility results on the measured roof: five configurations on the PEA time-of-use tariff, sized by optimisation and tested on a 20 year pro forma</a:t>
            </a:r>
            <a:endParaRPr lang="en-US" sz="1700" dirty="0"/>
          </a:p>
        </p:txBody>
      </p:sp>
      <p:sp>
        <p:nvSpPr>
          <p:cNvPr id="6" name="Text 3"/>
          <p:cNvSpPr txBox="1"/>
          <p:nvPr/>
        </p:nvSpPr>
        <p:spPr>
          <a:xfrm>
            <a:off x="876300" y="5334000"/>
            <a:ext cx="3238500" cy="571500"/>
          </a:xfrm>
          <a:prstGeom prst="rect">
            <a:avLst/>
          </a:prstGeom>
          <a:noFill/>
          <a:ln/>
        </p:spPr>
        <p:txBody>
          <a:bodyPr wrap="square" lIns="0" tIns="0" rIns="0" bIns="0" rtlCol="0" anchor="t"/>
          <a:lstStyle/>
          <a:p>
            <a:pPr algn="l" indent="0" marL="0">
              <a:buNone/>
            </a:pPr>
            <a:r>
              <a:rPr lang="en-US" sz="1400" dirty="0">
                <a:solidFill>
                  <a:srgbClr val="CFE7E2"/>
                </a:solidFill>
                <a:latin typeface="Arial" pitchFamily="34" charset="0"/>
                <a:ea typeface="Arial" pitchFamily="34" charset="-122"/>
                <a:cs typeface="Arial" pitchFamily="34" charset="-120"/>
              </a:rPr>
              <a:t>Prepared by Allotrope Partners</a:t>
            </a:r>
            <a:endParaRPr lang="en-US" sz="1400" dirty="0"/>
          </a:p>
          <a:p>
            <a:pPr algn="l" indent="0" marL="0">
              <a:buNone/>
            </a:pPr>
            <a:r>
              <a:rPr lang="en-US" sz="1400" dirty="0">
                <a:solidFill>
                  <a:srgbClr val="CFE7E2"/>
                </a:solidFill>
                <a:latin typeface="Arial" pitchFamily="34" charset="0"/>
                <a:ea typeface="Arial" pitchFamily="34" charset="-122"/>
                <a:cs typeface="Arial" pitchFamily="34" charset="-120"/>
              </a:rPr>
              <a:t>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Summary: roof F pays alone; all roofs earn four times as much</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2</a:t>
            </a:r>
            <a:endParaRPr lang="en-US" sz="1000" dirty="0"/>
          </a:p>
        </p:txBody>
      </p:sp>
      <p:sp>
        <p:nvSpPr>
          <p:cNvPr id="8" name="Shape 4"/>
          <p:cNvSpPr/>
          <p:nvPr/>
        </p:nvSpPr>
        <p:spPr>
          <a:xfrm>
            <a:off x="514350" y="1200150"/>
            <a:ext cx="2628900" cy="1600200"/>
          </a:xfrm>
          <a:prstGeom prst="roundRect">
            <a:avLst>
              <a:gd name="adj" fmla="val 10714"/>
            </a:avLst>
          </a:prstGeom>
          <a:solidFill>
            <a:srgbClr val="FFFFFF"/>
          </a:solidFill>
          <a:ln w="12700">
            <a:solidFill>
              <a:srgbClr val="8AB8B0"/>
            </a:solidFill>
            <a:prstDash val="solid"/>
          </a:ln>
        </p:spPr>
      </p:sp>
      <p:sp>
        <p:nvSpPr>
          <p:cNvPr id="9" name="Text 5"/>
          <p:cNvSpPr txBox="1"/>
          <p:nvPr/>
        </p:nvSpPr>
        <p:spPr>
          <a:xfrm>
            <a:off x="6858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16,319 m2</a:t>
            </a:r>
            <a:endParaRPr lang="en-US" sz="2100" dirty="0"/>
          </a:p>
        </p:txBody>
      </p:sp>
      <p:sp>
        <p:nvSpPr>
          <p:cNvPr id="10" name="Text 6"/>
          <p:cNvSpPr txBox="1"/>
          <p:nvPr/>
        </p:nvSpPr>
        <p:spPr>
          <a:xfrm>
            <a:off x="6858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measured roof on seven buildings; roof F (3,329 m2, replaced 1 to 2 years ago) carries 433 kWp, all roofs 2,122 kWp</a:t>
            </a:r>
            <a:endParaRPr lang="en-US" sz="1150" dirty="0"/>
          </a:p>
        </p:txBody>
      </p:sp>
      <p:sp>
        <p:nvSpPr>
          <p:cNvPr id="11" name="Shape 7"/>
          <p:cNvSpPr/>
          <p:nvPr/>
        </p:nvSpPr>
        <p:spPr>
          <a:xfrm>
            <a:off x="3333750" y="1200150"/>
            <a:ext cx="2628900" cy="1600200"/>
          </a:xfrm>
          <a:prstGeom prst="roundRect">
            <a:avLst>
              <a:gd name="adj" fmla="val 10714"/>
            </a:avLst>
          </a:prstGeom>
          <a:solidFill>
            <a:srgbClr val="FFFFFF"/>
          </a:solidFill>
          <a:ln w="12700">
            <a:solidFill>
              <a:srgbClr val="8AB8B0"/>
            </a:solidFill>
            <a:prstDash val="solid"/>
          </a:ln>
        </p:spPr>
      </p:sp>
      <p:sp>
        <p:nvSpPr>
          <p:cNvPr id="12" name="Text 8"/>
          <p:cNvSpPr txBox="1"/>
          <p:nvPr/>
        </p:nvSpPr>
        <p:spPr>
          <a:xfrm>
            <a:off x="35052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433 / 2,122 kWp</a:t>
            </a:r>
            <a:endParaRPr lang="en-US" sz="2100" dirty="0"/>
          </a:p>
        </p:txBody>
      </p:sp>
      <p:sp>
        <p:nvSpPr>
          <p:cNvPr id="13" name="Text 9"/>
          <p:cNvSpPr txBox="1"/>
          <p:nvPr/>
        </p:nvSpPr>
        <p:spPr>
          <a:xfrm>
            <a:off x="35052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the two roof groups; storage is immaterial on roof F (50 kWh) and selected on all roofs (303 kW / 634 kWh)</a:t>
            </a:r>
            <a:endParaRPr lang="en-US" sz="1150" dirty="0"/>
          </a:p>
        </p:txBody>
      </p:sp>
      <p:sp>
        <p:nvSpPr>
          <p:cNvPr id="14" name="Shape 10"/>
          <p:cNvSpPr/>
          <p:nvPr/>
        </p:nvSpPr>
        <p:spPr>
          <a:xfrm>
            <a:off x="6153150" y="1200150"/>
            <a:ext cx="2628900" cy="1600200"/>
          </a:xfrm>
          <a:prstGeom prst="roundRect">
            <a:avLst>
              <a:gd name="adj" fmla="val 10714"/>
            </a:avLst>
          </a:prstGeom>
          <a:solidFill>
            <a:srgbClr val="FFFFFF"/>
          </a:solidFill>
          <a:ln w="12700">
            <a:solidFill>
              <a:srgbClr val="8AB8B0"/>
            </a:solidFill>
            <a:prstDash val="solid"/>
          </a:ln>
        </p:spPr>
      </p:sp>
      <p:sp>
        <p:nvSpPr>
          <p:cNvPr id="15" name="Text 11"/>
          <p:cNvSpPr txBox="1"/>
          <p:nvPr/>
        </p:nvSpPr>
        <p:spPr>
          <a:xfrm>
            <a:off x="63246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77k-357k USD</a:t>
            </a:r>
            <a:endParaRPr lang="en-US" sz="2100" dirty="0"/>
          </a:p>
        </p:txBody>
      </p:sp>
      <p:sp>
        <p:nvSpPr>
          <p:cNvPr id="16" name="Text 12"/>
          <p:cNvSpPr txBox="1"/>
          <p:nvPr/>
        </p:nvSpPr>
        <p:spPr>
          <a:xfrm>
            <a:off x="63246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year-1 bill savings, roof F alone to all roofs with storage, against a business-as-usual bill of 843,443 USD</a:t>
            </a:r>
            <a:endParaRPr lang="en-US" sz="1150" dirty="0"/>
          </a:p>
        </p:txBody>
      </p:sp>
      <p:sp>
        <p:nvSpPr>
          <p:cNvPr id="17" name="Shape 13"/>
          <p:cNvSpPr/>
          <p:nvPr/>
        </p:nvSpPr>
        <p:spPr>
          <a:xfrm>
            <a:off x="8972550" y="1200150"/>
            <a:ext cx="2628900" cy="1600200"/>
          </a:xfrm>
          <a:prstGeom prst="roundRect">
            <a:avLst>
              <a:gd name="adj" fmla="val 10714"/>
            </a:avLst>
          </a:prstGeom>
          <a:solidFill>
            <a:srgbClr val="FFFFFF"/>
          </a:solidFill>
          <a:ln w="12700">
            <a:solidFill>
              <a:srgbClr val="8AB8B0"/>
            </a:solidFill>
            <a:prstDash val="solid"/>
          </a:ln>
        </p:spPr>
      </p:sp>
      <p:sp>
        <p:nvSpPr>
          <p:cNvPr id="18" name="Text 14"/>
          <p:cNvSpPr txBox="1"/>
          <p:nvPr/>
        </p:nvSpPr>
        <p:spPr>
          <a:xfrm>
            <a:off x="91440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0.39-1.61 M USD</a:t>
            </a:r>
            <a:endParaRPr lang="en-US" sz="2100" dirty="0"/>
          </a:p>
        </p:txBody>
      </p:sp>
      <p:sp>
        <p:nvSpPr>
          <p:cNvPr id="19" name="Text 15"/>
          <p:cNvSpPr txBox="1"/>
          <p:nvPr/>
        </p:nvSpPr>
        <p:spPr>
          <a:xfrm>
            <a:off x="91440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equity NPV at 11 percent over 20 years; equity IRR 60.3% to 75.5% on 70 percent debt</a:t>
            </a:r>
            <a:endParaRPr lang="en-US" sz="1150" dirty="0"/>
          </a:p>
        </p:txBody>
      </p:sp>
      <p:sp>
        <p:nvSpPr>
          <p:cNvPr id="20" name="Text 16"/>
          <p:cNvSpPr txBox="1"/>
          <p:nvPr/>
        </p:nvSpPr>
        <p:spPr>
          <a:xfrm>
            <a:off x="514350" y="3028950"/>
            <a:ext cx="57150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What the analysis found</a:t>
            </a:r>
            <a:endParaRPr lang="en-US" sz="1800" dirty="0"/>
          </a:p>
        </p:txBody>
      </p:sp>
      <p:sp>
        <p:nvSpPr>
          <p:cNvPr id="21" name="Text 17"/>
          <p:cNvSpPr txBox="1"/>
          <p:nvPr/>
        </p:nvSpPr>
        <p:spPr>
          <a:xfrm>
            <a:off x="514350" y="3390900"/>
            <a:ext cx="6858000" cy="285750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43B37"/>
                </a:solidFill>
                <a:latin typeface="Arial" pitchFamily="34" charset="0"/>
                <a:ea typeface="Arial" pitchFamily="34" charset="-122"/>
                <a:cs typeface="Arial" pitchFamily="34" charset="-120"/>
              </a:rPr>
              <a:t>Roof F alone is a sound first project: 216,400 USD of capex, 77,247 USD of year-1 savings, equity IRR 75.5%, and almost no curtailment (1.4%) because the array is small against a 1.15 MW daytime load.</a:t>
            </a:r>
            <a:endParaRPr lang="en-US" sz="1350" dirty="0"/>
          </a:p>
          <a:p>
            <a:pPr marL="203200" indent="-203200">
              <a:spcAft>
                <a:spcPts val="800"/>
              </a:spcAft>
              <a:buSzPct val="100000"/>
              <a:buChar char="•"/>
            </a:pPr>
            <a:r>
              <a:rPr lang="en-US" sz="1350" dirty="0">
                <a:solidFill>
                  <a:srgbClr val="143B37"/>
                </a:solidFill>
                <a:latin typeface="Arial" pitchFamily="34" charset="0"/>
                <a:ea typeface="Arial" pitchFamily="34" charset="-122"/>
                <a:cs typeface="Arial" pitchFamily="34" charset="-120"/>
              </a:rPr>
              <a:t>The other six roofs hold four fifths of the value: all roofs with storage lifts NPV from 0.39 to 1.61 M USD, at the cost of a condition review those roofs have not had.</a:t>
            </a:r>
            <a:endParaRPr lang="en-US" sz="1350" dirty="0"/>
          </a:p>
          <a:p>
            <a:pPr marL="203200" indent="-203200">
              <a:spcAft>
                <a:spcPts val="800"/>
              </a:spcAft>
              <a:buSzPct val="100000"/>
              <a:buChar char="•"/>
            </a:pPr>
            <a:r>
              <a:rPr lang="en-US" sz="1350" dirty="0">
                <a:solidFill>
                  <a:srgbClr val="143B37"/>
                </a:solidFill>
                <a:latin typeface="Arial" pitchFamily="34" charset="0"/>
                <a:ea typeface="Arial" pitchFamily="34" charset="-122"/>
                <a:cs typeface="Arial" pitchFamily="34" charset="-120"/>
              </a:rPr>
              <a:t>Storage only earns at scale. On roof F the optimiser adds a token 50 kWh; on all roofs it adds 634 kWh, recovering curtailed energy (13.2% without storage, 9.0% with) and clipping the monthly peak.</a:t>
            </a:r>
            <a:endParaRPr lang="en-US" sz="1350" dirty="0"/>
          </a:p>
          <a:p>
            <a:pPr marL="203200" indent="-203200">
              <a:spcAft>
                <a:spcPts val="800"/>
              </a:spcAft>
              <a:buSzPct val="100000"/>
              <a:buChar char="•"/>
            </a:pPr>
            <a:r>
              <a:rPr lang="en-US" sz="1350" dirty="0">
                <a:solidFill>
                  <a:srgbClr val="143B37"/>
                </a:solidFill>
                <a:latin typeface="Arial" pitchFamily="34" charset="0"/>
                <a:ea typeface="Arial" pitchFamily="34" charset="-122"/>
                <a:cs typeface="Arial" pitchFamily="34" charset="-120"/>
              </a:rPr>
              <a:t>Every return still scales off the 500 USD/kWp quotation, below published Thai benchmarks; the price is worth confirming before anything else.</a:t>
            </a:r>
            <a:endParaRPr lang="en-US" sz="1350" dirty="0"/>
          </a:p>
        </p:txBody>
      </p:sp>
      <p:sp>
        <p:nvSpPr>
          <p:cNvPr id="22" name="Shape 18"/>
          <p:cNvSpPr/>
          <p:nvPr/>
        </p:nvSpPr>
        <p:spPr>
          <a:xfrm>
            <a:off x="7734300" y="3028950"/>
            <a:ext cx="4000500" cy="3162300"/>
          </a:xfrm>
          <a:prstGeom prst="roundRect">
            <a:avLst>
              <a:gd name="adj" fmla="val 5422"/>
            </a:avLst>
          </a:prstGeom>
          <a:solidFill>
            <a:srgbClr val="17685F"/>
          </a:solidFill>
          <a:ln w="12700">
            <a:solidFill>
              <a:srgbClr val="17685F"/>
            </a:solidFill>
            <a:prstDash val="solid"/>
          </a:ln>
        </p:spPr>
      </p:sp>
      <p:sp>
        <p:nvSpPr>
          <p:cNvPr id="23" name="Text 19"/>
          <p:cNvSpPr txBox="1"/>
          <p:nvPr/>
        </p:nvSpPr>
        <p:spPr>
          <a:xfrm>
            <a:off x="8001000" y="3238500"/>
            <a:ext cx="352425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Recommended path: two phases</a:t>
            </a:r>
            <a:endParaRPr lang="en-US" sz="1600" dirty="0"/>
          </a:p>
        </p:txBody>
      </p:sp>
      <p:sp>
        <p:nvSpPr>
          <p:cNvPr id="24" name="Text 20"/>
          <p:cNvSpPr txBox="1"/>
          <p:nvPr/>
        </p:nvSpPr>
        <p:spPr>
          <a:xfrm>
            <a:off x="8001000" y="3619500"/>
            <a:ext cx="3524250" cy="2476500"/>
          </a:xfrm>
          <a:prstGeom prst="rect">
            <a:avLst/>
          </a:prstGeom>
          <a:noFill/>
          <a:ln/>
        </p:spPr>
        <p:txBody>
          <a:bodyPr wrap="square" lIns="0" tIns="0" rIns="0" bIns="0" rtlCol="0" anchor="t"/>
          <a:lstStyle/>
          <a:p>
            <a:pPr marL="203200" indent="-2032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Phase 1, roof F, PV only (case 1): 433 kWp, 216,400 USD, NPV 389,829 USD. No structural question; can proceed to an EPC quotation now.</a:t>
            </a:r>
            <a:endParaRPr lang="en-US" sz="1200" dirty="0"/>
          </a:p>
          <a:p>
            <a:pPr marL="203200" indent="-2032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Phase 2, the six older roofs with storage (case 4 less case 1): about 1,689 kWp and 634 kWh more, 969,694 USD more capex, 1,222,965 USD more NPV; conditional on the roof condition review.</a:t>
            </a:r>
            <a:endParaRPr lang="en-US" sz="1200" dirty="0"/>
          </a:p>
          <a:p>
            <a:pPr marL="203200" indent="-2032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Reference: the unconstrained optimum (case 5) remains 2,847 kWp; the measured roof carries three quarters of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Scope and method</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3</a:t>
            </a:r>
            <a:endParaRPr lang="en-US" sz="1000" dirty="0"/>
          </a:p>
        </p:txBody>
      </p:sp>
      <p:sp>
        <p:nvSpPr>
          <p:cNvPr id="8" name="Text 4"/>
          <p:cNvSpPr txBox="1"/>
          <p:nvPr/>
        </p:nvSpPr>
        <p:spPr>
          <a:xfrm>
            <a:off x="514350" y="1219200"/>
            <a:ext cx="36195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Question</a:t>
            </a:r>
            <a:endParaRPr lang="en-US" sz="1800" dirty="0"/>
          </a:p>
        </p:txBody>
      </p:sp>
      <p:sp>
        <p:nvSpPr>
          <p:cNvPr id="9" name="Text 5"/>
          <p:cNvSpPr txBox="1"/>
          <p:nvPr/>
        </p:nvSpPr>
        <p:spPr>
          <a:xfrm>
            <a:off x="514350" y="1543050"/>
            <a:ext cx="3619500" cy="1143000"/>
          </a:xfrm>
          <a:prstGeom prst="rect">
            <a:avLst/>
          </a:prstGeom>
          <a:noFill/>
          <a:ln/>
        </p:spPr>
        <p:txBody>
          <a:bodyPr wrap="square" lIns="0" tIns="0" rIns="0" bIns="0" rtlCol="0" anchor="t"/>
          <a:lstStyle/>
          <a:p>
            <a:pPr algn="l" indent="0" marL="0">
              <a:buNone/>
            </a:pPr>
            <a:r>
              <a:rPr lang="en-US" sz="1400" dirty="0">
                <a:solidFill>
                  <a:srgbClr val="143B37"/>
                </a:solidFill>
                <a:latin typeface="Arial" pitchFamily="34" charset="0"/>
                <a:ea typeface="Arial" pitchFamily="34" charset="-122"/>
                <a:cs typeface="Arial" pitchFamily="34" charset="-120"/>
              </a:rPr>
              <a:t>How much rooftop solar, with or without battery storage, should Rofu Thailand install under its current PEA tariff, and what does the investment return over 20 years?</a:t>
            </a:r>
            <a:endParaRPr lang="en-US" sz="1400" dirty="0"/>
          </a:p>
        </p:txBody>
      </p:sp>
      <p:sp>
        <p:nvSpPr>
          <p:cNvPr id="10" name="Text 6"/>
          <p:cNvSpPr txBox="1"/>
          <p:nvPr/>
        </p:nvSpPr>
        <p:spPr>
          <a:xfrm>
            <a:off x="514350" y="2857500"/>
            <a:ext cx="36195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Method</a:t>
            </a:r>
            <a:endParaRPr lang="en-US" sz="1800" dirty="0"/>
          </a:p>
        </p:txBody>
      </p:sp>
      <p:sp>
        <p:nvSpPr>
          <p:cNvPr id="11" name="Text 7"/>
          <p:cNvSpPr txBox="1"/>
          <p:nvPr/>
        </p:nvSpPr>
        <p:spPr>
          <a:xfrm>
            <a:off x="514350" y="3200400"/>
            <a:ext cx="3619500" cy="28575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Dispatch and sizing: REopt optimisation at 15 minute resolution, one full year of metered load, PVWatts irradiance for Phimai, no grid export.</a:t>
            </a:r>
            <a:endParaRPr lang="en-US" sz="1300" dirty="0"/>
          </a:p>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Economics: 20 year pro forma, direct ownership by the factory, 70 percent debt, Thai CIT and depreciation.</a:t>
            </a:r>
            <a:endParaRPr lang="en-US" sz="1300" dirty="0"/>
          </a:p>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Five cases: roof F and all roofs, each without and with storage, plus the unconstrained storage optimum from the memo.</a:t>
            </a:r>
            <a:endParaRPr lang="en-US" sz="1300" dirty="0"/>
          </a:p>
        </p:txBody>
      </p:sp>
      <p:sp>
        <p:nvSpPr>
          <p:cNvPr id="12" name="Text 8"/>
          <p:cNvSpPr txBox="1"/>
          <p:nvPr/>
        </p:nvSpPr>
        <p:spPr>
          <a:xfrm>
            <a:off x="4667250" y="1219200"/>
            <a:ext cx="70485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What changed since the 12 September memo</a:t>
            </a:r>
            <a:endParaRPr lang="en-US" sz="1800" dirty="0"/>
          </a:p>
        </p:txBody>
      </p:sp>
      <p:sp>
        <p:nvSpPr>
          <p:cNvPr id="13" name="Shape 9"/>
          <p:cNvSpPr/>
          <p:nvPr/>
        </p:nvSpPr>
        <p:spPr>
          <a:xfrm>
            <a:off x="4667250" y="1600200"/>
            <a:ext cx="7048500" cy="1409700"/>
          </a:xfrm>
          <a:prstGeom prst="roundRect">
            <a:avLst>
              <a:gd name="adj" fmla="val 12162"/>
            </a:avLst>
          </a:prstGeom>
          <a:solidFill>
            <a:srgbClr val="B7D9D2"/>
          </a:solidFill>
          <a:ln w="12700">
            <a:solidFill>
              <a:srgbClr val="B7D9D2"/>
            </a:solidFill>
            <a:prstDash val="solid"/>
          </a:ln>
        </p:spPr>
      </p:sp>
      <p:sp>
        <p:nvSpPr>
          <p:cNvPr id="14" name="Text 10"/>
          <p:cNvSpPr txBox="1"/>
          <p:nvPr/>
        </p:nvSpPr>
        <p:spPr>
          <a:xfrm>
            <a:off x="4876800" y="1771650"/>
            <a:ext cx="381000" cy="419100"/>
          </a:xfrm>
          <a:prstGeom prst="rect">
            <a:avLst/>
          </a:prstGeom>
          <a:noFill/>
          <a:ln/>
        </p:spPr>
        <p:txBody>
          <a:bodyPr wrap="square" lIns="0" tIns="0" rIns="0" bIns="0" rtlCol="0" anchor="t"/>
          <a:lstStyle/>
          <a:p>
            <a:pPr algn="l" indent="0" marL="0">
              <a:buNone/>
            </a:pPr>
            <a:r>
              <a:rPr lang="en-US" sz="3000" b="1" dirty="0">
                <a:solidFill>
                  <a:srgbClr val="143B37"/>
                </a:solidFill>
                <a:latin typeface="Arial" pitchFamily="34" charset="0"/>
                <a:ea typeface="Arial" pitchFamily="34" charset="-122"/>
                <a:cs typeface="Arial" pitchFamily="34" charset="-120"/>
              </a:rPr>
              <a:t>1</a:t>
            </a:r>
            <a:endParaRPr lang="en-US" sz="3000" dirty="0"/>
          </a:p>
        </p:txBody>
      </p:sp>
      <p:sp>
        <p:nvSpPr>
          <p:cNvPr id="15" name="Text 11"/>
          <p:cNvSpPr txBox="1"/>
          <p:nvPr/>
        </p:nvSpPr>
        <p:spPr>
          <a:xfrm>
            <a:off x="5391150" y="1752600"/>
            <a:ext cx="6096000" cy="285750"/>
          </a:xfrm>
          <a:prstGeom prst="rect">
            <a:avLst/>
          </a:prstGeom>
          <a:noFill/>
          <a:ln/>
        </p:spPr>
        <p:txBody>
          <a:bodyPr wrap="square" lIns="0" tIns="0" rIns="0" bIns="0" rtlCol="0" anchor="t"/>
          <a:lstStyle/>
          <a:p>
            <a:pPr algn="l" indent="0" marL="0">
              <a:buNone/>
            </a:pPr>
            <a:r>
              <a:rPr lang="en-US" sz="1700" b="1" dirty="0">
                <a:solidFill>
                  <a:srgbClr val="143B37"/>
                </a:solidFill>
                <a:latin typeface="Arial" pitchFamily="34" charset="0"/>
                <a:ea typeface="Arial" pitchFamily="34" charset="-122"/>
                <a:cs typeface="Arial" pitchFamily="34" charset="-120"/>
              </a:rPr>
              <a:t>The roof is measured</a:t>
            </a:r>
            <a:endParaRPr lang="en-US" sz="1700" dirty="0"/>
          </a:p>
        </p:txBody>
      </p:sp>
      <p:sp>
        <p:nvSpPr>
          <p:cNvPr id="16" name="Text 12"/>
          <p:cNvSpPr txBox="1"/>
          <p:nvPr/>
        </p:nvSpPr>
        <p:spPr>
          <a:xfrm>
            <a:off x="5391150" y="2076450"/>
            <a:ext cx="6096000" cy="41910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Seven buildings traced on satellite imagery: 16,319 m2 in total, of which roof F is 3,329 m2. The memo worked from a survey estimate of 12,960 to 16,200 m2.</a:t>
            </a:r>
            <a:endParaRPr lang="en-US" sz="1250" dirty="0"/>
          </a:p>
        </p:txBody>
      </p:sp>
      <p:sp>
        <p:nvSpPr>
          <p:cNvPr id="17" name="Text 13"/>
          <p:cNvSpPr txBox="1"/>
          <p:nvPr/>
        </p:nvSpPr>
        <p:spPr>
          <a:xfrm>
            <a:off x="5391150" y="2552700"/>
            <a:ext cx="6096000" cy="381000"/>
          </a:xfrm>
          <a:prstGeom prst="rect">
            <a:avLst/>
          </a:prstGeom>
          <a:noFill/>
          <a:ln/>
        </p:spPr>
        <p:txBody>
          <a:bodyPr wrap="square" lIns="0" tIns="0" rIns="0" bIns="0" rtlCol="0" anchor="t"/>
          <a:lstStyle/>
          <a:p>
            <a:pPr algn="l" indent="0" marL="0">
              <a:buNone/>
            </a:pPr>
            <a:r>
              <a:rPr lang="en-US" sz="1300" b="1" dirty="0">
                <a:solidFill>
                  <a:srgbClr val="143B37"/>
                </a:solidFill>
                <a:latin typeface="Arial" pitchFamily="34" charset="0"/>
                <a:ea typeface="Arial" pitchFamily="34" charset="-122"/>
                <a:cs typeface="Arial" pitchFamily="34" charset="-120"/>
              </a:rPr>
              <a:t>Capacity at the memo's 65 percent and 0.20 kWp/m2: 433 kWp on roof F, 2,122 kWp on all roofs</a:t>
            </a:r>
            <a:endParaRPr lang="en-US" sz="1300" dirty="0"/>
          </a:p>
        </p:txBody>
      </p:sp>
      <p:sp>
        <p:nvSpPr>
          <p:cNvPr id="18" name="Shape 14"/>
          <p:cNvSpPr/>
          <p:nvPr/>
        </p:nvSpPr>
        <p:spPr>
          <a:xfrm>
            <a:off x="4667250" y="3143250"/>
            <a:ext cx="7048500" cy="1409700"/>
          </a:xfrm>
          <a:prstGeom prst="roundRect">
            <a:avLst>
              <a:gd name="adj" fmla="val 12162"/>
            </a:avLst>
          </a:prstGeom>
          <a:solidFill>
            <a:srgbClr val="3F8E73"/>
          </a:solidFill>
          <a:ln w="12700">
            <a:solidFill>
              <a:srgbClr val="3F8E73"/>
            </a:solidFill>
            <a:prstDash val="solid"/>
          </a:ln>
        </p:spPr>
      </p:sp>
      <p:sp>
        <p:nvSpPr>
          <p:cNvPr id="19" name="Text 15"/>
          <p:cNvSpPr txBox="1"/>
          <p:nvPr/>
        </p:nvSpPr>
        <p:spPr>
          <a:xfrm>
            <a:off x="4876800" y="3314700"/>
            <a:ext cx="381000" cy="4191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20" name="Text 16"/>
          <p:cNvSpPr txBox="1"/>
          <p:nvPr/>
        </p:nvSpPr>
        <p:spPr>
          <a:xfrm>
            <a:off x="5391150" y="3295650"/>
            <a:ext cx="60960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Roof condition is known</a:t>
            </a:r>
            <a:endParaRPr lang="en-US" sz="1700" dirty="0"/>
          </a:p>
        </p:txBody>
      </p:sp>
      <p:sp>
        <p:nvSpPr>
          <p:cNvPr id="21" name="Text 17"/>
          <p:cNvSpPr txBox="1"/>
          <p:nvPr/>
        </p:nvSpPr>
        <p:spPr>
          <a:xfrm>
            <a:off x="5391150" y="3619500"/>
            <a:ext cx="6096000" cy="419100"/>
          </a:xfrm>
          <a:prstGeom prst="rect">
            <a:avLst/>
          </a:prstGeom>
          <a:noFill/>
          <a:ln/>
        </p:spPr>
        <p:txBody>
          <a:bodyPr wrap="square" lIns="0" tIns="0" rIns="0" bIns="0" rtlCol="0" anchor="t"/>
          <a:lstStyle/>
          <a:p>
            <a:pPr algn="l" indent="0" marL="0">
              <a:buNone/>
            </a:pPr>
            <a:r>
              <a:rPr lang="en-US" sz="1250" dirty="0">
                <a:solidFill>
                  <a:srgbClr val="FFFFFF"/>
                </a:solidFill>
                <a:latin typeface="Arial" pitchFamily="34" charset="0"/>
                <a:ea typeface="Arial" pitchFamily="34" charset="-122"/>
                <a:cs typeface="Arial" pitchFamily="34" charset="-120"/>
              </a:rPr>
              <a:t>Roof F was replaced one to two years ago after unrepairable leaks. The other six roofs are older, no replacement is planned, and their suitability has not been assessed.</a:t>
            </a:r>
            <a:endParaRPr lang="en-US" sz="1250" dirty="0"/>
          </a:p>
        </p:txBody>
      </p:sp>
      <p:sp>
        <p:nvSpPr>
          <p:cNvPr id="22" name="Text 18"/>
          <p:cNvSpPr txBox="1"/>
          <p:nvPr/>
        </p:nvSpPr>
        <p:spPr>
          <a:xfrm>
            <a:off x="5391150" y="4095750"/>
            <a:ext cx="6096000" cy="38100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The cases split into roof F alone and all seven roofs after a condition review</a:t>
            </a:r>
            <a:endParaRPr lang="en-US" sz="1300" dirty="0"/>
          </a:p>
        </p:txBody>
      </p:sp>
      <p:sp>
        <p:nvSpPr>
          <p:cNvPr id="23" name="Shape 19"/>
          <p:cNvSpPr/>
          <p:nvPr/>
        </p:nvSpPr>
        <p:spPr>
          <a:xfrm>
            <a:off x="4667250" y="4686300"/>
            <a:ext cx="7048500" cy="1409700"/>
          </a:xfrm>
          <a:prstGeom prst="roundRect">
            <a:avLst>
              <a:gd name="adj" fmla="val 12162"/>
            </a:avLst>
          </a:prstGeom>
          <a:solidFill>
            <a:srgbClr val="17685F"/>
          </a:solidFill>
          <a:ln w="12700">
            <a:solidFill>
              <a:srgbClr val="17685F"/>
            </a:solidFill>
            <a:prstDash val="solid"/>
          </a:ln>
        </p:spPr>
      </p:sp>
      <p:sp>
        <p:nvSpPr>
          <p:cNvPr id="24" name="Text 20"/>
          <p:cNvSpPr txBox="1"/>
          <p:nvPr/>
        </p:nvSpPr>
        <p:spPr>
          <a:xfrm>
            <a:off x="4876800" y="4857750"/>
            <a:ext cx="381000" cy="4191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25" name="Text 21"/>
          <p:cNvSpPr txBox="1"/>
          <p:nvPr/>
        </p:nvSpPr>
        <p:spPr>
          <a:xfrm>
            <a:off x="5391150" y="4838700"/>
            <a:ext cx="60960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Four cases re-run, one carried over</a:t>
            </a:r>
            <a:endParaRPr lang="en-US" sz="1700" dirty="0"/>
          </a:p>
        </p:txBody>
      </p:sp>
      <p:sp>
        <p:nvSpPr>
          <p:cNvPr id="26" name="Text 22"/>
          <p:cNvSpPr txBox="1"/>
          <p:nvPr/>
        </p:nvSpPr>
        <p:spPr>
          <a:xfrm>
            <a:off x="5391150" y="5162550"/>
            <a:ext cx="6096000" cy="419100"/>
          </a:xfrm>
          <a:prstGeom prst="rect">
            <a:avLst/>
          </a:prstGeom>
          <a:noFill/>
          <a:ln/>
        </p:spPr>
        <p:txBody>
          <a:bodyPr wrap="square" lIns="0" tIns="0" rIns="0" bIns="0" rtlCol="0" anchor="t"/>
          <a:lstStyle/>
          <a:p>
            <a:pPr algn="l" indent="0" marL="0">
              <a:buNone/>
            </a:pPr>
            <a:r>
              <a:rPr lang="en-US" sz="1250" dirty="0">
                <a:solidFill>
                  <a:srgbClr val="FFFFFF"/>
                </a:solidFill>
                <a:latin typeface="Arial" pitchFamily="34" charset="0"/>
                <a:ea typeface="Arial" pitchFamily="34" charset="-122"/>
                <a:cs typeface="Arial" pitchFamily="34" charset="-120"/>
              </a:rPr>
              <a:t>PV only and PV with storage on roof F and on all roofs, all other inputs as in the memo. Case 5 is the memo's unconstrained storage case, unchanged.</a:t>
            </a:r>
            <a:endParaRPr lang="en-US" sz="1250" dirty="0"/>
          </a:p>
        </p:txBody>
      </p:sp>
      <p:sp>
        <p:nvSpPr>
          <p:cNvPr id="27" name="Text 23"/>
          <p:cNvSpPr txBox="1"/>
          <p:nvPr/>
        </p:nvSpPr>
        <p:spPr>
          <a:xfrm>
            <a:off x="5391150" y="5638800"/>
            <a:ext cx="6096000" cy="38100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Five workbooks, one per case, replace the memo's six</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The facility: Rofu Thailand, Phimai</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4</a:t>
            </a:r>
            <a:endParaRPr lang="en-US" sz="1000" dirty="0"/>
          </a:p>
        </p:txBody>
      </p:sp>
      <p:sp>
        <p:nvSpPr>
          <p:cNvPr id="8" name="Shape 4"/>
          <p:cNvSpPr/>
          <p:nvPr/>
        </p:nvSpPr>
        <p:spPr>
          <a:xfrm>
            <a:off x="514350" y="1219200"/>
            <a:ext cx="4000500" cy="2381250"/>
          </a:xfrm>
          <a:prstGeom prst="roundRect">
            <a:avLst>
              <a:gd name="adj" fmla="val 7200"/>
            </a:avLst>
          </a:prstGeom>
          <a:solidFill>
            <a:srgbClr val="FFFFFF"/>
          </a:solidFill>
          <a:ln w="12700">
            <a:solidFill>
              <a:srgbClr val="8AB8B0"/>
            </a:solidFill>
            <a:prstDash val="solid"/>
          </a:ln>
        </p:spPr>
      </p:sp>
      <p:sp>
        <p:nvSpPr>
          <p:cNvPr id="9" name="Text 5"/>
          <p:cNvSpPr txBox="1"/>
          <p:nvPr/>
        </p:nvSpPr>
        <p:spPr>
          <a:xfrm>
            <a:off x="742950" y="1390650"/>
            <a:ext cx="3619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Supply</a:t>
            </a:r>
            <a:endParaRPr lang="en-US" sz="1700" dirty="0"/>
          </a:p>
        </p:txBody>
      </p:sp>
      <p:sp>
        <p:nvSpPr>
          <p:cNvPr id="10" name="Text 6"/>
          <p:cNvSpPr txBox="1"/>
          <p:nvPr/>
        </p:nvSpPr>
        <p:spPr>
          <a:xfrm>
            <a:off x="742950" y="1733550"/>
            <a:ext cx="3571875" cy="1809750"/>
          </a:xfrm>
          <a:prstGeom prst="rect">
            <a:avLst/>
          </a:prstGeom>
          <a:noFill/>
          <a:ln/>
        </p:spPr>
        <p:txBody>
          <a:bodyPr wrap="square" lIns="0" tIns="0" rIns="0" bIns="0" rtlCol="0" anchor="t"/>
          <a:lstStyle/>
          <a:p>
            <a:pPr algn="l" indent="0" marL="0">
              <a:buNone/>
            </a:pPr>
            <a:r>
              <a:rPr lang="en-US" sz="1300" b="1" dirty="0">
                <a:solidFill>
                  <a:srgbClr val="143B37"/>
                </a:solidFill>
                <a:latin typeface="Arial" pitchFamily="34" charset="0"/>
                <a:ea typeface="Arial" pitchFamily="34" charset="-122"/>
                <a:cs typeface="Arial" pitchFamily="34" charset="-120"/>
              </a:rPr>
              <a:t>Utility: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Provincial Electricity Authority, Phimai branch</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Tariff: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Schedule 4.2 Large General Service, time of use, 22-33 kV, rate code 4224</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Connection: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one grid connection, four transformers, 3,230 kVA installed (500 + 500 + 1,600 + 630)</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Location: </a:t>
            </a:r>
            <a:pPr algn="l" indent="0" marL="0">
              <a:buNone/>
            </a:pPr>
            <a:r>
              <a:rPr lang="en-US" sz="1300" dirty="0">
                <a:solidFill>
                  <a:srgbClr val="143B37"/>
                </a:solidFill>
                <a:latin typeface="Arial" pitchFamily="34" charset="0"/>
                <a:ea typeface="Arial" pitchFamily="34" charset="-122"/>
                <a:cs typeface="Arial" pitchFamily="34" charset="-120"/>
              </a:rPr>
              <a:t>Phimai district, Nakhon Ratchasima</a:t>
            </a:r>
            <a:endParaRPr lang="en-US" sz="1300" dirty="0"/>
          </a:p>
        </p:txBody>
      </p:sp>
      <p:sp>
        <p:nvSpPr>
          <p:cNvPr id="11" name="Shape 7"/>
          <p:cNvSpPr/>
          <p:nvPr/>
        </p:nvSpPr>
        <p:spPr>
          <a:xfrm>
            <a:off x="514350" y="3790950"/>
            <a:ext cx="4000500" cy="2381250"/>
          </a:xfrm>
          <a:prstGeom prst="roundRect">
            <a:avLst>
              <a:gd name="adj" fmla="val 7200"/>
            </a:avLst>
          </a:prstGeom>
          <a:solidFill>
            <a:srgbClr val="FFFFFF"/>
          </a:solidFill>
          <a:ln w="12700">
            <a:solidFill>
              <a:srgbClr val="8AB8B0"/>
            </a:solidFill>
            <a:prstDash val="solid"/>
          </a:ln>
        </p:spPr>
      </p:sp>
      <p:sp>
        <p:nvSpPr>
          <p:cNvPr id="12" name="Text 8"/>
          <p:cNvSpPr txBox="1"/>
          <p:nvPr/>
        </p:nvSpPr>
        <p:spPr>
          <a:xfrm>
            <a:off x="742950" y="3962400"/>
            <a:ext cx="3619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Roof</a:t>
            </a:r>
            <a:endParaRPr lang="en-US" sz="1700" dirty="0"/>
          </a:p>
        </p:txBody>
      </p:sp>
      <p:sp>
        <p:nvSpPr>
          <p:cNvPr id="13" name="Text 9"/>
          <p:cNvSpPr txBox="1"/>
          <p:nvPr/>
        </p:nvSpPr>
        <p:spPr>
          <a:xfrm>
            <a:off x="742950" y="4305300"/>
            <a:ext cx="3571875" cy="1714500"/>
          </a:xfrm>
          <a:prstGeom prst="rect">
            <a:avLst/>
          </a:prstGeom>
          <a:noFill/>
          <a:ln/>
        </p:spPr>
        <p:txBody>
          <a:bodyPr wrap="square" lIns="0" tIns="0" rIns="0" bIns="0" rtlCol="0" anchor="t"/>
          <a:lstStyle/>
          <a:p>
            <a:pPr algn="l" indent="0" marL="0">
              <a:buNone/>
            </a:pPr>
            <a:r>
              <a:rPr lang="en-US" sz="1300" b="1" dirty="0">
                <a:solidFill>
                  <a:srgbClr val="143B37"/>
                </a:solidFill>
                <a:latin typeface="Arial" pitchFamily="34" charset="0"/>
                <a:ea typeface="Arial" pitchFamily="34" charset="-122"/>
                <a:cs typeface="Arial" pitchFamily="34" charset="-120"/>
              </a:rPr>
              <a:t>Measured: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seven buildings, 16,319 m2 of roof from satellite imagery (next slide)</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Roof F: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3,329 m2, replaced one to two years ago after unrepairable leaks; the newest roof on site</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Roofs A to E and G: </a:t>
            </a:r>
            <a:pPr algn="l" indent="0" marL="0">
              <a:buNone/>
            </a:pPr>
            <a:r>
              <a:rPr lang="en-US" sz="1300" dirty="0">
                <a:solidFill>
                  <a:srgbClr val="143B37"/>
                </a:solidFill>
                <a:latin typeface="Arial" pitchFamily="34" charset="0"/>
                <a:ea typeface="Arial" pitchFamily="34" charset="-122"/>
                <a:cs typeface="Arial" pitchFamily="34" charset="-120"/>
              </a:rPr>
              <a:t>older, no replacement planned; condition to be reviewed before a solar decision</a:t>
            </a:r>
            <a:endParaRPr lang="en-US" sz="1300" dirty="0"/>
          </a:p>
        </p:txBody>
      </p:sp>
      <p:sp>
        <p:nvSpPr>
          <p:cNvPr id="14" name="Text 10"/>
          <p:cNvSpPr txBox="1"/>
          <p:nvPr/>
        </p:nvSpPr>
        <p:spPr>
          <a:xfrm>
            <a:off x="4953000" y="1219200"/>
            <a:ext cx="6667500" cy="26670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Metered electricity use, 2025 (MWh per month)</a:t>
            </a:r>
            <a:endParaRPr lang="en-US" sz="1500" dirty="0"/>
          </a:p>
        </p:txBody>
      </p:sp>
      <p:graphicFrame>
        <p:nvGraphicFramePr>
          <p:cNvPr id="15" name="Chart 0" descr=""/>
          <p:cNvGraphicFramePr/>
          <p:nvPr/>
        </p:nvGraphicFramePr>
        <p:xfrm>
          <a:off x="4953000" y="1524000"/>
          <a:ext cx="6762750" cy="2857500"/>
        </p:xfrm>
        <a:graphic xmlns:a="http://schemas.openxmlformats.org/drawingml/2006/main">
          <a:graphicData uri="http://schemas.openxmlformats.org/drawingml/2006/chart">
            <c:chart xmlns:c="http://schemas.openxmlformats.org/drawingml/2006/chart" r:id="rId2"/>
          </a:graphicData>
        </a:graphic>
      </p:graphicFrame>
      <p:sp>
        <p:nvSpPr>
          <p:cNvPr id="16" name="Shape 11"/>
          <p:cNvSpPr/>
          <p:nvPr/>
        </p:nvSpPr>
        <p:spPr>
          <a:xfrm>
            <a:off x="4953000" y="4572000"/>
            <a:ext cx="2152650" cy="1600200"/>
          </a:xfrm>
          <a:prstGeom prst="roundRect">
            <a:avLst>
              <a:gd name="adj" fmla="val 10714"/>
            </a:avLst>
          </a:prstGeom>
          <a:solidFill>
            <a:srgbClr val="FFFFFF"/>
          </a:solidFill>
          <a:ln w="12700">
            <a:solidFill>
              <a:srgbClr val="8AB8B0"/>
            </a:solidFill>
            <a:prstDash val="solid"/>
          </a:ln>
        </p:spPr>
      </p:sp>
      <p:sp>
        <p:nvSpPr>
          <p:cNvPr id="17" name="Text 12"/>
          <p:cNvSpPr txBox="1"/>
          <p:nvPr/>
        </p:nvSpPr>
        <p:spPr>
          <a:xfrm>
            <a:off x="5124450" y="4686300"/>
            <a:ext cx="1809750" cy="640080"/>
          </a:xfrm>
          <a:prstGeom prst="rect">
            <a:avLst/>
          </a:prstGeom>
          <a:noFill/>
          <a:ln/>
        </p:spPr>
        <p:txBody>
          <a:bodyPr wrap="square" lIns="0" tIns="0" rIns="0" bIns="0" rtlCol="0" anchor="ctr"/>
          <a:lstStyle/>
          <a:p>
            <a:pPr algn="l" indent="0" marL="0">
              <a:buNone/>
            </a:pPr>
            <a:r>
              <a:rPr lang="en-US" sz="2000" b="1" dirty="0">
                <a:solidFill>
                  <a:srgbClr val="17685F"/>
                </a:solidFill>
                <a:latin typeface="Arial" pitchFamily="34" charset="0"/>
                <a:ea typeface="Arial" pitchFamily="34" charset="-122"/>
                <a:cs typeface="Arial" pitchFamily="34" charset="-120"/>
              </a:rPr>
              <a:t>7.24 GWh</a:t>
            </a:r>
            <a:endParaRPr lang="en-US" sz="2000" dirty="0"/>
          </a:p>
        </p:txBody>
      </p:sp>
      <p:sp>
        <p:nvSpPr>
          <p:cNvPr id="18" name="Text 13"/>
          <p:cNvSpPr txBox="1"/>
          <p:nvPr/>
        </p:nvSpPr>
        <p:spPr>
          <a:xfrm>
            <a:off x="5124450" y="5372100"/>
            <a:ext cx="1809750" cy="736092"/>
          </a:xfrm>
          <a:prstGeom prst="rect">
            <a:avLst/>
          </a:prstGeom>
          <a:noFill/>
          <a:ln/>
        </p:spPr>
        <p:txBody>
          <a:bodyPr wrap="square" lIns="0" tIns="0" rIns="0" bIns="0" rtlCol="0" anchor="t"/>
          <a:lstStyle/>
          <a:p>
            <a:pPr algn="l" indent="0" marL="0">
              <a:buNone/>
            </a:pPr>
            <a:r>
              <a:rPr lang="en-US" sz="1200" dirty="0">
                <a:solidFill>
                  <a:srgbClr val="4D6D68"/>
                </a:solidFill>
                <a:latin typeface="Arial" pitchFamily="34" charset="0"/>
                <a:ea typeface="Arial" pitchFamily="34" charset="-122"/>
                <a:cs typeface="Arial" pitchFamily="34" charset="-120"/>
              </a:rPr>
              <a:t>annual consumption</a:t>
            </a:r>
            <a:endParaRPr lang="en-US" sz="1200" dirty="0"/>
          </a:p>
        </p:txBody>
      </p:sp>
      <p:sp>
        <p:nvSpPr>
          <p:cNvPr id="19" name="Shape 14"/>
          <p:cNvSpPr/>
          <p:nvPr/>
        </p:nvSpPr>
        <p:spPr>
          <a:xfrm>
            <a:off x="7239000" y="4572000"/>
            <a:ext cx="2152650" cy="1600200"/>
          </a:xfrm>
          <a:prstGeom prst="roundRect">
            <a:avLst>
              <a:gd name="adj" fmla="val 10714"/>
            </a:avLst>
          </a:prstGeom>
          <a:solidFill>
            <a:srgbClr val="FFFFFF"/>
          </a:solidFill>
          <a:ln w="12700">
            <a:solidFill>
              <a:srgbClr val="8AB8B0"/>
            </a:solidFill>
            <a:prstDash val="solid"/>
          </a:ln>
        </p:spPr>
      </p:sp>
      <p:sp>
        <p:nvSpPr>
          <p:cNvPr id="20" name="Text 15"/>
          <p:cNvSpPr txBox="1"/>
          <p:nvPr/>
        </p:nvSpPr>
        <p:spPr>
          <a:xfrm>
            <a:off x="7410450" y="4686300"/>
            <a:ext cx="1809750" cy="640080"/>
          </a:xfrm>
          <a:prstGeom prst="rect">
            <a:avLst/>
          </a:prstGeom>
          <a:noFill/>
          <a:ln/>
        </p:spPr>
        <p:txBody>
          <a:bodyPr wrap="square" lIns="0" tIns="0" rIns="0" bIns="0" rtlCol="0" anchor="ctr"/>
          <a:lstStyle/>
          <a:p>
            <a:pPr algn="l" indent="0" marL="0">
              <a:buNone/>
            </a:pPr>
            <a:r>
              <a:rPr lang="en-US" sz="2000" b="1" dirty="0">
                <a:solidFill>
                  <a:srgbClr val="17685F"/>
                </a:solidFill>
                <a:latin typeface="Arial" pitchFamily="34" charset="0"/>
                <a:ea typeface="Arial" pitchFamily="34" charset="-122"/>
                <a:cs typeface="Arial" pitchFamily="34" charset="-120"/>
              </a:rPr>
              <a:t>1.21-1.38 MW</a:t>
            </a:r>
            <a:endParaRPr lang="en-US" sz="2000" dirty="0"/>
          </a:p>
        </p:txBody>
      </p:sp>
      <p:sp>
        <p:nvSpPr>
          <p:cNvPr id="21" name="Text 16"/>
          <p:cNvSpPr txBox="1"/>
          <p:nvPr/>
        </p:nvSpPr>
        <p:spPr>
          <a:xfrm>
            <a:off x="7410450" y="5372100"/>
            <a:ext cx="1809750" cy="736092"/>
          </a:xfrm>
          <a:prstGeom prst="rect">
            <a:avLst/>
          </a:prstGeom>
          <a:noFill/>
          <a:ln/>
        </p:spPr>
        <p:txBody>
          <a:bodyPr wrap="square" lIns="0" tIns="0" rIns="0" bIns="0" rtlCol="0" anchor="t"/>
          <a:lstStyle/>
          <a:p>
            <a:pPr algn="l" indent="0" marL="0">
              <a:buNone/>
            </a:pPr>
            <a:r>
              <a:rPr lang="en-US" sz="1200" dirty="0">
                <a:solidFill>
                  <a:srgbClr val="4D6D68"/>
                </a:solidFill>
                <a:latin typeface="Arial" pitchFamily="34" charset="0"/>
                <a:ea typeface="Arial" pitchFamily="34" charset="-122"/>
                <a:cs typeface="Arial" pitchFamily="34" charset="-120"/>
              </a:rPr>
              <a:t>monthly on-peak maximum demand</a:t>
            </a:r>
            <a:endParaRPr lang="en-US" sz="1200" dirty="0"/>
          </a:p>
        </p:txBody>
      </p:sp>
      <p:sp>
        <p:nvSpPr>
          <p:cNvPr id="22" name="Shape 17"/>
          <p:cNvSpPr/>
          <p:nvPr/>
        </p:nvSpPr>
        <p:spPr>
          <a:xfrm>
            <a:off x="9525000" y="4572000"/>
            <a:ext cx="2152650" cy="1600200"/>
          </a:xfrm>
          <a:prstGeom prst="roundRect">
            <a:avLst>
              <a:gd name="adj" fmla="val 10714"/>
            </a:avLst>
          </a:prstGeom>
          <a:solidFill>
            <a:srgbClr val="FFFFFF"/>
          </a:solidFill>
          <a:ln w="12700">
            <a:solidFill>
              <a:srgbClr val="8AB8B0"/>
            </a:solidFill>
            <a:prstDash val="solid"/>
          </a:ln>
        </p:spPr>
      </p:sp>
      <p:sp>
        <p:nvSpPr>
          <p:cNvPr id="23" name="Text 18"/>
          <p:cNvSpPr txBox="1"/>
          <p:nvPr/>
        </p:nvSpPr>
        <p:spPr>
          <a:xfrm>
            <a:off x="9696450" y="4686300"/>
            <a:ext cx="1809750" cy="640080"/>
          </a:xfrm>
          <a:prstGeom prst="rect">
            <a:avLst/>
          </a:prstGeom>
          <a:noFill/>
          <a:ln/>
        </p:spPr>
        <p:txBody>
          <a:bodyPr wrap="square" lIns="0" tIns="0" rIns="0" bIns="0" rtlCol="0" anchor="ctr"/>
          <a:lstStyle/>
          <a:p>
            <a:pPr algn="l" indent="0" marL="0">
              <a:buNone/>
            </a:pPr>
            <a:r>
              <a:rPr lang="en-US" sz="2000" b="1" dirty="0">
                <a:solidFill>
                  <a:srgbClr val="17685F"/>
                </a:solidFill>
                <a:latin typeface="Arial" pitchFamily="34" charset="0"/>
                <a:ea typeface="Arial" pitchFamily="34" charset="-122"/>
                <a:cs typeface="Arial" pitchFamily="34" charset="-120"/>
              </a:rPr>
              <a:t>843,443 USD</a:t>
            </a:r>
            <a:endParaRPr lang="en-US" sz="2000" dirty="0"/>
          </a:p>
        </p:txBody>
      </p:sp>
      <p:sp>
        <p:nvSpPr>
          <p:cNvPr id="24" name="Text 19"/>
          <p:cNvSpPr txBox="1"/>
          <p:nvPr/>
        </p:nvSpPr>
        <p:spPr>
          <a:xfrm>
            <a:off x="9696450" y="5372100"/>
            <a:ext cx="1809750" cy="736092"/>
          </a:xfrm>
          <a:prstGeom prst="rect">
            <a:avLst/>
          </a:prstGeom>
          <a:noFill/>
          <a:ln/>
        </p:spPr>
        <p:txBody>
          <a:bodyPr wrap="square" lIns="0" tIns="0" rIns="0" bIns="0" rtlCol="0" anchor="t"/>
          <a:lstStyle/>
          <a:p>
            <a:pPr algn="l" indent="0" marL="0">
              <a:buNone/>
            </a:pPr>
            <a:r>
              <a:rPr lang="en-US" sz="1200" dirty="0">
                <a:solidFill>
                  <a:srgbClr val="4D6D68"/>
                </a:solidFill>
                <a:latin typeface="Arial" pitchFamily="34" charset="0"/>
                <a:ea typeface="Arial" pitchFamily="34" charset="-122"/>
                <a:cs typeface="Arial" pitchFamily="34" charset="-120"/>
              </a:rPr>
              <a:t>business-as-usual bill per year (THB 27.4 million)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The roof: seven buildings measured from satellite imagery</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5</a:t>
            </a:r>
            <a:endParaRPr lang="en-US" sz="1000" dirty="0"/>
          </a:p>
        </p:txBody>
      </p:sp>
      <p:pic>
        <p:nvPicPr>
          <p:cNvPr id="8" name="Image 1" descr="preencoded.png">    </p:cNvPr>
          <p:cNvPicPr>
            <a:picLocks noChangeAspect="1"/>
          </p:cNvPicPr>
          <p:nvPr/>
        </p:nvPicPr>
        <p:blipFill>
          <a:blip r:embed="rId2"/>
          <a:stretch>
            <a:fillRect/>
          </a:stretch>
        </p:blipFill>
        <p:spPr>
          <a:xfrm>
            <a:off x="514350" y="1200150"/>
            <a:ext cx="6667500" cy="3562350"/>
          </a:xfrm>
          <a:prstGeom prst="rect">
            <a:avLst/>
          </a:prstGeom>
        </p:spPr>
      </p:pic>
      <p:sp>
        <p:nvSpPr>
          <p:cNvPr id="9" name="Text 4"/>
          <p:cNvSpPr txBox="1"/>
          <p:nvPr/>
        </p:nvSpPr>
        <p:spPr>
          <a:xfrm>
            <a:off x="514350" y="4800600"/>
            <a:ext cx="6667500" cy="209550"/>
          </a:xfrm>
          <a:prstGeom prst="rect">
            <a:avLst/>
          </a:prstGeom>
          <a:noFill/>
          <a:ln/>
        </p:spPr>
        <p:txBody>
          <a:bodyPr wrap="square" lIns="0" tIns="0" rIns="0" bIns="0" rtlCol="0" anchor="t"/>
          <a:lstStyle/>
          <a:p>
            <a:pPr algn="l" indent="0" marL="0">
              <a:buNone/>
            </a:pPr>
            <a:r>
              <a:rPr lang="en-US" sz="1050" i="1" dirty="0">
                <a:solidFill>
                  <a:srgbClr val="4D6D68"/>
                </a:solidFill>
                <a:latin typeface="Arial" pitchFamily="34" charset="0"/>
                <a:ea typeface="Arial" pitchFamily="34" charset="-122"/>
                <a:cs typeface="Arial" pitchFamily="34" charset="-120"/>
              </a:rPr>
              <a:t>Satellite view with the seven roof outlines (A to G). Roof F, front of the site, is the replaced roof.</a:t>
            </a:r>
            <a:endParaRPr lang="en-US" sz="1050" dirty="0"/>
          </a:p>
        </p:txBody>
      </p:sp>
      <p:sp>
        <p:nvSpPr>
          <p:cNvPr id="10" name="Shape 5"/>
          <p:cNvSpPr/>
          <p:nvPr/>
        </p:nvSpPr>
        <p:spPr>
          <a:xfrm>
            <a:off x="514350" y="5086350"/>
            <a:ext cx="1581150" cy="476250"/>
          </a:xfrm>
          <a:prstGeom prst="roundRect">
            <a:avLst>
              <a:gd name="adj" fmla="val 24000"/>
            </a:avLst>
          </a:prstGeom>
          <a:solidFill>
            <a:srgbClr val="CFE7E2"/>
          </a:solidFill>
          <a:ln w="12700">
            <a:solidFill>
              <a:srgbClr val="CFE7E2"/>
            </a:solidFill>
            <a:prstDash val="solid"/>
          </a:ln>
        </p:spPr>
      </p:sp>
      <p:sp>
        <p:nvSpPr>
          <p:cNvPr id="11" name="Text 6"/>
          <p:cNvSpPr txBox="1"/>
          <p:nvPr/>
        </p:nvSpPr>
        <p:spPr>
          <a:xfrm>
            <a:off x="571500" y="5086350"/>
            <a:ext cx="1466850" cy="476250"/>
          </a:xfrm>
          <a:prstGeom prst="rect">
            <a:avLst/>
          </a:prstGeom>
          <a:noFill/>
          <a:ln/>
        </p:spPr>
        <p:txBody>
          <a:bodyPr wrap="square" lIns="0" tIns="0" rIns="0" bIns="0" rtlCol="0" anchor="ctr"/>
          <a:lstStyle/>
          <a:p>
            <a:pPr algn="ctr" indent="0" marL="0">
              <a:buNone/>
            </a:pPr>
            <a:r>
              <a:rPr lang="en-US" sz="1200" b="1" dirty="0">
                <a:solidFill>
                  <a:srgbClr val="143B37"/>
                </a:solidFill>
                <a:latin typeface="Arial" pitchFamily="34" charset="0"/>
                <a:ea typeface="Arial" pitchFamily="34" charset="-122"/>
                <a:cs typeface="Arial" pitchFamily="34" charset="-120"/>
              </a:rPr>
              <a:t>16,319 m2 outlined</a:t>
            </a:r>
            <a:endParaRPr lang="en-US" sz="1200" dirty="0"/>
          </a:p>
        </p:txBody>
      </p:sp>
      <p:sp>
        <p:nvSpPr>
          <p:cNvPr id="12" name="Shape 7"/>
          <p:cNvSpPr/>
          <p:nvPr/>
        </p:nvSpPr>
        <p:spPr>
          <a:xfrm>
            <a:off x="2209800" y="5086350"/>
            <a:ext cx="1581150" cy="476250"/>
          </a:xfrm>
          <a:prstGeom prst="roundRect">
            <a:avLst>
              <a:gd name="adj" fmla="val 24000"/>
            </a:avLst>
          </a:prstGeom>
          <a:solidFill>
            <a:srgbClr val="CFE7E2"/>
          </a:solidFill>
          <a:ln w="12700">
            <a:solidFill>
              <a:srgbClr val="CFE7E2"/>
            </a:solidFill>
            <a:prstDash val="solid"/>
          </a:ln>
        </p:spPr>
      </p:sp>
      <p:sp>
        <p:nvSpPr>
          <p:cNvPr id="13" name="Text 8"/>
          <p:cNvSpPr txBox="1"/>
          <p:nvPr/>
        </p:nvSpPr>
        <p:spPr>
          <a:xfrm>
            <a:off x="2266950" y="5086350"/>
            <a:ext cx="1466850" cy="476250"/>
          </a:xfrm>
          <a:prstGeom prst="rect">
            <a:avLst/>
          </a:prstGeom>
          <a:noFill/>
          <a:ln/>
        </p:spPr>
        <p:txBody>
          <a:bodyPr wrap="square" lIns="0" tIns="0" rIns="0" bIns="0" rtlCol="0" anchor="ctr"/>
          <a:lstStyle/>
          <a:p>
            <a:pPr algn="ctr" indent="0" marL="0">
              <a:buNone/>
            </a:pPr>
            <a:r>
              <a:rPr lang="en-US" sz="1200" b="1" dirty="0">
                <a:solidFill>
                  <a:srgbClr val="143B37"/>
                </a:solidFill>
                <a:latin typeface="Arial" pitchFamily="34" charset="0"/>
                <a:ea typeface="Arial" pitchFamily="34" charset="-122"/>
                <a:cs typeface="Arial" pitchFamily="34" charset="-120"/>
              </a:rPr>
              <a:t>x 65% usable</a:t>
            </a:r>
            <a:endParaRPr lang="en-US" sz="1200" dirty="0"/>
          </a:p>
        </p:txBody>
      </p:sp>
      <p:sp>
        <p:nvSpPr>
          <p:cNvPr id="14" name="Shape 9"/>
          <p:cNvSpPr/>
          <p:nvPr/>
        </p:nvSpPr>
        <p:spPr>
          <a:xfrm>
            <a:off x="3905250" y="5086350"/>
            <a:ext cx="1581150" cy="476250"/>
          </a:xfrm>
          <a:prstGeom prst="roundRect">
            <a:avLst>
              <a:gd name="adj" fmla="val 24000"/>
            </a:avLst>
          </a:prstGeom>
          <a:solidFill>
            <a:srgbClr val="CFE7E2"/>
          </a:solidFill>
          <a:ln w="12700">
            <a:solidFill>
              <a:srgbClr val="CFE7E2"/>
            </a:solidFill>
            <a:prstDash val="solid"/>
          </a:ln>
        </p:spPr>
      </p:sp>
      <p:sp>
        <p:nvSpPr>
          <p:cNvPr id="15" name="Text 10"/>
          <p:cNvSpPr txBox="1"/>
          <p:nvPr/>
        </p:nvSpPr>
        <p:spPr>
          <a:xfrm>
            <a:off x="3962400" y="5086350"/>
            <a:ext cx="1466850" cy="476250"/>
          </a:xfrm>
          <a:prstGeom prst="rect">
            <a:avLst/>
          </a:prstGeom>
          <a:noFill/>
          <a:ln/>
        </p:spPr>
        <p:txBody>
          <a:bodyPr wrap="square" lIns="0" tIns="0" rIns="0" bIns="0" rtlCol="0" anchor="ctr"/>
          <a:lstStyle/>
          <a:p>
            <a:pPr algn="ctr" indent="0" marL="0">
              <a:buNone/>
            </a:pPr>
            <a:r>
              <a:rPr lang="en-US" sz="1200" b="1" dirty="0">
                <a:solidFill>
                  <a:srgbClr val="143B37"/>
                </a:solidFill>
                <a:latin typeface="Arial" pitchFamily="34" charset="0"/>
                <a:ea typeface="Arial" pitchFamily="34" charset="-122"/>
                <a:cs typeface="Arial" pitchFamily="34" charset="-120"/>
              </a:rPr>
              <a:t>x 0.20 kWp/m2</a:t>
            </a:r>
            <a:endParaRPr lang="en-US" sz="1200" dirty="0"/>
          </a:p>
        </p:txBody>
      </p:sp>
      <p:sp>
        <p:nvSpPr>
          <p:cNvPr id="16" name="Shape 11"/>
          <p:cNvSpPr/>
          <p:nvPr/>
        </p:nvSpPr>
        <p:spPr>
          <a:xfrm>
            <a:off x="5600700" y="5086350"/>
            <a:ext cx="1581150" cy="476250"/>
          </a:xfrm>
          <a:prstGeom prst="roundRect">
            <a:avLst>
              <a:gd name="adj" fmla="val 24000"/>
            </a:avLst>
          </a:prstGeom>
          <a:solidFill>
            <a:srgbClr val="17685F"/>
          </a:solidFill>
          <a:ln w="12700">
            <a:solidFill>
              <a:srgbClr val="17685F"/>
            </a:solidFill>
            <a:prstDash val="solid"/>
          </a:ln>
        </p:spPr>
      </p:sp>
      <p:sp>
        <p:nvSpPr>
          <p:cNvPr id="17" name="Text 12"/>
          <p:cNvSpPr txBox="1"/>
          <p:nvPr/>
        </p:nvSpPr>
        <p:spPr>
          <a:xfrm>
            <a:off x="5657850" y="5086350"/>
            <a:ext cx="1466850" cy="47625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2,122 kWp all roofs</a:t>
            </a:r>
            <a:endParaRPr lang="en-US" sz="1200" dirty="0"/>
          </a:p>
        </p:txBody>
      </p:sp>
      <p:sp>
        <p:nvSpPr>
          <p:cNvPr id="18" name="Text 13"/>
          <p:cNvSpPr txBox="1"/>
          <p:nvPr/>
        </p:nvSpPr>
        <p:spPr>
          <a:xfrm>
            <a:off x="514350" y="5676900"/>
            <a:ext cx="6667500" cy="571500"/>
          </a:xfrm>
          <a:prstGeom prst="rect">
            <a:avLst/>
          </a:prstGeom>
          <a:noFill/>
          <a:ln/>
        </p:spPr>
        <p:txBody>
          <a:bodyPr wrap="square" lIns="0" tIns="0" rIns="0" bIns="0" rtlCol="0" anchor="t"/>
          <a:lstStyle/>
          <a:p>
            <a:pPr algn="l" indent="0" marL="0">
              <a:buNone/>
            </a:pPr>
            <a:r>
              <a:rPr lang="en-US" sz="1150" dirty="0">
                <a:solidFill>
                  <a:srgbClr val="143B37"/>
                </a:solidFill>
                <a:latin typeface="Arial" pitchFamily="34" charset="0"/>
                <a:ea typeface="Arial" pitchFamily="34" charset="-122"/>
                <a:cs typeface="Arial" pitchFamily="34" charset="-120"/>
              </a:rPr>
              <a:t>Roof F alone: 3,329 m2 x 65% x 0.20 = 433 kWp. The memo's survey estimate (five roofs, 12,960 to 16,200 m2 gross, 1,685 to 2,106 kWp) is superseded; the measured total sits at the top of that range.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524750" y="1200150"/>
          <a:ext cx="4210050" cy="914400"/>
        </p:xfrm>
        <a:graphic>
          <a:graphicData uri="http://schemas.openxmlformats.org/drawingml/2006/table">
            <a:tbl>
              <a:tblPr/>
              <a:tblGrid>
                <a:gridCol w="533400"/>
                <a:gridCol w="952500"/>
                <a:gridCol w="819150"/>
                <a:gridCol w="1905000"/>
              </a:tblGrid>
              <a:tr h="26670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Roof</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Area (m2)</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kWp</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Condition</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r>
              <a:tr h="266700">
                <a:tc>
                  <a:txBody>
                    <a:bodyPr/>
                    <a:lstStyle/>
                    <a:p>
                      <a:pPr algn="ctr" indent="0" marL="0">
                        <a:buNone/>
                      </a:pPr>
                      <a:r>
                        <a:rPr lang="en-US" sz="1100" dirty="0">
                          <a:solidFill>
                            <a:srgbClr val="143B37"/>
                          </a:solidFill>
                          <a:latin typeface="Arial" pitchFamily="34" charset="0"/>
                          <a:ea typeface="Arial" pitchFamily="34" charset="-122"/>
                          <a:cs typeface="Arial" pitchFamily="34" charset="-120"/>
                        </a:rPr>
                        <a:t>A</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2,818</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366</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43B37"/>
                          </a:solidFill>
                          <a:latin typeface="Arial" pitchFamily="34" charset="0"/>
                          <a:ea typeface="Arial" pitchFamily="34" charset="-122"/>
                          <a:cs typeface="Arial" pitchFamily="34" charset="-120"/>
                        </a:rPr>
                        <a:t>older, to be reviewed</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266700">
                <a:tc>
                  <a:txBody>
                    <a:bodyPr/>
                    <a:lstStyle/>
                    <a:p>
                      <a:pPr algn="ctr" indent="0" marL="0">
                        <a:buNone/>
                      </a:pPr>
                      <a:r>
                        <a:rPr lang="en-US" sz="1100" dirty="0">
                          <a:solidFill>
                            <a:srgbClr val="143B37"/>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2,859</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372</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43B37"/>
                          </a:solidFill>
                          <a:latin typeface="Arial" pitchFamily="34" charset="0"/>
                          <a:ea typeface="Arial" pitchFamily="34" charset="-122"/>
                          <a:cs typeface="Arial" pitchFamily="34" charset="-120"/>
                        </a:rPr>
                        <a:t>older, to be reviewed</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266700">
                <a:tc>
                  <a:txBody>
                    <a:bodyPr/>
                    <a:lstStyle/>
                    <a:p>
                      <a:pPr algn="ctr" indent="0" marL="0">
                        <a:buNone/>
                      </a:pPr>
                      <a:r>
                        <a:rPr lang="en-US" sz="1100" dirty="0">
                          <a:solidFill>
                            <a:srgbClr val="143B37"/>
                          </a:solidFill>
                          <a:latin typeface="Arial" pitchFamily="34" charset="0"/>
                          <a:ea typeface="Arial" pitchFamily="34" charset="-122"/>
                          <a:cs typeface="Arial" pitchFamily="34" charset="-120"/>
                        </a:rPr>
                        <a:t>C</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2,733</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355</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43B37"/>
                          </a:solidFill>
                          <a:latin typeface="Arial" pitchFamily="34" charset="0"/>
                          <a:ea typeface="Arial" pitchFamily="34" charset="-122"/>
                          <a:cs typeface="Arial" pitchFamily="34" charset="-120"/>
                        </a:rPr>
                        <a:t>older, to be reviewed</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266700">
                <a:tc>
                  <a:txBody>
                    <a:bodyPr/>
                    <a:lstStyle/>
                    <a:p>
                      <a:pPr algn="ctr" indent="0" marL="0">
                        <a:buNone/>
                      </a:pPr>
                      <a:r>
                        <a:rPr lang="en-US" sz="1100" dirty="0">
                          <a:solidFill>
                            <a:srgbClr val="143B37"/>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2,720</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354</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43B37"/>
                          </a:solidFill>
                          <a:latin typeface="Arial" pitchFamily="34" charset="0"/>
                          <a:ea typeface="Arial" pitchFamily="34" charset="-122"/>
                          <a:cs typeface="Arial" pitchFamily="34" charset="-120"/>
                        </a:rPr>
                        <a:t>older, to be reviewed</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266700">
                <a:tc>
                  <a:txBody>
                    <a:bodyPr/>
                    <a:lstStyle/>
                    <a:p>
                      <a:pPr algn="ctr" indent="0" marL="0">
                        <a:buNone/>
                      </a:pPr>
                      <a:r>
                        <a:rPr lang="en-US" sz="1100" dirty="0">
                          <a:solidFill>
                            <a:srgbClr val="143B37"/>
                          </a:solidFill>
                          <a:latin typeface="Arial" pitchFamily="34" charset="0"/>
                          <a:ea typeface="Arial" pitchFamily="34" charset="-122"/>
                          <a:cs typeface="Arial" pitchFamily="34" charset="-120"/>
                        </a:rPr>
                        <a:t>E</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885</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115</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43B37"/>
                          </a:solidFill>
                          <a:latin typeface="Arial" pitchFamily="34" charset="0"/>
                          <a:ea typeface="Arial" pitchFamily="34" charset="-122"/>
                          <a:cs typeface="Arial" pitchFamily="34" charset="-120"/>
                        </a:rPr>
                        <a:t>older, to be reviewed</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266700">
                <a:tc>
                  <a:txBody>
                    <a:bodyPr/>
                    <a:lstStyle/>
                    <a:p>
                      <a:pPr algn="ctr" indent="0" marL="0">
                        <a:buNone/>
                      </a:pPr>
                      <a:r>
                        <a:rPr lang="en-US" sz="1100" b="1" dirty="0">
                          <a:solidFill>
                            <a:srgbClr val="143B37"/>
                          </a:solidFill>
                          <a:latin typeface="Arial" pitchFamily="34" charset="0"/>
                          <a:ea typeface="Arial" pitchFamily="34" charset="-122"/>
                          <a:cs typeface="Arial" pitchFamily="34" charset="-120"/>
                        </a:rPr>
                        <a:t>F</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00" b="1" dirty="0">
                          <a:solidFill>
                            <a:srgbClr val="143B37"/>
                          </a:solidFill>
                          <a:latin typeface="Arial" pitchFamily="34" charset="0"/>
                          <a:ea typeface="Arial" pitchFamily="34" charset="-122"/>
                          <a:cs typeface="Arial" pitchFamily="34" charset="-120"/>
                        </a:rPr>
                        <a:t>3,329</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00" b="1" dirty="0">
                          <a:solidFill>
                            <a:srgbClr val="143B37"/>
                          </a:solidFill>
                          <a:latin typeface="Arial" pitchFamily="34" charset="0"/>
                          <a:ea typeface="Arial" pitchFamily="34" charset="-122"/>
                          <a:cs typeface="Arial" pitchFamily="34" charset="-120"/>
                        </a:rPr>
                        <a:t>433</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l" indent="0" marL="0">
                        <a:buNone/>
                      </a:pPr>
                      <a:r>
                        <a:rPr lang="en-US" sz="1100" b="1" dirty="0">
                          <a:solidFill>
                            <a:srgbClr val="143B37"/>
                          </a:solidFill>
                          <a:latin typeface="Arial" pitchFamily="34" charset="0"/>
                          <a:ea typeface="Arial" pitchFamily="34" charset="-122"/>
                          <a:cs typeface="Arial" pitchFamily="34" charset="-120"/>
                        </a:rPr>
                        <a:t>new (1 to 2 years)</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r>
              <a:tr h="266700">
                <a:tc>
                  <a:txBody>
                    <a:bodyPr/>
                    <a:lstStyle/>
                    <a:p>
                      <a:pPr algn="ctr" indent="0" marL="0">
                        <a:buNone/>
                      </a:pPr>
                      <a:r>
                        <a:rPr lang="en-US" sz="1100" dirty="0">
                          <a:solidFill>
                            <a:srgbClr val="143B37"/>
                          </a:solidFill>
                          <a:latin typeface="Arial" pitchFamily="34" charset="0"/>
                          <a:ea typeface="Arial" pitchFamily="34" charset="-122"/>
                          <a:cs typeface="Arial" pitchFamily="34" charset="-120"/>
                        </a:rPr>
                        <a:t>G</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975</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43B37"/>
                          </a:solidFill>
                          <a:latin typeface="Arial" pitchFamily="34" charset="0"/>
                          <a:ea typeface="Arial" pitchFamily="34" charset="-122"/>
                          <a:cs typeface="Arial" pitchFamily="34" charset="-120"/>
                        </a:rPr>
                        <a:t>127</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43B37"/>
                          </a:solidFill>
                          <a:latin typeface="Arial" pitchFamily="34" charset="0"/>
                          <a:ea typeface="Arial" pitchFamily="34" charset="-122"/>
                          <a:cs typeface="Arial" pitchFamily="34" charset="-120"/>
                        </a:rPr>
                        <a:t>older, to be reviewed</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266700">
                <a:tc>
                  <a:txBody>
                    <a:bodyPr/>
                    <a:lstStyle/>
                    <a:p>
                      <a:pPr algn="ctr" indent="0" marL="0">
                        <a:buNone/>
                      </a:pPr>
                      <a:r>
                        <a:rPr lang="en-US" sz="1100" b="1" dirty="0">
                          <a:solidFill>
                            <a:srgbClr val="143B37"/>
                          </a:solidFill>
                          <a:latin typeface="Arial" pitchFamily="34" charset="0"/>
                          <a:ea typeface="Arial" pitchFamily="34" charset="-122"/>
                          <a:cs typeface="Arial" pitchFamily="34" charset="-120"/>
                        </a:rPr>
                        <a:t>Total</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B7D9D2"/>
                    </a:solidFill>
                  </a:tcPr>
                </a:tc>
                <a:tc>
                  <a:txBody>
                    <a:bodyPr/>
                    <a:lstStyle/>
                    <a:p>
                      <a:pPr algn="r" indent="0" marL="0">
                        <a:buNone/>
                      </a:pPr>
                      <a:r>
                        <a:rPr lang="en-US" sz="1100" b="1" dirty="0">
                          <a:solidFill>
                            <a:srgbClr val="143B37"/>
                          </a:solidFill>
                          <a:latin typeface="Arial" pitchFamily="34" charset="0"/>
                          <a:ea typeface="Arial" pitchFamily="34" charset="-122"/>
                          <a:cs typeface="Arial" pitchFamily="34" charset="-120"/>
                        </a:rPr>
                        <a:t>16,319</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B7D9D2"/>
                    </a:solidFill>
                  </a:tcPr>
                </a:tc>
                <a:tc>
                  <a:txBody>
                    <a:bodyPr/>
                    <a:lstStyle/>
                    <a:p>
                      <a:pPr algn="r" indent="0" marL="0">
                        <a:buNone/>
                      </a:pPr>
                      <a:r>
                        <a:rPr lang="en-US" sz="1100" b="1" dirty="0">
                          <a:solidFill>
                            <a:srgbClr val="143B37"/>
                          </a:solidFill>
                          <a:latin typeface="Arial" pitchFamily="34" charset="0"/>
                          <a:ea typeface="Arial" pitchFamily="34" charset="-122"/>
                          <a:cs typeface="Arial" pitchFamily="34" charset="-120"/>
                        </a:rPr>
                        <a:t>2,122</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B7D9D2"/>
                    </a:solidFill>
                  </a:tcPr>
                </a:tc>
                <a:tc>
                  <a:txBody>
                    <a:bodyPr/>
                    <a:lstStyle/>
                    <a:p>
                      <a:pPr indent="0" marL="0">
                        <a:buNone/>
                      </a:pPr>
                      <a:r>
                        <a:rPr lang="en-US" sz="1100" b="1" dirty="0">
                          <a:solidFill>
                            <a:srgbClr val="143B37"/>
                          </a:solidFill>
                          <a:latin typeface="Arial" pitchFamily="34" charset="0"/>
                          <a:ea typeface="Arial" pitchFamily="34" charset="-122"/>
                          <a:cs typeface="Arial" pitchFamily="34" charset="-120"/>
                        </a:rPr>
                        <a:t>seven buildings</a:t>
                      </a:r>
                      <a:endParaRPr lang="en-US" sz="1100" dirty="0">
                        <a:latin typeface="Arial" charset="0"/>
                        <a:ea typeface="Arial" charset="0"/>
                        <a:cs typeface="Arial" charset="0"/>
                      </a:endParaRPr>
                    </a:p>
                  </a:txBody>
                  <a:tcPr marL="63500" marR="63500" marT="12700" marB="127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B7D9D2"/>
                    </a:solidFill>
                  </a:tcPr>
                </a:tc>
              </a:tr>
            </a:tbl>
          </a:graphicData>
        </a:graphic>
      </p:graphicFrame>
      <p:sp>
        <p:nvSpPr>
          <p:cNvPr id="20" name="Shape 14"/>
          <p:cNvSpPr/>
          <p:nvPr/>
        </p:nvSpPr>
        <p:spPr>
          <a:xfrm>
            <a:off x="7524750" y="3924300"/>
            <a:ext cx="4210050" cy="2324100"/>
          </a:xfrm>
          <a:prstGeom prst="roundRect">
            <a:avLst>
              <a:gd name="adj" fmla="val 7377"/>
            </a:avLst>
          </a:prstGeom>
          <a:solidFill>
            <a:srgbClr val="17685F"/>
          </a:solidFill>
          <a:ln w="12700">
            <a:solidFill>
              <a:srgbClr val="17685F"/>
            </a:solidFill>
            <a:prstDash val="solid"/>
          </a:ln>
        </p:spPr>
      </p:sp>
      <p:sp>
        <p:nvSpPr>
          <p:cNvPr id="21" name="Text 15"/>
          <p:cNvSpPr txBox="1"/>
          <p:nvPr/>
        </p:nvSpPr>
        <p:spPr>
          <a:xfrm>
            <a:off x="7734300" y="4057650"/>
            <a:ext cx="3810000" cy="26670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What the roof condition means</a:t>
            </a:r>
            <a:endParaRPr lang="en-US" sz="1600" dirty="0"/>
          </a:p>
        </p:txBody>
      </p:sp>
      <p:sp>
        <p:nvSpPr>
          <p:cNvPr id="22" name="Text 16"/>
          <p:cNvSpPr txBox="1"/>
          <p:nvPr/>
        </p:nvSpPr>
        <p:spPr>
          <a:xfrm>
            <a:off x="7734300" y="4381500"/>
            <a:ext cx="3810000" cy="1809750"/>
          </a:xfrm>
          <a:prstGeom prst="rect">
            <a:avLst/>
          </a:prstGeom>
          <a:noFill/>
          <a:ln/>
        </p:spPr>
        <p:txBody>
          <a:bodyPr wrap="square" lIns="0" tIns="0" rIns="0" bIns="0" rtlCol="0" anchor="t"/>
          <a:lstStyle/>
          <a:p>
            <a:pPr marL="203200" indent="-2032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Roof F is the one surface that can carry panels without a structural question: new sheeting, no leak history, about one fifth of the total area.</a:t>
            </a:r>
            <a:endParaRPr lang="en-US" sz="1100" dirty="0"/>
          </a:p>
          <a:p>
            <a:pPr marL="203200" indent="-2032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Roofs A to E and G hold the other four fifths. Their age and condition have not been assessed; a structural and sheeting review is a precondition, not a formality.</a:t>
            </a:r>
            <a:endParaRPr lang="en-US" sz="1100" dirty="0"/>
          </a:p>
          <a:p>
            <a:pPr marL="203200" indent="-2032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The cases therefore come in two groups: roof F alone, and all seven roofs once the review clears them.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Daily load against the tariff clock and the solar day</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6</a:t>
            </a:r>
            <a:endParaRPr lang="en-US" sz="1000" dirty="0"/>
          </a:p>
        </p:txBody>
      </p:sp>
      <p:sp>
        <p:nvSpPr>
          <p:cNvPr id="8" name="Text 4"/>
          <p:cNvSpPr txBox="1"/>
          <p:nvPr/>
        </p:nvSpPr>
        <p:spPr>
          <a:xfrm>
            <a:off x="514350" y="1181100"/>
            <a:ext cx="6667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Average load by hour, 2025 (kW)</a:t>
            </a:r>
            <a:endParaRPr lang="en-US" sz="1500" dirty="0"/>
          </a:p>
        </p:txBody>
      </p:sp>
      <p:graphicFrame>
        <p:nvGraphicFramePr>
          <p:cNvPr id="9" name="Chart 0" descr=""/>
          <p:cNvGraphicFramePr/>
          <p:nvPr/>
        </p:nvGraphicFramePr>
        <p:xfrm>
          <a:off x="514350" y="1447800"/>
          <a:ext cx="7239000" cy="28575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514350" y="4476750"/>
            <a:ext cx="1333500" cy="323850"/>
          </a:xfrm>
          <a:prstGeom prst="rect">
            <a:avLst/>
          </a:prstGeom>
          <a:noFill/>
          <a:ln/>
        </p:spPr>
        <p:txBody>
          <a:bodyPr wrap="square" lIns="0" tIns="0" rIns="0" bIns="0" rtlCol="0" anchor="ctr"/>
          <a:lstStyle/>
          <a:p>
            <a:pPr algn="l" indent="0" marL="0">
              <a:buNone/>
            </a:pPr>
            <a:r>
              <a:rPr lang="en-US" sz="1200" b="1" dirty="0">
                <a:solidFill>
                  <a:srgbClr val="17685F"/>
                </a:solidFill>
                <a:latin typeface="Arial" pitchFamily="34" charset="0"/>
                <a:ea typeface="Arial" pitchFamily="34" charset="-122"/>
                <a:cs typeface="Arial" pitchFamily="34" charset="-120"/>
              </a:rPr>
              <a:t>Weekday tariff</a:t>
            </a:r>
            <a:endParaRPr lang="en-US" sz="1200" dirty="0"/>
          </a:p>
        </p:txBody>
      </p:sp>
      <p:sp>
        <p:nvSpPr>
          <p:cNvPr id="11" name="Shape 6"/>
          <p:cNvSpPr/>
          <p:nvPr/>
        </p:nvSpPr>
        <p:spPr>
          <a:xfrm>
            <a:off x="1905000" y="4476750"/>
            <a:ext cx="2193131" cy="323850"/>
          </a:xfrm>
          <a:prstGeom prst="rect">
            <a:avLst/>
          </a:prstGeom>
          <a:solidFill>
            <a:srgbClr val="B7D9D2"/>
          </a:solidFill>
          <a:ln w="12700">
            <a:solidFill>
              <a:srgbClr val="B7D9D2"/>
            </a:solidFill>
            <a:prstDash val="solid"/>
          </a:ln>
        </p:spPr>
      </p:sp>
      <p:sp>
        <p:nvSpPr>
          <p:cNvPr id="12" name="Shape 7"/>
          <p:cNvSpPr/>
          <p:nvPr/>
        </p:nvSpPr>
        <p:spPr>
          <a:xfrm>
            <a:off x="4098131" y="4476750"/>
            <a:ext cx="3167856" cy="323850"/>
          </a:xfrm>
          <a:prstGeom prst="rect">
            <a:avLst/>
          </a:prstGeom>
          <a:solidFill>
            <a:srgbClr val="E98A55"/>
          </a:solidFill>
          <a:ln w="12700">
            <a:solidFill>
              <a:srgbClr val="E98A55"/>
            </a:solidFill>
            <a:prstDash val="solid"/>
          </a:ln>
        </p:spPr>
      </p:sp>
      <p:sp>
        <p:nvSpPr>
          <p:cNvPr id="13" name="Shape 8"/>
          <p:cNvSpPr/>
          <p:nvPr/>
        </p:nvSpPr>
        <p:spPr>
          <a:xfrm>
            <a:off x="7265988" y="4476750"/>
            <a:ext cx="487362" cy="323850"/>
          </a:xfrm>
          <a:prstGeom prst="rect">
            <a:avLst/>
          </a:prstGeom>
          <a:solidFill>
            <a:srgbClr val="B7D9D2"/>
          </a:solidFill>
          <a:ln w="12700">
            <a:solidFill>
              <a:srgbClr val="B7D9D2"/>
            </a:solidFill>
            <a:prstDash val="solid"/>
          </a:ln>
        </p:spPr>
      </p:sp>
      <p:sp>
        <p:nvSpPr>
          <p:cNvPr id="14" name="Text 9"/>
          <p:cNvSpPr txBox="1"/>
          <p:nvPr/>
        </p:nvSpPr>
        <p:spPr>
          <a:xfrm>
            <a:off x="1962150" y="4476750"/>
            <a:ext cx="2116931" cy="323850"/>
          </a:xfrm>
          <a:prstGeom prst="rect">
            <a:avLst/>
          </a:prstGeom>
          <a:noFill/>
          <a:ln/>
        </p:spPr>
        <p:txBody>
          <a:bodyPr wrap="square" lIns="0" tIns="0" rIns="0" bIns="0" rtlCol="0" anchor="ctr"/>
          <a:lstStyle/>
          <a:p>
            <a:pPr algn="l" indent="0" marL="0">
              <a:buNone/>
            </a:pPr>
            <a:r>
              <a:rPr lang="en-US" sz="1000" dirty="0">
                <a:solidFill>
                  <a:srgbClr val="143B37"/>
                </a:solidFill>
                <a:latin typeface="Arial" pitchFamily="34" charset="0"/>
                <a:ea typeface="Arial" pitchFamily="34" charset="-122"/>
                <a:cs typeface="Arial" pitchFamily="34" charset="-120"/>
              </a:rPr>
              <a:t>off-peak 2.6037</a:t>
            </a:r>
            <a:endParaRPr lang="en-US" sz="1000" dirty="0"/>
          </a:p>
        </p:txBody>
      </p:sp>
      <p:sp>
        <p:nvSpPr>
          <p:cNvPr id="15" name="Text 10"/>
          <p:cNvSpPr txBox="1"/>
          <p:nvPr/>
        </p:nvSpPr>
        <p:spPr>
          <a:xfrm>
            <a:off x="4174331" y="4476750"/>
            <a:ext cx="3053556" cy="323850"/>
          </a:xfrm>
          <a:prstGeom prst="rect">
            <a:avLst/>
          </a:prstGeom>
          <a:noFill/>
          <a:ln/>
        </p:spPr>
        <p:txBody>
          <a:bodyPr wrap="square" lIns="0" tIns="0" rIns="0" bIns="0" rtlCol="0" anchor="ctr"/>
          <a:lstStyle/>
          <a:p>
            <a:pPr algn="l" indent="0" marL="0">
              <a:buNone/>
            </a:pPr>
            <a:r>
              <a:rPr lang="en-US" sz="950" dirty="0">
                <a:solidFill>
                  <a:srgbClr val="FFFFFF"/>
                </a:solidFill>
                <a:latin typeface="Arial" pitchFamily="34" charset="0"/>
                <a:ea typeface="Arial" pitchFamily="34" charset="-122"/>
                <a:cs typeface="Arial" pitchFamily="34" charset="-120"/>
              </a:rPr>
              <a:t>peak 4.1839 THB/kWh + monthly demand charge</a:t>
            </a:r>
            <a:endParaRPr lang="en-US" sz="950" dirty="0"/>
          </a:p>
        </p:txBody>
      </p:sp>
      <p:sp>
        <p:nvSpPr>
          <p:cNvPr id="16" name="Text 11"/>
          <p:cNvSpPr txBox="1"/>
          <p:nvPr/>
        </p:nvSpPr>
        <p:spPr>
          <a:xfrm>
            <a:off x="7304088" y="4476750"/>
            <a:ext cx="430212" cy="323850"/>
          </a:xfrm>
          <a:prstGeom prst="rect">
            <a:avLst/>
          </a:prstGeom>
          <a:noFill/>
          <a:ln/>
        </p:spPr>
        <p:txBody>
          <a:bodyPr wrap="square" lIns="0" tIns="0" rIns="0" bIns="0" rtlCol="0" anchor="ctr"/>
          <a:lstStyle/>
          <a:p>
            <a:pPr algn="l" indent="0" marL="0">
              <a:buNone/>
            </a:pPr>
            <a:r>
              <a:rPr lang="en-US" sz="950" dirty="0">
                <a:solidFill>
                  <a:srgbClr val="143B37"/>
                </a:solidFill>
                <a:latin typeface="Arial" pitchFamily="34" charset="0"/>
                <a:ea typeface="Arial" pitchFamily="34" charset="-122"/>
                <a:cs typeface="Arial" pitchFamily="34" charset="-120"/>
              </a:rPr>
              <a:t>off</a:t>
            </a:r>
            <a:endParaRPr lang="en-US" sz="950" dirty="0"/>
          </a:p>
        </p:txBody>
      </p:sp>
      <p:sp>
        <p:nvSpPr>
          <p:cNvPr id="17" name="Text 12"/>
          <p:cNvSpPr txBox="1"/>
          <p:nvPr/>
        </p:nvSpPr>
        <p:spPr>
          <a:xfrm>
            <a:off x="514350" y="4895850"/>
            <a:ext cx="1333500" cy="323850"/>
          </a:xfrm>
          <a:prstGeom prst="rect">
            <a:avLst/>
          </a:prstGeom>
          <a:noFill/>
          <a:ln/>
        </p:spPr>
        <p:txBody>
          <a:bodyPr wrap="square" lIns="0" tIns="0" rIns="0" bIns="0" rtlCol="0" anchor="ctr"/>
          <a:lstStyle/>
          <a:p>
            <a:pPr algn="l" indent="0" marL="0">
              <a:buNone/>
            </a:pPr>
            <a:r>
              <a:rPr lang="en-US" sz="1200" b="1" dirty="0">
                <a:solidFill>
                  <a:srgbClr val="17685F"/>
                </a:solidFill>
                <a:latin typeface="Arial" pitchFamily="34" charset="0"/>
                <a:ea typeface="Arial" pitchFamily="34" charset="-122"/>
                <a:cs typeface="Arial" pitchFamily="34" charset="-120"/>
              </a:rPr>
              <a:t>Solar output</a:t>
            </a:r>
            <a:endParaRPr lang="en-US" sz="1200" dirty="0"/>
          </a:p>
        </p:txBody>
      </p:sp>
      <p:sp>
        <p:nvSpPr>
          <p:cNvPr id="18" name="Shape 13"/>
          <p:cNvSpPr/>
          <p:nvPr/>
        </p:nvSpPr>
        <p:spPr>
          <a:xfrm>
            <a:off x="3367088" y="4895850"/>
            <a:ext cx="2924175" cy="323850"/>
          </a:xfrm>
          <a:prstGeom prst="rect">
            <a:avLst/>
          </a:prstGeom>
          <a:solidFill>
            <a:srgbClr val="F7D98B"/>
          </a:solidFill>
          <a:ln w="12700">
            <a:solidFill>
              <a:srgbClr val="F7D98B"/>
            </a:solidFill>
            <a:prstDash val="solid"/>
          </a:ln>
        </p:spPr>
      </p:sp>
      <p:sp>
        <p:nvSpPr>
          <p:cNvPr id="19" name="Text 14"/>
          <p:cNvSpPr txBox="1"/>
          <p:nvPr/>
        </p:nvSpPr>
        <p:spPr>
          <a:xfrm>
            <a:off x="3443288" y="4895850"/>
            <a:ext cx="2809875" cy="323850"/>
          </a:xfrm>
          <a:prstGeom prst="rect">
            <a:avLst/>
          </a:prstGeom>
          <a:noFill/>
          <a:ln/>
        </p:spPr>
        <p:txBody>
          <a:bodyPr wrap="square" lIns="0" tIns="0" rIns="0" bIns="0" rtlCol="0" anchor="ctr"/>
          <a:lstStyle/>
          <a:p>
            <a:pPr algn="l" indent="0" marL="0">
              <a:buNone/>
            </a:pPr>
            <a:r>
              <a:rPr lang="en-US" sz="950" dirty="0">
                <a:solidFill>
                  <a:srgbClr val="143B37"/>
                </a:solidFill>
                <a:latin typeface="Arial" pitchFamily="34" charset="0"/>
                <a:ea typeface="Arial" pitchFamily="34" charset="-122"/>
                <a:cs typeface="Arial" pitchFamily="34" charset="-120"/>
              </a:rPr>
              <a:t>generation 06:00 to 18:00, peak 11:00 to 14:00</a:t>
            </a:r>
            <a:endParaRPr lang="en-US" sz="950" dirty="0"/>
          </a:p>
        </p:txBody>
      </p:sp>
      <p:sp>
        <p:nvSpPr>
          <p:cNvPr id="20" name="Text 15"/>
          <p:cNvSpPr txBox="1"/>
          <p:nvPr/>
        </p:nvSpPr>
        <p:spPr>
          <a:xfrm>
            <a:off x="1695450"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00:00</a:t>
            </a:r>
            <a:endParaRPr lang="en-US" sz="900" dirty="0"/>
          </a:p>
        </p:txBody>
      </p:sp>
      <p:sp>
        <p:nvSpPr>
          <p:cNvPr id="21" name="Text 16"/>
          <p:cNvSpPr txBox="1"/>
          <p:nvPr/>
        </p:nvSpPr>
        <p:spPr>
          <a:xfrm>
            <a:off x="3157538"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06:00</a:t>
            </a:r>
            <a:endParaRPr lang="en-US" sz="900" dirty="0"/>
          </a:p>
        </p:txBody>
      </p:sp>
      <p:sp>
        <p:nvSpPr>
          <p:cNvPr id="22" name="Text 17"/>
          <p:cNvSpPr txBox="1"/>
          <p:nvPr/>
        </p:nvSpPr>
        <p:spPr>
          <a:xfrm>
            <a:off x="3888581"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09:00</a:t>
            </a:r>
            <a:endParaRPr lang="en-US" sz="900" dirty="0"/>
          </a:p>
        </p:txBody>
      </p:sp>
      <p:sp>
        <p:nvSpPr>
          <p:cNvPr id="23" name="Text 18"/>
          <p:cNvSpPr txBox="1"/>
          <p:nvPr/>
        </p:nvSpPr>
        <p:spPr>
          <a:xfrm>
            <a:off x="4619625"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12:00</a:t>
            </a:r>
            <a:endParaRPr lang="en-US" sz="900" dirty="0"/>
          </a:p>
        </p:txBody>
      </p:sp>
      <p:sp>
        <p:nvSpPr>
          <p:cNvPr id="24" name="Text 19"/>
          <p:cNvSpPr txBox="1"/>
          <p:nvPr/>
        </p:nvSpPr>
        <p:spPr>
          <a:xfrm>
            <a:off x="6081713"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18:00</a:t>
            </a:r>
            <a:endParaRPr lang="en-US" sz="900" dirty="0"/>
          </a:p>
        </p:txBody>
      </p:sp>
      <p:sp>
        <p:nvSpPr>
          <p:cNvPr id="25" name="Text 20"/>
          <p:cNvSpPr txBox="1"/>
          <p:nvPr/>
        </p:nvSpPr>
        <p:spPr>
          <a:xfrm>
            <a:off x="7056438"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22:00</a:t>
            </a:r>
            <a:endParaRPr lang="en-US" sz="900" dirty="0"/>
          </a:p>
        </p:txBody>
      </p:sp>
      <p:sp>
        <p:nvSpPr>
          <p:cNvPr id="26" name="Text 21"/>
          <p:cNvSpPr txBox="1"/>
          <p:nvPr/>
        </p:nvSpPr>
        <p:spPr>
          <a:xfrm>
            <a:off x="7543800"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24:00</a:t>
            </a:r>
            <a:endParaRPr lang="en-US" sz="900" dirty="0"/>
          </a:p>
        </p:txBody>
      </p:sp>
      <p:sp>
        <p:nvSpPr>
          <p:cNvPr id="27" name="Text 22"/>
          <p:cNvSpPr txBox="1"/>
          <p:nvPr/>
        </p:nvSpPr>
        <p:spPr>
          <a:xfrm>
            <a:off x="514350" y="5524500"/>
            <a:ext cx="7239000" cy="228600"/>
          </a:xfrm>
          <a:prstGeom prst="rect">
            <a:avLst/>
          </a:prstGeom>
          <a:noFill/>
          <a:ln/>
        </p:spPr>
        <p:txBody>
          <a:bodyPr wrap="square" lIns="0" tIns="0" rIns="0" bIns="0" rtlCol="0" anchor="t"/>
          <a:lstStyle/>
          <a:p>
            <a:pPr algn="l" indent="0" marL="0">
              <a:buNone/>
            </a:pPr>
            <a:r>
              <a:rPr lang="en-US" sz="1100" i="1" dirty="0">
                <a:solidFill>
                  <a:srgbClr val="4D6D68"/>
                </a:solidFill>
                <a:latin typeface="Arial" pitchFamily="34" charset="0"/>
                <a:ea typeface="Arial" pitchFamily="34" charset="-122"/>
                <a:cs typeface="Arial" pitchFamily="34" charset="-120"/>
              </a:rPr>
              <a:t>Weekends and Thai public holidays are off-peak all day.</a:t>
            </a:r>
            <a:endParaRPr lang="en-US" sz="1100" dirty="0"/>
          </a:p>
        </p:txBody>
      </p:sp>
      <p:sp>
        <p:nvSpPr>
          <p:cNvPr id="28" name="Shape 23"/>
          <p:cNvSpPr/>
          <p:nvPr/>
        </p:nvSpPr>
        <p:spPr>
          <a:xfrm>
            <a:off x="8096250" y="1181100"/>
            <a:ext cx="3638550" cy="4476750"/>
          </a:xfrm>
          <a:prstGeom prst="roundRect">
            <a:avLst>
              <a:gd name="adj" fmla="val 4712"/>
            </a:avLst>
          </a:prstGeom>
          <a:solidFill>
            <a:srgbClr val="17685F"/>
          </a:solidFill>
          <a:ln w="12700">
            <a:solidFill>
              <a:srgbClr val="17685F"/>
            </a:solidFill>
            <a:prstDash val="solid"/>
          </a:ln>
        </p:spPr>
      </p:sp>
      <p:sp>
        <p:nvSpPr>
          <p:cNvPr id="29" name="Text 24"/>
          <p:cNvSpPr txBox="1"/>
          <p:nvPr/>
        </p:nvSpPr>
        <p:spPr>
          <a:xfrm>
            <a:off x="8343900" y="1390650"/>
            <a:ext cx="32385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What this means for the design</a:t>
            </a:r>
            <a:endParaRPr lang="en-US" sz="1700" dirty="0"/>
          </a:p>
        </p:txBody>
      </p:sp>
      <p:sp>
        <p:nvSpPr>
          <p:cNvPr id="30" name="Text 25"/>
          <p:cNvSpPr txBox="1"/>
          <p:nvPr/>
        </p:nvSpPr>
        <p:spPr>
          <a:xfrm>
            <a:off x="8343900" y="1809750"/>
            <a:ext cx="3200400" cy="371475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Solar displaces the 4.18 THB peak energy from 09:00 to 18:00 on weekdays, the most valuable kWh on the bill.</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The 08:00 to 16:00 load plateau of about 1.15 MW is above the roof-limited array's average output, so most weekday solar is used on site.</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The demand charge is set by one interval a month; PV alone cannot guarantee a lower peak, storage can.</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Weekends and holidays are off-peak all day and the load is lower: that is where curtailment happens without export.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The PEA tariff: five building blocks, one monthly peak</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7</a:t>
            </a:r>
            <a:endParaRPr lang="en-US" sz="1000" dirty="0"/>
          </a:p>
        </p:txBody>
      </p:sp>
      <p:sp>
        <p:nvSpPr>
          <p:cNvPr id="8" name="Shape 4"/>
          <p:cNvSpPr/>
          <p:nvPr/>
        </p:nvSpPr>
        <p:spPr>
          <a:xfrm>
            <a:off x="514350" y="1238250"/>
            <a:ext cx="2114550" cy="1276350"/>
          </a:xfrm>
          <a:prstGeom prst="roundRect">
            <a:avLst>
              <a:gd name="adj" fmla="val 13433"/>
            </a:avLst>
          </a:prstGeom>
          <a:solidFill>
            <a:srgbClr val="E98A55"/>
          </a:solidFill>
          <a:ln w="12700">
            <a:solidFill>
              <a:srgbClr val="E98A55"/>
            </a:solidFill>
            <a:prstDash val="solid"/>
          </a:ln>
        </p:spPr>
      </p:sp>
      <p:sp>
        <p:nvSpPr>
          <p:cNvPr id="9" name="Text 5"/>
          <p:cNvSpPr txBox="1"/>
          <p:nvPr/>
        </p:nvSpPr>
        <p:spPr>
          <a:xfrm>
            <a:off x="647700" y="1333500"/>
            <a:ext cx="1847850" cy="28575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Peak energy</a:t>
            </a:r>
            <a:endParaRPr lang="en-US" sz="1500" dirty="0"/>
          </a:p>
        </p:txBody>
      </p:sp>
      <p:sp>
        <p:nvSpPr>
          <p:cNvPr id="10" name="Text 6"/>
          <p:cNvSpPr txBox="1"/>
          <p:nvPr/>
        </p:nvSpPr>
        <p:spPr>
          <a:xfrm>
            <a:off x="609600" y="1676400"/>
            <a:ext cx="1924050" cy="304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4.1839 THB/kWh</a:t>
            </a:r>
            <a:endParaRPr lang="en-US" sz="1300" dirty="0"/>
          </a:p>
        </p:txBody>
      </p:sp>
      <p:sp>
        <p:nvSpPr>
          <p:cNvPr id="11" name="Text 7"/>
          <p:cNvSpPr txBox="1"/>
          <p:nvPr/>
        </p:nvSpPr>
        <p:spPr>
          <a:xfrm>
            <a:off x="647700" y="2038350"/>
            <a:ext cx="1847850" cy="40005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weekdays 09:00-22:00</a:t>
            </a:r>
            <a:endParaRPr lang="en-US" sz="1100" dirty="0"/>
          </a:p>
        </p:txBody>
      </p:sp>
      <p:sp>
        <p:nvSpPr>
          <p:cNvPr id="12" name="Shape 8"/>
          <p:cNvSpPr/>
          <p:nvPr/>
        </p:nvSpPr>
        <p:spPr>
          <a:xfrm>
            <a:off x="2781300" y="1238250"/>
            <a:ext cx="2114550" cy="1276350"/>
          </a:xfrm>
          <a:prstGeom prst="roundRect">
            <a:avLst>
              <a:gd name="adj" fmla="val 13433"/>
            </a:avLst>
          </a:prstGeom>
          <a:solidFill>
            <a:srgbClr val="3F8E73"/>
          </a:solidFill>
          <a:ln w="12700">
            <a:solidFill>
              <a:srgbClr val="3F8E73"/>
            </a:solidFill>
            <a:prstDash val="solid"/>
          </a:ln>
        </p:spPr>
      </p:sp>
      <p:sp>
        <p:nvSpPr>
          <p:cNvPr id="13" name="Text 9"/>
          <p:cNvSpPr txBox="1"/>
          <p:nvPr/>
        </p:nvSpPr>
        <p:spPr>
          <a:xfrm>
            <a:off x="2914650" y="1333500"/>
            <a:ext cx="1847850" cy="28575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Off-peak energy</a:t>
            </a:r>
            <a:endParaRPr lang="en-US" sz="1500" dirty="0"/>
          </a:p>
        </p:txBody>
      </p:sp>
      <p:sp>
        <p:nvSpPr>
          <p:cNvPr id="14" name="Text 10"/>
          <p:cNvSpPr txBox="1"/>
          <p:nvPr/>
        </p:nvSpPr>
        <p:spPr>
          <a:xfrm>
            <a:off x="2876550" y="1676400"/>
            <a:ext cx="1924050" cy="304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2.6037 THB/kWh</a:t>
            </a:r>
            <a:endParaRPr lang="en-US" sz="1300" dirty="0"/>
          </a:p>
        </p:txBody>
      </p:sp>
      <p:sp>
        <p:nvSpPr>
          <p:cNvPr id="15" name="Text 11"/>
          <p:cNvSpPr txBox="1"/>
          <p:nvPr/>
        </p:nvSpPr>
        <p:spPr>
          <a:xfrm>
            <a:off x="2914650" y="2038350"/>
            <a:ext cx="1847850" cy="40005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nights, weekends, holidays</a:t>
            </a:r>
            <a:endParaRPr lang="en-US" sz="1100" dirty="0"/>
          </a:p>
        </p:txBody>
      </p:sp>
      <p:sp>
        <p:nvSpPr>
          <p:cNvPr id="16" name="Shape 12"/>
          <p:cNvSpPr/>
          <p:nvPr/>
        </p:nvSpPr>
        <p:spPr>
          <a:xfrm>
            <a:off x="5048250" y="1238250"/>
            <a:ext cx="2114550" cy="1276350"/>
          </a:xfrm>
          <a:prstGeom prst="roundRect">
            <a:avLst>
              <a:gd name="adj" fmla="val 13433"/>
            </a:avLst>
          </a:prstGeom>
          <a:solidFill>
            <a:srgbClr val="F7D98B"/>
          </a:solidFill>
          <a:ln w="12700">
            <a:solidFill>
              <a:srgbClr val="F7D98B"/>
            </a:solidFill>
            <a:prstDash val="solid"/>
          </a:ln>
        </p:spPr>
      </p:sp>
      <p:sp>
        <p:nvSpPr>
          <p:cNvPr id="17" name="Text 13"/>
          <p:cNvSpPr txBox="1"/>
          <p:nvPr/>
        </p:nvSpPr>
        <p:spPr>
          <a:xfrm>
            <a:off x="5181600" y="1333500"/>
            <a:ext cx="1847850" cy="285750"/>
          </a:xfrm>
          <a:prstGeom prst="rect">
            <a:avLst/>
          </a:prstGeom>
          <a:noFill/>
          <a:ln/>
        </p:spPr>
        <p:txBody>
          <a:bodyPr wrap="square" lIns="0" tIns="0" rIns="0" bIns="0" rtlCol="0" anchor="ctr"/>
          <a:lstStyle/>
          <a:p>
            <a:pPr algn="ctr" indent="0" marL="0">
              <a:buNone/>
            </a:pPr>
            <a:r>
              <a:rPr lang="en-US" sz="1500" b="1" dirty="0">
                <a:solidFill>
                  <a:srgbClr val="143B37"/>
                </a:solidFill>
                <a:latin typeface="Arial" pitchFamily="34" charset="0"/>
                <a:ea typeface="Arial" pitchFamily="34" charset="-122"/>
                <a:cs typeface="Arial" pitchFamily="34" charset="-120"/>
              </a:rPr>
              <a:t>On-peak demand</a:t>
            </a:r>
            <a:endParaRPr lang="en-US" sz="1500" dirty="0"/>
          </a:p>
        </p:txBody>
      </p:sp>
      <p:sp>
        <p:nvSpPr>
          <p:cNvPr id="18" name="Text 14"/>
          <p:cNvSpPr txBox="1"/>
          <p:nvPr/>
        </p:nvSpPr>
        <p:spPr>
          <a:xfrm>
            <a:off x="5143500" y="1676400"/>
            <a:ext cx="1924050" cy="3048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132.93 THB/kW a month</a:t>
            </a:r>
            <a:endParaRPr lang="en-US" sz="1300" dirty="0"/>
          </a:p>
        </p:txBody>
      </p:sp>
      <p:sp>
        <p:nvSpPr>
          <p:cNvPr id="19" name="Text 15"/>
          <p:cNvSpPr txBox="1"/>
          <p:nvPr/>
        </p:nvSpPr>
        <p:spPr>
          <a:xfrm>
            <a:off x="5181600" y="2038350"/>
            <a:ext cx="1847850" cy="400050"/>
          </a:xfrm>
          <a:prstGeom prst="rect">
            <a:avLst/>
          </a:prstGeom>
          <a:noFill/>
          <a:ln/>
        </p:spPr>
        <p:txBody>
          <a:bodyPr wrap="square" lIns="0" tIns="0" rIns="0" bIns="0" rtlCol="0" anchor="t"/>
          <a:lstStyle/>
          <a:p>
            <a:pPr algn="ctr" indent="0" marL="0">
              <a:buNone/>
            </a:pPr>
            <a:r>
              <a:rPr lang="en-US" sz="1100" dirty="0">
                <a:solidFill>
                  <a:srgbClr val="143B37"/>
                </a:solidFill>
                <a:latin typeface="Arial" pitchFamily="34" charset="0"/>
                <a:ea typeface="Arial" pitchFamily="34" charset="-122"/>
                <a:cs typeface="Arial" pitchFamily="34" charset="-120"/>
              </a:rPr>
              <a:t>highest on-peak interval</a:t>
            </a:r>
            <a:endParaRPr lang="en-US" sz="1100" dirty="0"/>
          </a:p>
        </p:txBody>
      </p:sp>
      <p:sp>
        <p:nvSpPr>
          <p:cNvPr id="20" name="Shape 16"/>
          <p:cNvSpPr/>
          <p:nvPr/>
        </p:nvSpPr>
        <p:spPr>
          <a:xfrm>
            <a:off x="7315200" y="1238250"/>
            <a:ext cx="2114550" cy="1276350"/>
          </a:xfrm>
          <a:prstGeom prst="roundRect">
            <a:avLst>
              <a:gd name="adj" fmla="val 13433"/>
            </a:avLst>
          </a:prstGeom>
          <a:solidFill>
            <a:srgbClr val="D77C7F"/>
          </a:solidFill>
          <a:ln w="12700">
            <a:solidFill>
              <a:srgbClr val="D77C7F"/>
            </a:solidFill>
            <a:prstDash val="solid"/>
          </a:ln>
        </p:spPr>
      </p:sp>
      <p:sp>
        <p:nvSpPr>
          <p:cNvPr id="21" name="Text 17"/>
          <p:cNvSpPr txBox="1"/>
          <p:nvPr/>
        </p:nvSpPr>
        <p:spPr>
          <a:xfrm>
            <a:off x="7448550" y="1333500"/>
            <a:ext cx="1847850" cy="28575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Ft adjustment</a:t>
            </a:r>
            <a:endParaRPr lang="en-US" sz="1500" dirty="0"/>
          </a:p>
        </p:txBody>
      </p:sp>
      <p:sp>
        <p:nvSpPr>
          <p:cNvPr id="22" name="Text 18"/>
          <p:cNvSpPr txBox="1"/>
          <p:nvPr/>
        </p:nvSpPr>
        <p:spPr>
          <a:xfrm>
            <a:off x="7410450" y="1676400"/>
            <a:ext cx="1924050" cy="304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0.10-0.37 THB/kWh</a:t>
            </a:r>
            <a:endParaRPr lang="en-US" sz="1300" dirty="0"/>
          </a:p>
        </p:txBody>
      </p:sp>
      <p:sp>
        <p:nvSpPr>
          <p:cNvPr id="23" name="Text 19"/>
          <p:cNvSpPr txBox="1"/>
          <p:nvPr/>
        </p:nvSpPr>
        <p:spPr>
          <a:xfrm>
            <a:off x="7448550" y="2038350"/>
            <a:ext cx="1847850" cy="40005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all kWh; reset every four months</a:t>
            </a:r>
            <a:endParaRPr lang="en-US" sz="1100" dirty="0"/>
          </a:p>
        </p:txBody>
      </p:sp>
      <p:sp>
        <p:nvSpPr>
          <p:cNvPr id="24" name="Shape 20"/>
          <p:cNvSpPr/>
          <p:nvPr/>
        </p:nvSpPr>
        <p:spPr>
          <a:xfrm>
            <a:off x="9582150" y="1238250"/>
            <a:ext cx="2114550" cy="1276350"/>
          </a:xfrm>
          <a:prstGeom prst="roundRect">
            <a:avLst>
              <a:gd name="adj" fmla="val 13433"/>
            </a:avLst>
          </a:prstGeom>
          <a:solidFill>
            <a:srgbClr val="B7D9D2"/>
          </a:solidFill>
          <a:ln w="12700">
            <a:solidFill>
              <a:srgbClr val="B7D9D2"/>
            </a:solidFill>
            <a:prstDash val="solid"/>
          </a:ln>
        </p:spPr>
      </p:sp>
      <p:sp>
        <p:nvSpPr>
          <p:cNvPr id="25" name="Text 21"/>
          <p:cNvSpPr txBox="1"/>
          <p:nvPr/>
        </p:nvSpPr>
        <p:spPr>
          <a:xfrm>
            <a:off x="9715500" y="1333500"/>
            <a:ext cx="1847850" cy="285750"/>
          </a:xfrm>
          <a:prstGeom prst="rect">
            <a:avLst/>
          </a:prstGeom>
          <a:noFill/>
          <a:ln/>
        </p:spPr>
        <p:txBody>
          <a:bodyPr wrap="square" lIns="0" tIns="0" rIns="0" bIns="0" rtlCol="0" anchor="ctr"/>
          <a:lstStyle/>
          <a:p>
            <a:pPr algn="ctr" indent="0" marL="0">
              <a:buNone/>
            </a:pPr>
            <a:r>
              <a:rPr lang="en-US" sz="1500" b="1" dirty="0">
                <a:solidFill>
                  <a:srgbClr val="143B37"/>
                </a:solidFill>
                <a:latin typeface="Arial" pitchFamily="34" charset="0"/>
                <a:ea typeface="Arial" pitchFamily="34" charset="-122"/>
                <a:cs typeface="Arial" pitchFamily="34" charset="-120"/>
              </a:rPr>
              <a:t>Service and VAT</a:t>
            </a:r>
            <a:endParaRPr lang="en-US" sz="1500" dirty="0"/>
          </a:p>
        </p:txBody>
      </p:sp>
      <p:sp>
        <p:nvSpPr>
          <p:cNvPr id="26" name="Text 22"/>
          <p:cNvSpPr txBox="1"/>
          <p:nvPr/>
        </p:nvSpPr>
        <p:spPr>
          <a:xfrm>
            <a:off x="9677400" y="1676400"/>
            <a:ext cx="1924050" cy="3048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312.24 THB/month</a:t>
            </a:r>
            <a:endParaRPr lang="en-US" sz="1300" dirty="0"/>
          </a:p>
        </p:txBody>
      </p:sp>
      <p:sp>
        <p:nvSpPr>
          <p:cNvPr id="27" name="Text 23"/>
          <p:cNvSpPr txBox="1"/>
          <p:nvPr/>
        </p:nvSpPr>
        <p:spPr>
          <a:xfrm>
            <a:off x="9715500" y="2038350"/>
            <a:ext cx="1847850" cy="400050"/>
          </a:xfrm>
          <a:prstGeom prst="rect">
            <a:avLst/>
          </a:prstGeom>
          <a:noFill/>
          <a:ln/>
        </p:spPr>
        <p:txBody>
          <a:bodyPr wrap="square" lIns="0" tIns="0" rIns="0" bIns="0" rtlCol="0" anchor="t"/>
          <a:lstStyle/>
          <a:p>
            <a:pPr algn="ctr" indent="0" marL="0">
              <a:buNone/>
            </a:pPr>
            <a:r>
              <a:rPr lang="en-US" sz="1100" dirty="0">
                <a:solidFill>
                  <a:srgbClr val="143B37"/>
                </a:solidFill>
                <a:latin typeface="Arial" pitchFamily="34" charset="0"/>
                <a:ea typeface="Arial" pitchFamily="34" charset="-122"/>
                <a:cs typeface="Arial" pitchFamily="34" charset="-120"/>
              </a:rPr>
              <a:t>then 7 percent VAT on the subtotal</a:t>
            </a:r>
            <a:endParaRPr lang="en-US" sz="1100" dirty="0"/>
          </a:p>
        </p:txBody>
      </p:sp>
      <p:sp>
        <p:nvSpPr>
          <p:cNvPr id="28" name="Text 24"/>
          <p:cNvSpPr txBox="1"/>
          <p:nvPr/>
        </p:nvSpPr>
        <p:spPr>
          <a:xfrm>
            <a:off x="514350" y="2762250"/>
            <a:ext cx="5334000" cy="28575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June 2025 invoice: THB 2.58 million</a:t>
            </a:r>
            <a:endParaRPr lang="en-US" sz="1600" dirty="0"/>
          </a:p>
        </p:txBody>
      </p:sp>
      <p:graphicFrame>
        <p:nvGraphicFramePr>
          <p:cNvPr id="29" name="Chart 0" descr=""/>
          <p:cNvGraphicFramePr/>
          <p:nvPr/>
        </p:nvGraphicFramePr>
        <p:xfrm>
          <a:off x="514350" y="3067050"/>
          <a:ext cx="3143250" cy="3143250"/>
        </p:xfrm>
        <a:graphic xmlns:a="http://schemas.openxmlformats.org/drawingml/2006/main">
          <a:graphicData uri="http://schemas.openxmlformats.org/drawingml/2006/chart">
            <c:chart xmlns:c="http://schemas.openxmlformats.org/drawingml/2006/chart" r:id="rId2"/>
          </a:graphicData>
        </a:graphic>
      </p:graphicFrame>
      <p:sp>
        <p:nvSpPr>
          <p:cNvPr id="30" name="Shape 25"/>
          <p:cNvSpPr/>
          <p:nvPr/>
        </p:nvSpPr>
        <p:spPr>
          <a:xfrm>
            <a:off x="3905250" y="3067050"/>
            <a:ext cx="3619500" cy="3143250"/>
          </a:xfrm>
          <a:prstGeom prst="roundRect">
            <a:avLst>
              <a:gd name="adj" fmla="val 5455"/>
            </a:avLst>
          </a:prstGeom>
          <a:solidFill>
            <a:srgbClr val="FFFFFF"/>
          </a:solidFill>
          <a:ln w="12700">
            <a:solidFill>
              <a:srgbClr val="8AB8B0"/>
            </a:solidFill>
            <a:prstDash val="solid"/>
          </a:ln>
        </p:spPr>
      </p:sp>
      <p:sp>
        <p:nvSpPr>
          <p:cNvPr id="31" name="Text 26"/>
          <p:cNvSpPr txBox="1"/>
          <p:nvPr/>
        </p:nvSpPr>
        <p:spPr>
          <a:xfrm>
            <a:off x="4114800" y="3238500"/>
            <a:ext cx="3238500" cy="247650"/>
          </a:xfrm>
          <a:prstGeom prst="rect">
            <a:avLst/>
          </a:prstGeom>
          <a:noFill/>
          <a:ln/>
        </p:spPr>
        <p:txBody>
          <a:bodyPr wrap="square" lIns="0" tIns="0" rIns="0" bIns="0" rtlCol="0" anchor="t"/>
          <a:lstStyle/>
          <a:p>
            <a:pPr algn="l" indent="0" marL="0">
              <a:buNone/>
            </a:pPr>
            <a:r>
              <a:rPr lang="en-US" sz="1300" b="1" dirty="0">
                <a:solidFill>
                  <a:srgbClr val="17685F"/>
                </a:solidFill>
                <a:latin typeface="Arial" pitchFamily="34" charset="0"/>
                <a:ea typeface="Arial" pitchFamily="34" charset="-122"/>
                <a:cs typeface="Arial" pitchFamily="34" charset="-120"/>
              </a:rPr>
              <a:t>Pre-VAT subtotal THB 2,407,767</a:t>
            </a:r>
            <a:endParaRPr lang="en-US" sz="1300" dirty="0"/>
          </a:p>
        </p:txBody>
      </p:sp>
      <p:sp>
        <p:nvSpPr>
          <p:cNvPr id="32" name="Text 27"/>
          <p:cNvSpPr txBox="1"/>
          <p:nvPr/>
        </p:nvSpPr>
        <p:spPr>
          <a:xfrm>
            <a:off x="4114800" y="3543300"/>
            <a:ext cx="3238500" cy="2476500"/>
          </a:xfrm>
          <a:prstGeom prst="rect">
            <a:avLst/>
          </a:prstGeom>
          <a:noFill/>
          <a:ln/>
        </p:spPr>
        <p:txBody>
          <a:bodyPr wrap="square" lIns="0" tIns="0" rIns="0" bIns="0" rtlCol="0" anchor="t"/>
          <a:lstStyle/>
          <a:p>
            <a:pPr algn="l" indent="0" marL="0">
              <a:buNone/>
            </a:pPr>
            <a:r>
              <a:rPr lang="en-US" sz="1250" b="1" dirty="0">
                <a:solidFill>
                  <a:srgbClr val="143B37"/>
                </a:solidFill>
                <a:latin typeface="Arial" pitchFamily="34" charset="0"/>
                <a:ea typeface="Arial" pitchFamily="34" charset="-122"/>
                <a:cs typeface="Arial" pitchFamily="34" charset="-120"/>
              </a:rPr>
              <a:t>631,580 kWh</a:t>
            </a:r>
            <a:pPr algn="l" indent="0" marL="0">
              <a:spcAft>
                <a:spcPts val="600"/>
              </a:spcAft>
              <a:buNone/>
            </a:pPr>
            <a:r>
              <a:rPr lang="en-US" sz="1250" dirty="0">
                <a:solidFill>
                  <a:srgbClr val="143B37"/>
                </a:solidFill>
                <a:latin typeface="Arial" pitchFamily="34" charset="0"/>
                <a:ea typeface="Arial" pitchFamily="34" charset="-122"/>
                <a:cs typeface="Arial" pitchFamily="34" charset="-120"/>
              </a:rPr>
              <a:t> billed in the month</a:t>
            </a:r>
            <a:endParaRPr lang="en-US" sz="1250" dirty="0"/>
          </a:p>
          <a:p>
            <a:pPr algn="l" indent="0" marL="0">
              <a:buNone/>
            </a:pPr>
            <a:r>
              <a:rPr lang="en-US" sz="1250" b="1" dirty="0">
                <a:solidFill>
                  <a:srgbClr val="143B37"/>
                </a:solidFill>
                <a:latin typeface="Arial" pitchFamily="34" charset="0"/>
                <a:ea typeface="Arial" pitchFamily="34" charset="-122"/>
                <a:cs typeface="Arial" pitchFamily="34" charset="-120"/>
              </a:rPr>
              <a:t>1,368 kW</a:t>
            </a:r>
            <a:pPr algn="l" indent="0" marL="0">
              <a:spcAft>
                <a:spcPts val="600"/>
              </a:spcAft>
              <a:buNone/>
            </a:pPr>
            <a:r>
              <a:rPr lang="en-US" sz="1250" dirty="0">
                <a:solidFill>
                  <a:srgbClr val="143B37"/>
                </a:solidFill>
                <a:latin typeface="Arial" pitchFamily="34" charset="0"/>
                <a:ea typeface="Arial" pitchFamily="34" charset="-122"/>
                <a:cs typeface="Arial" pitchFamily="34" charset="-120"/>
              </a:rPr>
              <a:t> on-peak maximum demand, the single interval that sets THB 181,848 of demand charge</a:t>
            </a:r>
            <a:endParaRPr lang="en-US" sz="1250" dirty="0"/>
          </a:p>
          <a:p>
            <a:pPr algn="l" indent="0" marL="0">
              <a:buNone/>
            </a:pPr>
            <a:r>
              <a:rPr lang="en-US" sz="1250" b="1" dirty="0">
                <a:solidFill>
                  <a:srgbClr val="143B37"/>
                </a:solidFill>
                <a:latin typeface="Arial" pitchFamily="34" charset="0"/>
                <a:ea typeface="Arial" pitchFamily="34" charset="-122"/>
                <a:cs typeface="Arial" pitchFamily="34" charset="-120"/>
              </a:rPr>
              <a:t>Ft 0.1972 THB/kWh</a:t>
            </a:r>
            <a:pPr algn="l" indent="0" marL="0">
              <a:spcAft>
                <a:spcPts val="600"/>
              </a:spcAft>
              <a:buNone/>
            </a:pPr>
            <a:r>
              <a:rPr lang="en-US" sz="1250" dirty="0">
                <a:solidFill>
                  <a:srgbClr val="143B37"/>
                </a:solidFill>
                <a:latin typeface="Arial" pitchFamily="34" charset="0"/>
                <a:ea typeface="Arial" pitchFamily="34" charset="-122"/>
                <a:cs typeface="Arial" pitchFamily="34" charset="-120"/>
              </a:rPr>
              <a:t> on every kWh in that period</a:t>
            </a:r>
            <a:endParaRPr lang="en-US" sz="1250" dirty="0"/>
          </a:p>
          <a:p>
            <a:pPr algn="l" indent="0" marL="0">
              <a:buNone/>
            </a:pPr>
            <a:r>
              <a:rPr lang="en-US" sz="1250" b="1" dirty="0">
                <a:solidFill>
                  <a:srgbClr val="143B37"/>
                </a:solidFill>
                <a:latin typeface="Arial" pitchFamily="34" charset="0"/>
                <a:ea typeface="Arial" pitchFamily="34" charset="-122"/>
                <a:cs typeface="Arial" pitchFamily="34" charset="-120"/>
              </a:rPr>
              <a:t>Energy is 87 percent of the bill;</a:t>
            </a:r>
            <a:pPr algn="l" indent="0" marL="0">
              <a:buNone/>
            </a:pPr>
            <a:r>
              <a:rPr lang="en-US" sz="1250" dirty="0">
                <a:solidFill>
                  <a:srgbClr val="143B37"/>
                </a:solidFill>
                <a:latin typeface="Arial" pitchFamily="34" charset="0"/>
                <a:ea typeface="Arial" pitchFamily="34" charset="-122"/>
                <a:cs typeface="Arial" pitchFamily="34" charset="-120"/>
              </a:rPr>
              <a:t> demand 8 percent, Ft 5 percent; the service charge is negligible</a:t>
            </a:r>
            <a:endParaRPr lang="en-US" sz="1250" dirty="0"/>
          </a:p>
        </p:txBody>
      </p:sp>
      <p:sp>
        <p:nvSpPr>
          <p:cNvPr id="33" name="Shape 28"/>
          <p:cNvSpPr/>
          <p:nvPr/>
        </p:nvSpPr>
        <p:spPr>
          <a:xfrm>
            <a:off x="7810500" y="2762250"/>
            <a:ext cx="3924300" cy="3448050"/>
          </a:xfrm>
          <a:prstGeom prst="roundRect">
            <a:avLst>
              <a:gd name="adj" fmla="val 4972"/>
            </a:avLst>
          </a:prstGeom>
          <a:solidFill>
            <a:srgbClr val="17685F"/>
          </a:solidFill>
          <a:ln w="12700">
            <a:solidFill>
              <a:srgbClr val="17685F"/>
            </a:solidFill>
            <a:prstDash val="solid"/>
          </a:ln>
        </p:spPr>
      </p:sp>
      <p:sp>
        <p:nvSpPr>
          <p:cNvPr id="34" name="Text 29"/>
          <p:cNvSpPr txBox="1"/>
          <p:nvPr/>
        </p:nvSpPr>
        <p:spPr>
          <a:xfrm>
            <a:off x="8058150" y="2952750"/>
            <a:ext cx="34290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Why the structure matters</a:t>
            </a:r>
            <a:endParaRPr lang="en-US" sz="1700" dirty="0"/>
          </a:p>
        </p:txBody>
      </p:sp>
      <p:sp>
        <p:nvSpPr>
          <p:cNvPr id="35" name="Text 30"/>
          <p:cNvSpPr txBox="1"/>
          <p:nvPr/>
        </p:nvSpPr>
        <p:spPr>
          <a:xfrm>
            <a:off x="8058150" y="3352800"/>
            <a:ext cx="3486150" cy="276225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Solar earns the peak rate on weekdays and the off-peak rate on weekends and holidays; the blended value of a solar kWh is well below the peak rate.</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One monthly interval sets the demand charge, so a cloudy quarter hour can wipe out a month of peak shaving unless a battery covers it.</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Ft moves every four months and is outside the site's control; the model carries 3 percent a year tariff escalation and does not forecast Ft.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Assumptions (1): technical and cost inputs</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14350" y="1200150"/>
          <a:ext cx="11220450" cy="914400"/>
        </p:xfrm>
        <a:graphic>
          <a:graphicData uri="http://schemas.openxmlformats.org/drawingml/2006/table">
            <a:tbl>
              <a:tblPr/>
              <a:tblGrid>
                <a:gridCol w="2857500"/>
                <a:gridCol w="2857500"/>
                <a:gridCol w="5505450"/>
              </a:tblGrid>
              <a:tr h="314325">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Value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Basis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Usable roof share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65 percent of the outlined roof area</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memo assumption kept; skylights, edges, walkways and equipment take the rest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Installed power density</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0.20 kWp per usable m2</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memo assumption kept; equivalent to 0.13 kWp per outlined m2</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PV installed cost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500 USD/kWp</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Keen quotation; below published Thai benchmarks (see slide 15)</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installed cost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100 USD/kW + 150 USD/kWh</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Keen quotation; 325 USD/kW installed for a 1.5 hour system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minimum duration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1.5 hours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provisional</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PV operating cost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8.00 USD/kWp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supplied at 7.50 (1.5 percent of capex); optimiser rounds to whole dollars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operating cost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 percent of install cost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optimiser convention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Insurance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0.5 percent of capex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provisional</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Specific yield, year 1</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1,498 kWh/kWp</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PVWatts irradiance for Phimai: 2,049 kWh/m2 plane of array; performance ratio 0.731; tilt 15 degrees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PV degradation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0.5 percent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optimiser default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replacement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year 10, 100 percent of install cost, whole system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conservative case; capitalised and depreciated over 5 years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PV inverter replacement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year 11, 10 percent of PV capex</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Allotrope convention, provisional</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Grid export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strict no-export site; surplus is curtailed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Grid connection, power factor mitigation, permit fees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excluded from capex</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to be added when quoted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Assumptions (2): financing, tax and scope</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9</a:t>
            </a:r>
            <a:endParaRPr lang="en-US" sz="1000" dirty="0"/>
          </a:p>
        </p:txBody>
      </p:sp>
      <p:sp>
        <p:nvSpPr>
          <p:cNvPr id="8" name="Shape 4"/>
          <p:cNvSpPr/>
          <p:nvPr/>
        </p:nvSpPr>
        <p:spPr>
          <a:xfrm>
            <a:off x="514350" y="1200150"/>
            <a:ext cx="5715000" cy="4476750"/>
          </a:xfrm>
          <a:prstGeom prst="roundRect">
            <a:avLst>
              <a:gd name="adj" fmla="val 3830"/>
            </a:avLst>
          </a:prstGeom>
          <a:solidFill>
            <a:srgbClr val="FFFFFF"/>
          </a:solidFill>
          <a:ln w="12700">
            <a:solidFill>
              <a:srgbClr val="8AB8B0"/>
            </a:solidFill>
            <a:prstDash val="solid"/>
          </a:ln>
        </p:spPr>
      </p:sp>
      <p:sp>
        <p:nvSpPr>
          <p:cNvPr id="9" name="Text 5"/>
          <p:cNvSpPr txBox="1"/>
          <p:nvPr/>
        </p:nvSpPr>
        <p:spPr>
          <a:xfrm>
            <a:off x="742950" y="1371600"/>
            <a:ext cx="5143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Financing and tax</a:t>
            </a:r>
            <a:endParaRPr lang="en-US" sz="1700" dirty="0"/>
          </a:p>
        </p:txBody>
      </p:sp>
      <p:sp>
        <p:nvSpPr>
          <p:cNvPr id="10" name="Text 6"/>
          <p:cNvSpPr txBox="1"/>
          <p:nvPr/>
        </p:nvSpPr>
        <p:spPr>
          <a:xfrm>
            <a:off x="742950" y="17335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Project life</a:t>
            </a:r>
            <a:endParaRPr lang="en-US" sz="1250" dirty="0"/>
          </a:p>
        </p:txBody>
      </p:sp>
      <p:sp>
        <p:nvSpPr>
          <p:cNvPr id="11" name="Text 7"/>
          <p:cNvSpPr txBox="1"/>
          <p:nvPr/>
        </p:nvSpPr>
        <p:spPr>
          <a:xfrm>
            <a:off x="2724150" y="17335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20 years</a:t>
            </a:r>
            <a:endParaRPr lang="en-US" sz="1250" dirty="0"/>
          </a:p>
        </p:txBody>
      </p:sp>
      <p:sp>
        <p:nvSpPr>
          <p:cNvPr id="12" name="Shape 8"/>
          <p:cNvSpPr/>
          <p:nvPr/>
        </p:nvSpPr>
        <p:spPr>
          <a:xfrm>
            <a:off x="742950" y="2066925"/>
            <a:ext cx="5257800" cy="0"/>
          </a:xfrm>
          <a:prstGeom prst="line">
            <a:avLst/>
          </a:prstGeom>
          <a:noFill/>
          <a:ln w="9525">
            <a:solidFill>
              <a:srgbClr val="E5E9E8"/>
            </a:solidFill>
            <a:prstDash val="solid"/>
          </a:ln>
        </p:spPr>
      </p:sp>
      <p:sp>
        <p:nvSpPr>
          <p:cNvPr id="13" name="Text 9"/>
          <p:cNvSpPr txBox="1"/>
          <p:nvPr/>
        </p:nvSpPr>
        <p:spPr>
          <a:xfrm>
            <a:off x="742950" y="20955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Discount rate</a:t>
            </a:r>
            <a:endParaRPr lang="en-US" sz="1250" dirty="0"/>
          </a:p>
        </p:txBody>
      </p:sp>
      <p:sp>
        <p:nvSpPr>
          <p:cNvPr id="14" name="Text 10"/>
          <p:cNvSpPr txBox="1"/>
          <p:nvPr/>
        </p:nvSpPr>
        <p:spPr>
          <a:xfrm>
            <a:off x="2724150" y="20955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11 percent, equity NPV basis</a:t>
            </a:r>
            <a:endParaRPr lang="en-US" sz="1250" dirty="0"/>
          </a:p>
        </p:txBody>
      </p:sp>
      <p:sp>
        <p:nvSpPr>
          <p:cNvPr id="15" name="Shape 11"/>
          <p:cNvSpPr/>
          <p:nvPr/>
        </p:nvSpPr>
        <p:spPr>
          <a:xfrm>
            <a:off x="742950" y="2428875"/>
            <a:ext cx="5257800" cy="0"/>
          </a:xfrm>
          <a:prstGeom prst="line">
            <a:avLst/>
          </a:prstGeom>
          <a:noFill/>
          <a:ln w="9525">
            <a:solidFill>
              <a:srgbClr val="E5E9E8"/>
            </a:solidFill>
            <a:prstDash val="solid"/>
          </a:ln>
        </p:spPr>
      </p:sp>
      <p:sp>
        <p:nvSpPr>
          <p:cNvPr id="16" name="Text 12"/>
          <p:cNvSpPr txBox="1"/>
          <p:nvPr/>
        </p:nvSpPr>
        <p:spPr>
          <a:xfrm>
            <a:off x="742950" y="24574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Debt</a:t>
            </a:r>
            <a:endParaRPr lang="en-US" sz="1250" dirty="0"/>
          </a:p>
        </p:txBody>
      </p:sp>
      <p:sp>
        <p:nvSpPr>
          <p:cNvPr id="17" name="Text 13"/>
          <p:cNvSpPr txBox="1"/>
          <p:nvPr/>
        </p:nvSpPr>
        <p:spPr>
          <a:xfrm>
            <a:off x="2724150" y="24574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70 percent of capex, 6.5 percent, 10 years, level payments</a:t>
            </a:r>
            <a:endParaRPr lang="en-US" sz="1250" dirty="0"/>
          </a:p>
        </p:txBody>
      </p:sp>
      <p:sp>
        <p:nvSpPr>
          <p:cNvPr id="18" name="Shape 14"/>
          <p:cNvSpPr/>
          <p:nvPr/>
        </p:nvSpPr>
        <p:spPr>
          <a:xfrm>
            <a:off x="742950" y="2790825"/>
            <a:ext cx="5257800" cy="0"/>
          </a:xfrm>
          <a:prstGeom prst="line">
            <a:avLst/>
          </a:prstGeom>
          <a:noFill/>
          <a:ln w="9525">
            <a:solidFill>
              <a:srgbClr val="E5E9E8"/>
            </a:solidFill>
            <a:prstDash val="solid"/>
          </a:ln>
        </p:spPr>
      </p:sp>
      <p:sp>
        <p:nvSpPr>
          <p:cNvPr id="19" name="Text 15"/>
          <p:cNvSpPr txBox="1"/>
          <p:nvPr/>
        </p:nvSpPr>
        <p:spPr>
          <a:xfrm>
            <a:off x="742950" y="28194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Exchange rate</a:t>
            </a:r>
            <a:endParaRPr lang="en-US" sz="1250" dirty="0"/>
          </a:p>
        </p:txBody>
      </p:sp>
      <p:sp>
        <p:nvSpPr>
          <p:cNvPr id="20" name="Text 16"/>
          <p:cNvSpPr txBox="1"/>
          <p:nvPr/>
        </p:nvSpPr>
        <p:spPr>
          <a:xfrm>
            <a:off x="2724150" y="28194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32.5 THB per USD, planning rate</a:t>
            </a:r>
            <a:endParaRPr lang="en-US" sz="1250" dirty="0"/>
          </a:p>
        </p:txBody>
      </p:sp>
      <p:sp>
        <p:nvSpPr>
          <p:cNvPr id="21" name="Shape 17"/>
          <p:cNvSpPr/>
          <p:nvPr/>
        </p:nvSpPr>
        <p:spPr>
          <a:xfrm>
            <a:off x="742950" y="3152775"/>
            <a:ext cx="5257800" cy="0"/>
          </a:xfrm>
          <a:prstGeom prst="line">
            <a:avLst/>
          </a:prstGeom>
          <a:noFill/>
          <a:ln w="9525">
            <a:solidFill>
              <a:srgbClr val="E5E9E8"/>
            </a:solidFill>
            <a:prstDash val="solid"/>
          </a:ln>
        </p:spPr>
      </p:sp>
      <p:sp>
        <p:nvSpPr>
          <p:cNvPr id="22" name="Text 18"/>
          <p:cNvSpPr txBox="1"/>
          <p:nvPr/>
        </p:nvSpPr>
        <p:spPr>
          <a:xfrm>
            <a:off x="742950" y="31813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Corporate income tax</a:t>
            </a:r>
            <a:endParaRPr lang="en-US" sz="1250" dirty="0"/>
          </a:p>
        </p:txBody>
      </p:sp>
      <p:sp>
        <p:nvSpPr>
          <p:cNvPr id="23" name="Text 19"/>
          <p:cNvSpPr txBox="1"/>
          <p:nvPr/>
        </p:nvSpPr>
        <p:spPr>
          <a:xfrm>
            <a:off x="2724150" y="31813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20 percent flat, no incentive regime</a:t>
            </a:r>
            <a:endParaRPr lang="en-US" sz="1250" dirty="0"/>
          </a:p>
        </p:txBody>
      </p:sp>
      <p:sp>
        <p:nvSpPr>
          <p:cNvPr id="24" name="Shape 20"/>
          <p:cNvSpPr/>
          <p:nvPr/>
        </p:nvSpPr>
        <p:spPr>
          <a:xfrm>
            <a:off x="742950" y="3514725"/>
            <a:ext cx="5257800" cy="0"/>
          </a:xfrm>
          <a:prstGeom prst="line">
            <a:avLst/>
          </a:prstGeom>
          <a:noFill/>
          <a:ln w="9525">
            <a:solidFill>
              <a:srgbClr val="E5E9E8"/>
            </a:solidFill>
            <a:prstDash val="solid"/>
          </a:ln>
        </p:spPr>
      </p:sp>
      <p:sp>
        <p:nvSpPr>
          <p:cNvPr id="25" name="Text 21"/>
          <p:cNvSpPr txBox="1"/>
          <p:nvPr/>
        </p:nvSpPr>
        <p:spPr>
          <a:xfrm>
            <a:off x="742950" y="35433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Depreciation</a:t>
            </a:r>
            <a:endParaRPr lang="en-US" sz="1250" dirty="0"/>
          </a:p>
        </p:txBody>
      </p:sp>
      <p:sp>
        <p:nvSpPr>
          <p:cNvPr id="26" name="Text 22"/>
          <p:cNvSpPr txBox="1"/>
          <p:nvPr/>
        </p:nvSpPr>
        <p:spPr>
          <a:xfrm>
            <a:off x="2724150" y="35433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5 year machinery life, PV and battery alike</a:t>
            </a:r>
            <a:endParaRPr lang="en-US" sz="1250" dirty="0"/>
          </a:p>
        </p:txBody>
      </p:sp>
      <p:sp>
        <p:nvSpPr>
          <p:cNvPr id="27" name="Shape 23"/>
          <p:cNvSpPr/>
          <p:nvPr/>
        </p:nvSpPr>
        <p:spPr>
          <a:xfrm>
            <a:off x="742950" y="3876675"/>
            <a:ext cx="5257800" cy="0"/>
          </a:xfrm>
          <a:prstGeom prst="line">
            <a:avLst/>
          </a:prstGeom>
          <a:noFill/>
          <a:ln w="9525">
            <a:solidFill>
              <a:srgbClr val="E5E9E8"/>
            </a:solidFill>
            <a:prstDash val="solid"/>
          </a:ln>
        </p:spPr>
      </p:sp>
      <p:sp>
        <p:nvSpPr>
          <p:cNvPr id="28" name="Text 24"/>
          <p:cNvSpPr txBox="1"/>
          <p:nvPr/>
        </p:nvSpPr>
        <p:spPr>
          <a:xfrm>
            <a:off x="742950" y="39052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Tariff escalation</a:t>
            </a:r>
            <a:endParaRPr lang="en-US" sz="1250" dirty="0"/>
          </a:p>
        </p:txBody>
      </p:sp>
      <p:sp>
        <p:nvSpPr>
          <p:cNvPr id="29" name="Text 25"/>
          <p:cNvSpPr txBox="1"/>
          <p:nvPr/>
        </p:nvSpPr>
        <p:spPr>
          <a:xfrm>
            <a:off x="2724150" y="39052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3 percent a year on the PEA bill (provisional)</a:t>
            </a:r>
            <a:endParaRPr lang="en-US" sz="1250" dirty="0"/>
          </a:p>
        </p:txBody>
      </p:sp>
      <p:sp>
        <p:nvSpPr>
          <p:cNvPr id="30" name="Shape 26"/>
          <p:cNvSpPr/>
          <p:nvPr/>
        </p:nvSpPr>
        <p:spPr>
          <a:xfrm>
            <a:off x="742950" y="4238625"/>
            <a:ext cx="5257800" cy="0"/>
          </a:xfrm>
          <a:prstGeom prst="line">
            <a:avLst/>
          </a:prstGeom>
          <a:noFill/>
          <a:ln w="9525">
            <a:solidFill>
              <a:srgbClr val="E5E9E8"/>
            </a:solidFill>
            <a:prstDash val="solid"/>
          </a:ln>
        </p:spPr>
      </p:sp>
      <p:sp>
        <p:nvSpPr>
          <p:cNvPr id="31" name="Text 27"/>
          <p:cNvSpPr txBox="1"/>
          <p:nvPr/>
        </p:nvSpPr>
        <p:spPr>
          <a:xfrm>
            <a:off x="742950" y="42672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O&amp;M escalation</a:t>
            </a:r>
            <a:endParaRPr lang="en-US" sz="1250" dirty="0"/>
          </a:p>
        </p:txBody>
      </p:sp>
      <p:sp>
        <p:nvSpPr>
          <p:cNvPr id="32" name="Text 28"/>
          <p:cNvSpPr txBox="1"/>
          <p:nvPr/>
        </p:nvSpPr>
        <p:spPr>
          <a:xfrm>
            <a:off x="2724150" y="42672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3 percent a year</a:t>
            </a:r>
            <a:endParaRPr lang="en-US" sz="1250" dirty="0"/>
          </a:p>
        </p:txBody>
      </p:sp>
      <p:sp>
        <p:nvSpPr>
          <p:cNvPr id="33" name="Shape 29"/>
          <p:cNvSpPr/>
          <p:nvPr/>
        </p:nvSpPr>
        <p:spPr>
          <a:xfrm>
            <a:off x="742950" y="4600575"/>
            <a:ext cx="5257800" cy="0"/>
          </a:xfrm>
          <a:prstGeom prst="line">
            <a:avLst/>
          </a:prstGeom>
          <a:noFill/>
          <a:ln w="9525">
            <a:solidFill>
              <a:srgbClr val="E5E9E8"/>
            </a:solidFill>
            <a:prstDash val="solid"/>
          </a:ln>
        </p:spPr>
      </p:sp>
      <p:sp>
        <p:nvSpPr>
          <p:cNvPr id="34" name="Text 30"/>
          <p:cNvSpPr txBox="1"/>
          <p:nvPr/>
        </p:nvSpPr>
        <p:spPr>
          <a:xfrm>
            <a:off x="742950" y="46291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VAT</a:t>
            </a:r>
            <a:endParaRPr lang="en-US" sz="1250" dirty="0"/>
          </a:p>
        </p:txBody>
      </p:sp>
      <p:sp>
        <p:nvSpPr>
          <p:cNvPr id="35" name="Text 31"/>
          <p:cNvSpPr txBox="1"/>
          <p:nvPr/>
        </p:nvSpPr>
        <p:spPr>
          <a:xfrm>
            <a:off x="2724150" y="46291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7 percent on the bill</a:t>
            </a:r>
            <a:endParaRPr lang="en-US" sz="1250" dirty="0"/>
          </a:p>
        </p:txBody>
      </p:sp>
      <p:sp>
        <p:nvSpPr>
          <p:cNvPr id="36" name="Shape 32"/>
          <p:cNvSpPr/>
          <p:nvPr/>
        </p:nvSpPr>
        <p:spPr>
          <a:xfrm>
            <a:off x="6534150" y="1200150"/>
            <a:ext cx="5200650" cy="1905000"/>
          </a:xfrm>
          <a:prstGeom prst="roundRect">
            <a:avLst>
              <a:gd name="adj" fmla="val 9000"/>
            </a:avLst>
          </a:prstGeom>
          <a:solidFill>
            <a:srgbClr val="17685F"/>
          </a:solidFill>
          <a:ln w="12700">
            <a:solidFill>
              <a:srgbClr val="17685F"/>
            </a:solidFill>
            <a:prstDash val="solid"/>
          </a:ln>
        </p:spPr>
      </p:sp>
      <p:sp>
        <p:nvSpPr>
          <p:cNvPr id="37" name="Text 33"/>
          <p:cNvSpPr txBox="1"/>
          <p:nvPr/>
        </p:nvSpPr>
        <p:spPr>
          <a:xfrm>
            <a:off x="6762750" y="1371600"/>
            <a:ext cx="4762500" cy="26670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Ownership structure</a:t>
            </a:r>
            <a:endParaRPr lang="en-US" sz="1700" dirty="0"/>
          </a:p>
        </p:txBody>
      </p:sp>
      <p:sp>
        <p:nvSpPr>
          <p:cNvPr id="38" name="Text 34"/>
          <p:cNvSpPr txBox="1"/>
          <p:nvPr/>
        </p:nvSpPr>
        <p:spPr>
          <a:xfrm>
            <a:off x="6762750" y="1695450"/>
            <a:ext cx="4762500" cy="1238250"/>
          </a:xfrm>
          <a:prstGeom prst="rect">
            <a:avLst/>
          </a:prstGeom>
          <a:noFill/>
          <a:ln/>
        </p:spPr>
        <p:txBody>
          <a:bodyPr wrap="square" lIns="0" tIns="0" rIns="0" bIns="0" rtlCol="0" anchor="t"/>
          <a:lstStyle/>
          <a:p>
            <a:pPr algn="l" indent="0" marL="0">
              <a:buNone/>
            </a:pPr>
            <a:r>
              <a:rPr lang="en-US" sz="1250" dirty="0">
                <a:solidFill>
                  <a:srgbClr val="FFFFFF"/>
                </a:solidFill>
                <a:latin typeface="Arial" pitchFamily="34" charset="0"/>
                <a:ea typeface="Arial" pitchFamily="34" charset="-122"/>
                <a:cs typeface="Arial" pitchFamily="34" charset="-120"/>
              </a:rPr>
              <a:t>Direct ownership: the factory invests in its own roof and keeps the whole avoided PEA bill. No ESCO discount, no third-party developer margin, no new-project tax incentive. Returns are equity returns after debt service and CIT.</a:t>
            </a:r>
            <a:endParaRPr lang="en-US" sz="1250" dirty="0"/>
          </a:p>
        </p:txBody>
      </p:sp>
      <p:sp>
        <p:nvSpPr>
          <p:cNvPr id="39" name="Shape 35"/>
          <p:cNvSpPr/>
          <p:nvPr/>
        </p:nvSpPr>
        <p:spPr>
          <a:xfrm>
            <a:off x="6534150" y="3295650"/>
            <a:ext cx="5200650" cy="2381250"/>
          </a:xfrm>
          <a:prstGeom prst="roundRect">
            <a:avLst>
              <a:gd name="adj" fmla="val 7200"/>
            </a:avLst>
          </a:prstGeom>
          <a:solidFill>
            <a:srgbClr val="FFFFFF"/>
          </a:solidFill>
          <a:ln w="12700">
            <a:solidFill>
              <a:srgbClr val="8AB8B0"/>
            </a:solidFill>
            <a:prstDash val="solid"/>
          </a:ln>
        </p:spPr>
      </p:sp>
      <p:sp>
        <p:nvSpPr>
          <p:cNvPr id="40" name="Text 36"/>
          <p:cNvSpPr txBox="1"/>
          <p:nvPr/>
        </p:nvSpPr>
        <p:spPr>
          <a:xfrm>
            <a:off x="6762750" y="3467100"/>
            <a:ext cx="4762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Emissions and scope</a:t>
            </a:r>
            <a:endParaRPr lang="en-US" sz="1700" dirty="0"/>
          </a:p>
        </p:txBody>
      </p:sp>
      <p:sp>
        <p:nvSpPr>
          <p:cNvPr id="41" name="Text 37"/>
          <p:cNvSpPr txBox="1"/>
          <p:nvPr/>
        </p:nvSpPr>
        <p:spPr>
          <a:xfrm>
            <a:off x="6762750" y="3790950"/>
            <a:ext cx="4762500" cy="1809750"/>
          </a:xfrm>
          <a:prstGeom prst="rect">
            <a:avLst/>
          </a:prstGeom>
          <a:noFill/>
          <a:ln/>
        </p:spPr>
        <p:txBody>
          <a:bodyPr wrap="square" lIns="0" tIns="0" rIns="0" bIns="0" rtlCol="0" anchor="t"/>
          <a:lstStyle/>
          <a:p>
            <a:pPr marL="203200" indent="-203200">
              <a:spcAft>
                <a:spcPts val="600"/>
              </a:spcAft>
              <a:buSzPct val="100000"/>
              <a:buChar char="•"/>
            </a:pPr>
            <a:r>
              <a:rPr lang="en-US" sz="1150" dirty="0">
                <a:solidFill>
                  <a:srgbClr val="143B37"/>
                </a:solidFill>
                <a:latin typeface="Arial" pitchFamily="34" charset="0"/>
                <a:ea typeface="Arial" pitchFamily="34" charset="-122"/>
                <a:cs typeface="Arial" pitchFamily="34" charset="-120"/>
              </a:rPr>
              <a:t>Avoided emissions: avoided grid import multiplied by 0.4750 kg CO2e per kWh (Thailand Greenhouse Gas Management Organization, 2022-2024 grid mix).</a:t>
            </a:r>
            <a:endParaRPr lang="en-US" sz="1150" dirty="0"/>
          </a:p>
          <a:p>
            <a:pPr marL="203200" indent="-203200">
              <a:spcAft>
                <a:spcPts val="600"/>
              </a:spcAft>
              <a:buSzPct val="100000"/>
              <a:buChar char="•"/>
            </a:pPr>
            <a:r>
              <a:rPr lang="en-US" sz="1150" dirty="0">
                <a:solidFill>
                  <a:srgbClr val="143B37"/>
                </a:solidFill>
                <a:latin typeface="Arial" pitchFamily="34" charset="0"/>
                <a:ea typeface="Arial" pitchFamily="34" charset="-122"/>
                <a:cs typeface="Arial" pitchFamily="34" charset="-120"/>
              </a:rPr>
              <a:t>Excluded at the client's direction: grid connection cost, power factor mitigation (no kVAR data supplied), permit and licence fees (no published schedule).</a:t>
            </a:r>
            <a:endParaRPr lang="en-US" sz="1150" dirty="0"/>
          </a:p>
          <a:p>
            <a:pPr marL="203200" indent="-203200">
              <a:spcAft>
                <a:spcPts val="600"/>
              </a:spcAft>
              <a:buSzPct val="100000"/>
              <a:buChar char="•"/>
            </a:pPr>
            <a:r>
              <a:rPr lang="en-US" sz="1150" dirty="0">
                <a:solidFill>
                  <a:srgbClr val="143B37"/>
                </a:solidFill>
                <a:latin typeface="Arial" pitchFamily="34" charset="0"/>
                <a:ea typeface="Arial" pitchFamily="34" charset="-122"/>
                <a:cs typeface="Arial" pitchFamily="34" charset="-120"/>
              </a:rPr>
              <a:t>Fifteen inputs are provisional and marked as such in the workbooks; the ones that move the answer are the usable roof share, the debt terms and the insurance rate (Appendix A).</a:t>
            </a:r>
            <a:endParaRPr lang="en-US" sz="1150" dirty="0"/>
          </a:p>
        </p:txBody>
      </p:sp>
      <p:sp>
        <p:nvSpPr>
          <p:cNvPr id="42" name="Text 38"/>
          <p:cNvSpPr txBox="1"/>
          <p:nvPr/>
        </p:nvSpPr>
        <p:spPr>
          <a:xfrm>
            <a:off x="514350" y="5867400"/>
            <a:ext cx="11220450" cy="247650"/>
          </a:xfrm>
          <a:prstGeom prst="rect">
            <a:avLst/>
          </a:prstGeom>
          <a:noFill/>
          <a:ln/>
        </p:spPr>
        <p:txBody>
          <a:bodyPr wrap="square" lIns="0" tIns="0" rIns="0" bIns="0" rtlCol="0" anchor="t"/>
          <a:lstStyle/>
          <a:p>
            <a:pPr algn="l" indent="0" marL="0">
              <a:buNone/>
            </a:pPr>
            <a:r>
              <a:rPr lang="en-US" sz="1200" i="1" dirty="0">
                <a:solidFill>
                  <a:srgbClr val="4D6D68"/>
                </a:solidFill>
                <a:latin typeface="Arial" pitchFamily="34" charset="0"/>
                <a:ea typeface="Arial" pitchFamily="34" charset="-122"/>
                <a:cs typeface="Arial" pitchFamily="34" charset="-120"/>
              </a:rPr>
              <a:t>All results are before grid connection, permitting and power-factor costs; add them when quoted.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Five configurations were optimised</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10</a:t>
            </a:r>
            <a:endParaRPr lang="en-US" sz="1000" dirty="0"/>
          </a:p>
        </p:txBody>
      </p:sp>
      <p:sp>
        <p:nvSpPr>
          <p:cNvPr id="8" name="Shape 4"/>
          <p:cNvSpPr/>
          <p:nvPr/>
        </p:nvSpPr>
        <p:spPr>
          <a:xfrm>
            <a:off x="514350" y="1238250"/>
            <a:ext cx="3619500" cy="1257300"/>
          </a:xfrm>
          <a:prstGeom prst="roundRect">
            <a:avLst>
              <a:gd name="adj" fmla="val 13636"/>
            </a:avLst>
          </a:prstGeom>
          <a:solidFill>
            <a:srgbClr val="B7D9D2"/>
          </a:solidFill>
          <a:ln w="12700">
            <a:solidFill>
              <a:srgbClr val="B7D9D2"/>
            </a:solidFill>
            <a:prstDash val="solid"/>
          </a:ln>
        </p:spPr>
      </p:sp>
      <p:sp>
        <p:nvSpPr>
          <p:cNvPr id="9" name="Text 5"/>
          <p:cNvSpPr txBox="1"/>
          <p:nvPr/>
        </p:nvSpPr>
        <p:spPr>
          <a:xfrm>
            <a:off x="704850" y="1390650"/>
            <a:ext cx="419100" cy="457200"/>
          </a:xfrm>
          <a:prstGeom prst="rect">
            <a:avLst/>
          </a:prstGeom>
          <a:noFill/>
          <a:ln/>
        </p:spPr>
        <p:txBody>
          <a:bodyPr wrap="square" lIns="0" tIns="0" rIns="0" bIns="0" rtlCol="0" anchor="t"/>
          <a:lstStyle/>
          <a:p>
            <a:pPr algn="l" indent="0" marL="0">
              <a:buNone/>
            </a:pPr>
            <a:r>
              <a:rPr lang="en-US" sz="3000" b="1" dirty="0">
                <a:solidFill>
                  <a:srgbClr val="143B37"/>
                </a:solidFill>
                <a:latin typeface="Arial" pitchFamily="34" charset="0"/>
                <a:ea typeface="Arial" pitchFamily="34" charset="-122"/>
                <a:cs typeface="Arial" pitchFamily="34" charset="-120"/>
              </a:rPr>
              <a:t>1</a:t>
            </a:r>
            <a:endParaRPr lang="en-US" sz="3000" dirty="0"/>
          </a:p>
        </p:txBody>
      </p:sp>
      <p:sp>
        <p:nvSpPr>
          <p:cNvPr id="10" name="Text 6"/>
          <p:cNvSpPr txBox="1"/>
          <p:nvPr/>
        </p:nvSpPr>
        <p:spPr>
          <a:xfrm>
            <a:off x="1238250" y="1409700"/>
            <a:ext cx="2762250" cy="285750"/>
          </a:xfrm>
          <a:prstGeom prst="rect">
            <a:avLst/>
          </a:prstGeom>
          <a:noFill/>
          <a:ln/>
        </p:spPr>
        <p:txBody>
          <a:bodyPr wrap="square" lIns="0" tIns="0" rIns="0" bIns="0" rtlCol="0" anchor="t"/>
          <a:lstStyle/>
          <a:p>
            <a:pPr algn="l" indent="0" marL="0">
              <a:buNone/>
            </a:pPr>
            <a:r>
              <a:rPr lang="en-US" sz="1600" b="1" dirty="0">
                <a:solidFill>
                  <a:srgbClr val="143B37"/>
                </a:solidFill>
                <a:latin typeface="Arial" pitchFamily="34" charset="0"/>
                <a:ea typeface="Arial" pitchFamily="34" charset="-122"/>
                <a:cs typeface="Arial" pitchFamily="34" charset="-120"/>
              </a:rPr>
              <a:t>Roof F</a:t>
            </a:r>
            <a:endParaRPr lang="en-US" sz="1600" dirty="0"/>
          </a:p>
        </p:txBody>
      </p:sp>
      <p:sp>
        <p:nvSpPr>
          <p:cNvPr id="11" name="Text 7"/>
          <p:cNvSpPr txBox="1"/>
          <p:nvPr/>
        </p:nvSpPr>
        <p:spPr>
          <a:xfrm>
            <a:off x="1238250" y="1752600"/>
            <a:ext cx="2762250" cy="342900"/>
          </a:xfrm>
          <a:prstGeom prst="rect">
            <a:avLst/>
          </a:prstGeom>
          <a:noFill/>
          <a:ln/>
        </p:spPr>
        <p:txBody>
          <a:bodyPr wrap="square" lIns="0" tIns="0" rIns="0" bIns="0" rtlCol="0" anchor="t"/>
          <a:lstStyle/>
          <a:p>
            <a:pPr algn="l" indent="0" marL="0">
              <a:buNone/>
            </a:pPr>
            <a:r>
              <a:rPr lang="en-US" sz="1200" dirty="0">
                <a:solidFill>
                  <a:srgbClr val="143B37"/>
                </a:solidFill>
                <a:latin typeface="Arial" pitchFamily="34" charset="0"/>
                <a:ea typeface="Arial" pitchFamily="34" charset="-122"/>
                <a:cs typeface="Arial" pitchFamily="34" charset="-120"/>
              </a:rPr>
              <a:t>PV capped at 433 kWp (3,329 m2)</a:t>
            </a:r>
            <a:endParaRPr lang="en-US" sz="1200" dirty="0"/>
          </a:p>
        </p:txBody>
      </p:sp>
      <p:sp>
        <p:nvSpPr>
          <p:cNvPr id="12" name="Text 8"/>
          <p:cNvSpPr txBox="1"/>
          <p:nvPr/>
        </p:nvSpPr>
        <p:spPr>
          <a:xfrm>
            <a:off x="1238250" y="2114550"/>
            <a:ext cx="2762250" cy="342900"/>
          </a:xfrm>
          <a:prstGeom prst="rect">
            <a:avLst/>
          </a:prstGeom>
          <a:noFill/>
          <a:ln/>
        </p:spPr>
        <p:txBody>
          <a:bodyPr wrap="square" lIns="0" tIns="0" rIns="0" bIns="0" rtlCol="0" anchor="t"/>
          <a:lstStyle/>
          <a:p>
            <a:pPr algn="l" indent="0" marL="0">
              <a:buNone/>
            </a:pPr>
            <a:r>
              <a:rPr lang="en-US" sz="1200" b="1" dirty="0">
                <a:solidFill>
                  <a:srgbClr val="143B37"/>
                </a:solidFill>
                <a:latin typeface="Arial" pitchFamily="34" charset="0"/>
                <a:ea typeface="Arial" pitchFamily="34" charset="-122"/>
                <a:cs typeface="Arial" pitchFamily="34" charset="-120"/>
              </a:rPr>
              <a:t>no storage</a:t>
            </a:r>
            <a:endParaRPr lang="en-US" sz="1200" dirty="0"/>
          </a:p>
        </p:txBody>
      </p:sp>
      <p:sp>
        <p:nvSpPr>
          <p:cNvPr id="13" name="Shape 9"/>
          <p:cNvSpPr/>
          <p:nvPr/>
        </p:nvSpPr>
        <p:spPr>
          <a:xfrm>
            <a:off x="4286250" y="1238250"/>
            <a:ext cx="3619500" cy="1257300"/>
          </a:xfrm>
          <a:prstGeom prst="roundRect">
            <a:avLst>
              <a:gd name="adj" fmla="val 13636"/>
            </a:avLst>
          </a:prstGeom>
          <a:solidFill>
            <a:srgbClr val="3F8E73"/>
          </a:solidFill>
          <a:ln w="12700">
            <a:solidFill>
              <a:srgbClr val="3F8E73"/>
            </a:solidFill>
            <a:prstDash val="solid"/>
          </a:ln>
        </p:spPr>
      </p:sp>
      <p:sp>
        <p:nvSpPr>
          <p:cNvPr id="14" name="Text 10"/>
          <p:cNvSpPr txBox="1"/>
          <p:nvPr/>
        </p:nvSpPr>
        <p:spPr>
          <a:xfrm>
            <a:off x="4476750" y="1390650"/>
            <a:ext cx="419100" cy="4572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15" name="Text 11"/>
          <p:cNvSpPr txBox="1"/>
          <p:nvPr/>
        </p:nvSpPr>
        <p:spPr>
          <a:xfrm>
            <a:off x="5010150" y="1409700"/>
            <a:ext cx="276225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Roof F, with storage</a:t>
            </a:r>
            <a:endParaRPr lang="en-US" sz="1600" dirty="0"/>
          </a:p>
        </p:txBody>
      </p:sp>
      <p:sp>
        <p:nvSpPr>
          <p:cNvPr id="16" name="Text 12"/>
          <p:cNvSpPr txBox="1"/>
          <p:nvPr/>
        </p:nvSpPr>
        <p:spPr>
          <a:xfrm>
            <a:off x="5010150" y="1752600"/>
            <a:ext cx="2762250" cy="342900"/>
          </a:xfrm>
          <a:prstGeom prst="rect">
            <a:avLst/>
          </a:prstGeom>
          <a:noFill/>
          <a:ln/>
        </p:spPr>
        <p:txBody>
          <a:bodyPr wrap="square" lIns="0" tIns="0" rIns="0" bIns="0" rtlCol="0" anchor="t"/>
          <a:lstStyle/>
          <a:p>
            <a:pPr algn="l" indent="0" marL="0">
              <a:buNone/>
            </a:pPr>
            <a:r>
              <a:rPr lang="en-US" sz="1200" dirty="0">
                <a:solidFill>
                  <a:srgbClr val="FFFFFF"/>
                </a:solidFill>
                <a:latin typeface="Arial" pitchFamily="34" charset="0"/>
                <a:ea typeface="Arial" pitchFamily="34" charset="-122"/>
                <a:cs typeface="Arial" pitchFamily="34" charset="-120"/>
              </a:rPr>
              <a:t>PV capped at 433 kWp</a:t>
            </a:r>
            <a:endParaRPr lang="en-US" sz="1200" dirty="0"/>
          </a:p>
        </p:txBody>
      </p:sp>
      <p:sp>
        <p:nvSpPr>
          <p:cNvPr id="17" name="Text 13"/>
          <p:cNvSpPr txBox="1"/>
          <p:nvPr/>
        </p:nvSpPr>
        <p:spPr>
          <a:xfrm>
            <a:off x="5010150" y="2114550"/>
            <a:ext cx="2762250" cy="34290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storage sized by the optimiser</a:t>
            </a:r>
            <a:endParaRPr lang="en-US" sz="1200" dirty="0"/>
          </a:p>
        </p:txBody>
      </p:sp>
      <p:sp>
        <p:nvSpPr>
          <p:cNvPr id="18" name="Shape 14"/>
          <p:cNvSpPr/>
          <p:nvPr/>
        </p:nvSpPr>
        <p:spPr>
          <a:xfrm>
            <a:off x="8058150" y="1238250"/>
            <a:ext cx="3619500" cy="1257300"/>
          </a:xfrm>
          <a:prstGeom prst="roundRect">
            <a:avLst>
              <a:gd name="adj" fmla="val 13636"/>
            </a:avLst>
          </a:prstGeom>
          <a:solidFill>
            <a:srgbClr val="B7D9D2"/>
          </a:solidFill>
          <a:ln w="12700">
            <a:solidFill>
              <a:srgbClr val="B7D9D2"/>
            </a:solidFill>
            <a:prstDash val="solid"/>
          </a:ln>
        </p:spPr>
      </p:sp>
      <p:sp>
        <p:nvSpPr>
          <p:cNvPr id="19" name="Text 15"/>
          <p:cNvSpPr txBox="1"/>
          <p:nvPr/>
        </p:nvSpPr>
        <p:spPr>
          <a:xfrm>
            <a:off x="8248650" y="1390650"/>
            <a:ext cx="419100" cy="457200"/>
          </a:xfrm>
          <a:prstGeom prst="rect">
            <a:avLst/>
          </a:prstGeom>
          <a:noFill/>
          <a:ln/>
        </p:spPr>
        <p:txBody>
          <a:bodyPr wrap="square" lIns="0" tIns="0" rIns="0" bIns="0" rtlCol="0" anchor="t"/>
          <a:lstStyle/>
          <a:p>
            <a:pPr algn="l" indent="0" marL="0">
              <a:buNone/>
            </a:pPr>
            <a:r>
              <a:rPr lang="en-US" sz="3000" b="1" dirty="0">
                <a:solidFill>
                  <a:srgbClr val="143B37"/>
                </a:solidFill>
                <a:latin typeface="Arial" pitchFamily="34" charset="0"/>
                <a:ea typeface="Arial" pitchFamily="34" charset="-122"/>
                <a:cs typeface="Arial" pitchFamily="34" charset="-120"/>
              </a:rPr>
              <a:t>3</a:t>
            </a:r>
            <a:endParaRPr lang="en-US" sz="3000" dirty="0"/>
          </a:p>
        </p:txBody>
      </p:sp>
      <p:sp>
        <p:nvSpPr>
          <p:cNvPr id="20" name="Text 16"/>
          <p:cNvSpPr txBox="1"/>
          <p:nvPr/>
        </p:nvSpPr>
        <p:spPr>
          <a:xfrm>
            <a:off x="8782050" y="1409700"/>
            <a:ext cx="2762250" cy="285750"/>
          </a:xfrm>
          <a:prstGeom prst="rect">
            <a:avLst/>
          </a:prstGeom>
          <a:noFill/>
          <a:ln/>
        </p:spPr>
        <p:txBody>
          <a:bodyPr wrap="square" lIns="0" tIns="0" rIns="0" bIns="0" rtlCol="0" anchor="t"/>
          <a:lstStyle/>
          <a:p>
            <a:pPr algn="l" indent="0" marL="0">
              <a:buNone/>
            </a:pPr>
            <a:r>
              <a:rPr lang="en-US" sz="1600" b="1" dirty="0">
                <a:solidFill>
                  <a:srgbClr val="143B37"/>
                </a:solidFill>
                <a:latin typeface="Arial" pitchFamily="34" charset="0"/>
                <a:ea typeface="Arial" pitchFamily="34" charset="-122"/>
                <a:cs typeface="Arial" pitchFamily="34" charset="-120"/>
              </a:rPr>
              <a:t>All roofs</a:t>
            </a:r>
            <a:endParaRPr lang="en-US" sz="1600" dirty="0"/>
          </a:p>
        </p:txBody>
      </p:sp>
      <p:sp>
        <p:nvSpPr>
          <p:cNvPr id="21" name="Text 17"/>
          <p:cNvSpPr txBox="1"/>
          <p:nvPr/>
        </p:nvSpPr>
        <p:spPr>
          <a:xfrm>
            <a:off x="8782050" y="1752600"/>
            <a:ext cx="2762250" cy="342900"/>
          </a:xfrm>
          <a:prstGeom prst="rect">
            <a:avLst/>
          </a:prstGeom>
          <a:noFill/>
          <a:ln/>
        </p:spPr>
        <p:txBody>
          <a:bodyPr wrap="square" lIns="0" tIns="0" rIns="0" bIns="0" rtlCol="0" anchor="t"/>
          <a:lstStyle/>
          <a:p>
            <a:pPr algn="l" indent="0" marL="0">
              <a:buNone/>
            </a:pPr>
            <a:r>
              <a:rPr lang="en-US" sz="1200" dirty="0">
                <a:solidFill>
                  <a:srgbClr val="143B37"/>
                </a:solidFill>
                <a:latin typeface="Arial" pitchFamily="34" charset="0"/>
                <a:ea typeface="Arial" pitchFamily="34" charset="-122"/>
                <a:cs typeface="Arial" pitchFamily="34" charset="-120"/>
              </a:rPr>
              <a:t>PV capped at 2,122 kWp (16,319 m2)</a:t>
            </a:r>
            <a:endParaRPr lang="en-US" sz="1200" dirty="0"/>
          </a:p>
        </p:txBody>
      </p:sp>
      <p:sp>
        <p:nvSpPr>
          <p:cNvPr id="22" name="Text 18"/>
          <p:cNvSpPr txBox="1"/>
          <p:nvPr/>
        </p:nvSpPr>
        <p:spPr>
          <a:xfrm>
            <a:off x="8782050" y="2114550"/>
            <a:ext cx="2762250" cy="342900"/>
          </a:xfrm>
          <a:prstGeom prst="rect">
            <a:avLst/>
          </a:prstGeom>
          <a:noFill/>
          <a:ln/>
        </p:spPr>
        <p:txBody>
          <a:bodyPr wrap="square" lIns="0" tIns="0" rIns="0" bIns="0" rtlCol="0" anchor="t"/>
          <a:lstStyle/>
          <a:p>
            <a:pPr algn="l" indent="0" marL="0">
              <a:buNone/>
            </a:pPr>
            <a:r>
              <a:rPr lang="en-US" sz="1200" b="1" dirty="0">
                <a:solidFill>
                  <a:srgbClr val="143B37"/>
                </a:solidFill>
                <a:latin typeface="Arial" pitchFamily="34" charset="0"/>
                <a:ea typeface="Arial" pitchFamily="34" charset="-122"/>
                <a:cs typeface="Arial" pitchFamily="34" charset="-120"/>
              </a:rPr>
              <a:t>no storage</a:t>
            </a:r>
            <a:endParaRPr lang="en-US" sz="1200" dirty="0"/>
          </a:p>
        </p:txBody>
      </p:sp>
      <p:sp>
        <p:nvSpPr>
          <p:cNvPr id="23" name="Shape 19"/>
          <p:cNvSpPr/>
          <p:nvPr/>
        </p:nvSpPr>
        <p:spPr>
          <a:xfrm>
            <a:off x="514350" y="2667000"/>
            <a:ext cx="3619500" cy="1257300"/>
          </a:xfrm>
          <a:prstGeom prst="roundRect">
            <a:avLst>
              <a:gd name="adj" fmla="val 13636"/>
            </a:avLst>
          </a:prstGeom>
          <a:solidFill>
            <a:srgbClr val="3F8E73"/>
          </a:solidFill>
          <a:ln w="12700">
            <a:solidFill>
              <a:srgbClr val="3F8E73"/>
            </a:solidFill>
            <a:prstDash val="solid"/>
          </a:ln>
        </p:spPr>
      </p:sp>
      <p:sp>
        <p:nvSpPr>
          <p:cNvPr id="24" name="Text 20"/>
          <p:cNvSpPr txBox="1"/>
          <p:nvPr/>
        </p:nvSpPr>
        <p:spPr>
          <a:xfrm>
            <a:off x="704850" y="2819400"/>
            <a:ext cx="419100" cy="4572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25" name="Text 21"/>
          <p:cNvSpPr txBox="1"/>
          <p:nvPr/>
        </p:nvSpPr>
        <p:spPr>
          <a:xfrm>
            <a:off x="1238250" y="2838450"/>
            <a:ext cx="276225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All roofs, with storage</a:t>
            </a:r>
            <a:endParaRPr lang="en-US" sz="1600" dirty="0"/>
          </a:p>
        </p:txBody>
      </p:sp>
      <p:sp>
        <p:nvSpPr>
          <p:cNvPr id="26" name="Text 22"/>
          <p:cNvSpPr txBox="1"/>
          <p:nvPr/>
        </p:nvSpPr>
        <p:spPr>
          <a:xfrm>
            <a:off x="1238250" y="3181350"/>
            <a:ext cx="2762250" cy="342900"/>
          </a:xfrm>
          <a:prstGeom prst="rect">
            <a:avLst/>
          </a:prstGeom>
          <a:noFill/>
          <a:ln/>
        </p:spPr>
        <p:txBody>
          <a:bodyPr wrap="square" lIns="0" tIns="0" rIns="0" bIns="0" rtlCol="0" anchor="t"/>
          <a:lstStyle/>
          <a:p>
            <a:pPr algn="l" indent="0" marL="0">
              <a:buNone/>
            </a:pPr>
            <a:r>
              <a:rPr lang="en-US" sz="1200" dirty="0">
                <a:solidFill>
                  <a:srgbClr val="FFFFFF"/>
                </a:solidFill>
                <a:latin typeface="Arial" pitchFamily="34" charset="0"/>
                <a:ea typeface="Arial" pitchFamily="34" charset="-122"/>
                <a:cs typeface="Arial" pitchFamily="34" charset="-120"/>
              </a:rPr>
              <a:t>PV capped at 2,122 kWp</a:t>
            </a:r>
            <a:endParaRPr lang="en-US" sz="1200" dirty="0"/>
          </a:p>
        </p:txBody>
      </p:sp>
      <p:sp>
        <p:nvSpPr>
          <p:cNvPr id="27" name="Text 23"/>
          <p:cNvSpPr txBox="1"/>
          <p:nvPr/>
        </p:nvSpPr>
        <p:spPr>
          <a:xfrm>
            <a:off x="1238250" y="3543300"/>
            <a:ext cx="2762250" cy="34290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storage sized by the optimiser</a:t>
            </a:r>
            <a:endParaRPr lang="en-US" sz="1200" dirty="0"/>
          </a:p>
        </p:txBody>
      </p:sp>
      <p:sp>
        <p:nvSpPr>
          <p:cNvPr id="28" name="Shape 24"/>
          <p:cNvSpPr/>
          <p:nvPr/>
        </p:nvSpPr>
        <p:spPr>
          <a:xfrm>
            <a:off x="4286250" y="2667000"/>
            <a:ext cx="3619500" cy="1257300"/>
          </a:xfrm>
          <a:prstGeom prst="roundRect">
            <a:avLst>
              <a:gd name="adj" fmla="val 13636"/>
            </a:avLst>
          </a:prstGeom>
          <a:solidFill>
            <a:srgbClr val="17685F"/>
          </a:solidFill>
          <a:ln w="12700">
            <a:solidFill>
              <a:srgbClr val="17685F"/>
            </a:solidFill>
            <a:prstDash val="solid"/>
          </a:ln>
        </p:spPr>
      </p:sp>
      <p:sp>
        <p:nvSpPr>
          <p:cNvPr id="29" name="Text 25"/>
          <p:cNvSpPr txBox="1"/>
          <p:nvPr/>
        </p:nvSpPr>
        <p:spPr>
          <a:xfrm>
            <a:off x="4476750" y="2819400"/>
            <a:ext cx="419100" cy="4572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30" name="Text 26"/>
          <p:cNvSpPr txBox="1"/>
          <p:nvPr/>
        </p:nvSpPr>
        <p:spPr>
          <a:xfrm>
            <a:off x="5010150" y="2838450"/>
            <a:ext cx="276225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No roof limit, with storage</a:t>
            </a:r>
            <a:endParaRPr lang="en-US" sz="1600" dirty="0"/>
          </a:p>
        </p:txBody>
      </p:sp>
      <p:sp>
        <p:nvSpPr>
          <p:cNvPr id="31" name="Text 27"/>
          <p:cNvSpPr txBox="1"/>
          <p:nvPr/>
        </p:nvSpPr>
        <p:spPr>
          <a:xfrm>
            <a:off x="5010150" y="3181350"/>
            <a:ext cx="2762250" cy="342900"/>
          </a:xfrm>
          <a:prstGeom prst="rect">
            <a:avLst/>
          </a:prstGeom>
          <a:noFill/>
          <a:ln/>
        </p:spPr>
        <p:txBody>
          <a:bodyPr wrap="square" lIns="0" tIns="0" rIns="0" bIns="0" rtlCol="0" anchor="t"/>
          <a:lstStyle/>
          <a:p>
            <a:pPr algn="l" indent="0" marL="0">
              <a:buNone/>
            </a:pPr>
            <a:r>
              <a:rPr lang="en-US" sz="1200" dirty="0">
                <a:solidFill>
                  <a:srgbClr val="FFFFFF"/>
                </a:solidFill>
                <a:latin typeface="Arial" pitchFamily="34" charset="0"/>
                <a:ea typeface="Arial" pitchFamily="34" charset="-122"/>
                <a:cs typeface="Arial" pitchFamily="34" charset="-120"/>
              </a:rPr>
              <a:t>PV free up to the 3,230 kVA connection</a:t>
            </a:r>
            <a:endParaRPr lang="en-US" sz="1200" dirty="0"/>
          </a:p>
        </p:txBody>
      </p:sp>
      <p:sp>
        <p:nvSpPr>
          <p:cNvPr id="32" name="Text 28"/>
          <p:cNvSpPr txBox="1"/>
          <p:nvPr/>
        </p:nvSpPr>
        <p:spPr>
          <a:xfrm>
            <a:off x="5010150" y="3543300"/>
            <a:ext cx="2762250" cy="34290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storage sized by the optimiser: the memo's reference optimum</a:t>
            </a:r>
            <a:endParaRPr lang="en-US" sz="1200" dirty="0"/>
          </a:p>
        </p:txBody>
      </p:sp>
      <p:sp>
        <p:nvSpPr>
          <p:cNvPr id="33" name="Shape 29"/>
          <p:cNvSpPr/>
          <p:nvPr/>
        </p:nvSpPr>
        <p:spPr>
          <a:xfrm>
            <a:off x="8058150" y="2667000"/>
            <a:ext cx="3676650" cy="1257300"/>
          </a:xfrm>
          <a:prstGeom prst="roundRect">
            <a:avLst>
              <a:gd name="adj" fmla="val 13636"/>
            </a:avLst>
          </a:prstGeom>
          <a:solidFill>
            <a:srgbClr val="FFFFFF"/>
          </a:solidFill>
          <a:ln w="12700">
            <a:solidFill>
              <a:srgbClr val="8AB8B0"/>
            </a:solidFill>
            <a:prstDash val="solid"/>
          </a:ln>
        </p:spPr>
      </p:sp>
      <p:sp>
        <p:nvSpPr>
          <p:cNvPr id="34" name="Text 30"/>
          <p:cNvSpPr txBox="1"/>
          <p:nvPr/>
        </p:nvSpPr>
        <p:spPr>
          <a:xfrm>
            <a:off x="8267700" y="2781300"/>
            <a:ext cx="3333750" cy="247650"/>
          </a:xfrm>
          <a:prstGeom prst="rect">
            <a:avLst/>
          </a:prstGeom>
          <a:noFill/>
          <a:ln/>
        </p:spPr>
        <p:txBody>
          <a:bodyPr wrap="square" lIns="0" tIns="0" rIns="0" bIns="0" rtlCol="0" anchor="t"/>
          <a:lstStyle/>
          <a:p>
            <a:pPr algn="l" indent="0" marL="0">
              <a:buNone/>
            </a:pPr>
            <a:r>
              <a:rPr lang="en-US" sz="1400" b="1" dirty="0">
                <a:solidFill>
                  <a:srgbClr val="17685F"/>
                </a:solidFill>
                <a:latin typeface="Arial" pitchFamily="34" charset="0"/>
                <a:ea typeface="Arial" pitchFamily="34" charset="-122"/>
                <a:cs typeface="Arial" pitchFamily="34" charset="-120"/>
              </a:rPr>
              <a:t>Two roof groups</a:t>
            </a:r>
            <a:endParaRPr lang="en-US" sz="1400" dirty="0"/>
          </a:p>
        </p:txBody>
      </p:sp>
      <p:sp>
        <p:nvSpPr>
          <p:cNvPr id="35" name="Text 31"/>
          <p:cNvSpPr txBox="1"/>
          <p:nvPr/>
        </p:nvSpPr>
        <p:spPr>
          <a:xfrm>
            <a:off x="8267700" y="3048000"/>
            <a:ext cx="3333750" cy="819150"/>
          </a:xfrm>
          <a:prstGeom prst="rect">
            <a:avLst/>
          </a:prstGeom>
          <a:noFill/>
          <a:ln/>
        </p:spPr>
        <p:txBody>
          <a:bodyPr wrap="square" lIns="0" tIns="0" rIns="0" bIns="0" rtlCol="0" anchor="t"/>
          <a:lstStyle/>
          <a:p>
            <a:pPr algn="l" indent="0" marL="0">
              <a:buNone/>
            </a:pPr>
            <a:r>
              <a:rPr lang="en-US" sz="1150" dirty="0">
                <a:solidFill>
                  <a:srgbClr val="143B37"/>
                </a:solidFill>
                <a:latin typeface="Arial" pitchFamily="34" charset="0"/>
                <a:ea typeface="Arial" pitchFamily="34" charset="-122"/>
                <a:cs typeface="Arial" pitchFamily="34" charset="-120"/>
              </a:rPr>
              <a:t>Roof F is one fifth of the measured area and the only roof without a structural question today. All roofs is the full site once the six older roofs pass a condition review.</a:t>
            </a:r>
            <a:endParaRPr lang="en-US" sz="1150" dirty="0"/>
          </a:p>
        </p:txBody>
      </p:sp>
      <p:sp>
        <p:nvSpPr>
          <p:cNvPr id="36" name="Shape 32"/>
          <p:cNvSpPr/>
          <p:nvPr/>
        </p:nvSpPr>
        <p:spPr>
          <a:xfrm>
            <a:off x="514350" y="4191000"/>
            <a:ext cx="11220450" cy="1905000"/>
          </a:xfrm>
          <a:prstGeom prst="roundRect">
            <a:avLst>
              <a:gd name="adj" fmla="val 9000"/>
            </a:avLst>
          </a:prstGeom>
          <a:solidFill>
            <a:srgbClr val="FFFFFF"/>
          </a:solidFill>
          <a:ln w="12700">
            <a:solidFill>
              <a:srgbClr val="8AB8B0"/>
            </a:solidFill>
            <a:prstDash val="solid"/>
          </a:ln>
        </p:spPr>
      </p:sp>
      <p:sp>
        <p:nvSpPr>
          <p:cNvPr id="37" name="Text 33"/>
          <p:cNvSpPr txBox="1"/>
          <p:nvPr/>
        </p:nvSpPr>
        <p:spPr>
          <a:xfrm>
            <a:off x="742950" y="4362450"/>
            <a:ext cx="4762500" cy="26670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How the capacity caps are built</a:t>
            </a:r>
            <a:endParaRPr lang="en-US" sz="1600" dirty="0"/>
          </a:p>
        </p:txBody>
      </p:sp>
      <p:sp>
        <p:nvSpPr>
          <p:cNvPr id="38" name="Shape 34"/>
          <p:cNvSpPr/>
          <p:nvPr/>
        </p:nvSpPr>
        <p:spPr>
          <a:xfrm>
            <a:off x="742950" y="4743450"/>
            <a:ext cx="2019300" cy="495300"/>
          </a:xfrm>
          <a:prstGeom prst="roundRect">
            <a:avLst>
              <a:gd name="adj" fmla="val 23077"/>
            </a:avLst>
          </a:prstGeom>
          <a:solidFill>
            <a:srgbClr val="CFE7E2"/>
          </a:solidFill>
          <a:ln w="12700">
            <a:solidFill>
              <a:srgbClr val="CFE7E2"/>
            </a:solidFill>
            <a:prstDash val="solid"/>
          </a:ln>
        </p:spPr>
      </p:sp>
      <p:sp>
        <p:nvSpPr>
          <p:cNvPr id="39" name="Text 35"/>
          <p:cNvSpPr txBox="1"/>
          <p:nvPr/>
        </p:nvSpPr>
        <p:spPr>
          <a:xfrm>
            <a:off x="819150" y="4743450"/>
            <a:ext cx="1866900" cy="495300"/>
          </a:xfrm>
          <a:prstGeom prst="rect">
            <a:avLst/>
          </a:prstGeom>
          <a:noFill/>
          <a:ln/>
        </p:spPr>
        <p:txBody>
          <a:bodyPr wrap="square" lIns="0" tIns="0" rIns="0" bIns="0" rtlCol="0" anchor="ctr"/>
          <a:lstStyle/>
          <a:p>
            <a:pPr algn="ctr" indent="0" marL="0">
              <a:buNone/>
            </a:pPr>
            <a:r>
              <a:rPr lang="en-US" sz="1200" b="1" dirty="0">
                <a:solidFill>
                  <a:srgbClr val="143B37"/>
                </a:solidFill>
                <a:latin typeface="Arial" pitchFamily="34" charset="0"/>
                <a:ea typeface="Arial" pitchFamily="34" charset="-122"/>
                <a:cs typeface="Arial" pitchFamily="34" charset="-120"/>
              </a:rPr>
              <a:t>Roof outlines on satellite imagery</a:t>
            </a:r>
            <a:endParaRPr lang="en-US" sz="1200" dirty="0"/>
          </a:p>
        </p:txBody>
      </p:sp>
      <p:sp>
        <p:nvSpPr>
          <p:cNvPr id="40" name="Shape 36"/>
          <p:cNvSpPr/>
          <p:nvPr/>
        </p:nvSpPr>
        <p:spPr>
          <a:xfrm>
            <a:off x="2914650" y="4743450"/>
            <a:ext cx="2019300" cy="495300"/>
          </a:xfrm>
          <a:prstGeom prst="roundRect">
            <a:avLst>
              <a:gd name="adj" fmla="val 23077"/>
            </a:avLst>
          </a:prstGeom>
          <a:solidFill>
            <a:srgbClr val="CFE7E2"/>
          </a:solidFill>
          <a:ln w="12700">
            <a:solidFill>
              <a:srgbClr val="CFE7E2"/>
            </a:solidFill>
            <a:prstDash val="solid"/>
          </a:ln>
        </p:spPr>
      </p:sp>
      <p:sp>
        <p:nvSpPr>
          <p:cNvPr id="41" name="Text 37"/>
          <p:cNvSpPr txBox="1"/>
          <p:nvPr/>
        </p:nvSpPr>
        <p:spPr>
          <a:xfrm>
            <a:off x="2990850" y="4743450"/>
            <a:ext cx="1866900" cy="495300"/>
          </a:xfrm>
          <a:prstGeom prst="rect">
            <a:avLst/>
          </a:prstGeom>
          <a:noFill/>
          <a:ln/>
        </p:spPr>
        <p:txBody>
          <a:bodyPr wrap="square" lIns="0" tIns="0" rIns="0" bIns="0" rtlCol="0" anchor="ctr"/>
          <a:lstStyle/>
          <a:p>
            <a:pPr algn="ctr" indent="0" marL="0">
              <a:buNone/>
            </a:pPr>
            <a:r>
              <a:rPr lang="en-US" sz="1200" b="1" dirty="0">
                <a:solidFill>
                  <a:srgbClr val="143B37"/>
                </a:solidFill>
                <a:latin typeface="Arial" pitchFamily="34" charset="0"/>
                <a:ea typeface="Arial" pitchFamily="34" charset="-122"/>
                <a:cs typeface="Arial" pitchFamily="34" charset="-120"/>
              </a:rPr>
              <a:t>x 65% usable</a:t>
            </a:r>
            <a:endParaRPr lang="en-US" sz="1200" dirty="0"/>
          </a:p>
        </p:txBody>
      </p:sp>
      <p:sp>
        <p:nvSpPr>
          <p:cNvPr id="42" name="Shape 38"/>
          <p:cNvSpPr/>
          <p:nvPr/>
        </p:nvSpPr>
        <p:spPr>
          <a:xfrm>
            <a:off x="5086350" y="4743450"/>
            <a:ext cx="2019300" cy="495300"/>
          </a:xfrm>
          <a:prstGeom prst="roundRect">
            <a:avLst>
              <a:gd name="adj" fmla="val 23077"/>
            </a:avLst>
          </a:prstGeom>
          <a:solidFill>
            <a:srgbClr val="CFE7E2"/>
          </a:solidFill>
          <a:ln w="12700">
            <a:solidFill>
              <a:srgbClr val="CFE7E2"/>
            </a:solidFill>
            <a:prstDash val="solid"/>
          </a:ln>
        </p:spPr>
      </p:sp>
      <p:sp>
        <p:nvSpPr>
          <p:cNvPr id="43" name="Text 39"/>
          <p:cNvSpPr txBox="1"/>
          <p:nvPr/>
        </p:nvSpPr>
        <p:spPr>
          <a:xfrm>
            <a:off x="5162550" y="4743450"/>
            <a:ext cx="1866900" cy="495300"/>
          </a:xfrm>
          <a:prstGeom prst="rect">
            <a:avLst/>
          </a:prstGeom>
          <a:noFill/>
          <a:ln/>
        </p:spPr>
        <p:txBody>
          <a:bodyPr wrap="square" lIns="0" tIns="0" rIns="0" bIns="0" rtlCol="0" anchor="ctr"/>
          <a:lstStyle/>
          <a:p>
            <a:pPr algn="ctr" indent="0" marL="0">
              <a:buNone/>
            </a:pPr>
            <a:r>
              <a:rPr lang="en-US" sz="1200" b="1" dirty="0">
                <a:solidFill>
                  <a:srgbClr val="143B37"/>
                </a:solidFill>
                <a:latin typeface="Arial" pitchFamily="34" charset="0"/>
                <a:ea typeface="Arial" pitchFamily="34" charset="-122"/>
                <a:cs typeface="Arial" pitchFamily="34" charset="-120"/>
              </a:rPr>
              <a:t>x 0.20 kWp per m2</a:t>
            </a:r>
            <a:endParaRPr lang="en-US" sz="1200" dirty="0"/>
          </a:p>
        </p:txBody>
      </p:sp>
      <p:sp>
        <p:nvSpPr>
          <p:cNvPr id="44" name="Shape 40"/>
          <p:cNvSpPr/>
          <p:nvPr/>
        </p:nvSpPr>
        <p:spPr>
          <a:xfrm>
            <a:off x="7258050" y="4743450"/>
            <a:ext cx="2019300" cy="495300"/>
          </a:xfrm>
          <a:prstGeom prst="roundRect">
            <a:avLst>
              <a:gd name="adj" fmla="val 23077"/>
            </a:avLst>
          </a:prstGeom>
          <a:solidFill>
            <a:srgbClr val="17685F"/>
          </a:solidFill>
          <a:ln w="12700">
            <a:solidFill>
              <a:srgbClr val="17685F"/>
            </a:solidFill>
            <a:prstDash val="solid"/>
          </a:ln>
        </p:spPr>
      </p:sp>
      <p:sp>
        <p:nvSpPr>
          <p:cNvPr id="45" name="Text 41"/>
          <p:cNvSpPr txBox="1"/>
          <p:nvPr/>
        </p:nvSpPr>
        <p:spPr>
          <a:xfrm>
            <a:off x="7334250" y="4743450"/>
            <a:ext cx="1866900" cy="4953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Roof F: 3,329 m2 = 433 kWp</a:t>
            </a:r>
            <a:endParaRPr lang="en-US" sz="1200" dirty="0"/>
          </a:p>
        </p:txBody>
      </p:sp>
      <p:sp>
        <p:nvSpPr>
          <p:cNvPr id="46" name="Shape 42"/>
          <p:cNvSpPr/>
          <p:nvPr/>
        </p:nvSpPr>
        <p:spPr>
          <a:xfrm>
            <a:off x="9429750" y="4743450"/>
            <a:ext cx="2019300" cy="495300"/>
          </a:xfrm>
          <a:prstGeom prst="roundRect">
            <a:avLst>
              <a:gd name="adj" fmla="val 23077"/>
            </a:avLst>
          </a:prstGeom>
          <a:solidFill>
            <a:srgbClr val="17685F"/>
          </a:solidFill>
          <a:ln w="12700">
            <a:solidFill>
              <a:srgbClr val="17685F"/>
            </a:solidFill>
            <a:prstDash val="solid"/>
          </a:ln>
        </p:spPr>
      </p:sp>
      <p:sp>
        <p:nvSpPr>
          <p:cNvPr id="47" name="Text 43"/>
          <p:cNvSpPr txBox="1"/>
          <p:nvPr/>
        </p:nvSpPr>
        <p:spPr>
          <a:xfrm>
            <a:off x="9505950" y="4743450"/>
            <a:ext cx="1866900" cy="4953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All roofs: 16,319 m2 = 2,122 kWp</a:t>
            </a:r>
            <a:endParaRPr lang="en-US" sz="1200" dirty="0"/>
          </a:p>
        </p:txBody>
      </p:sp>
      <p:sp>
        <p:nvSpPr>
          <p:cNvPr id="48" name="Text 44"/>
          <p:cNvSpPr txBox="1"/>
          <p:nvPr/>
        </p:nvSpPr>
        <p:spPr>
          <a:xfrm>
            <a:off x="742950" y="5391150"/>
            <a:ext cx="10763250" cy="53340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The memo's optimum with no roof limit is 2,847 kWp with storage; the full measured roof carries about three quarters of that, so the roof still binds. A layout drawing on the confirmed roofs will replace the 65 percent share with a panel count.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Results: the five cases side by side</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14350" y="1238250"/>
          <a:ext cx="11220450" cy="914400"/>
        </p:xfrm>
        <a:graphic>
          <a:graphicData uri="http://schemas.openxmlformats.org/drawingml/2006/table">
            <a:tbl>
              <a:tblPr/>
              <a:tblGrid>
                <a:gridCol w="2095500"/>
                <a:gridCol w="857250"/>
                <a:gridCol w="1809750"/>
                <a:gridCol w="1143000"/>
                <a:gridCol w="1333500"/>
                <a:gridCol w="857250"/>
                <a:gridCol w="857250"/>
                <a:gridCol w="762000"/>
                <a:gridCol w="1504950"/>
              </a:tblGrid>
              <a:tr h="361950">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Case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PV (kWp)</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Storage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Capex (USD)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Year-1 savings (USD)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Grid offset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tCO2e / yr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Equity IRR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Equity NPV (USD)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r>
              <a:tr h="361950">
                <a:tc>
                  <a:txBody>
                    <a:bodyPr/>
                    <a:lstStyle/>
                    <a:p>
                      <a:pPr algn="l" indent="0" marL="0">
                        <a:buNone/>
                      </a:pPr>
                      <a:r>
                        <a:rPr lang="en-US" sz="1150" b="1" dirty="0">
                          <a:solidFill>
                            <a:srgbClr val="143B37"/>
                          </a:solidFill>
                          <a:latin typeface="Arial" pitchFamily="34" charset="0"/>
                          <a:ea typeface="Arial" pitchFamily="34" charset="-122"/>
                          <a:cs typeface="Arial" pitchFamily="34" charset="-120"/>
                        </a:rPr>
                        <a:t>1. Roof F</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433</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ctr" indent="0" marL="0">
                        <a:buNone/>
                      </a:pPr>
                      <a:r>
                        <a:rPr lang="en-US" sz="1150" b="1" dirty="0">
                          <a:solidFill>
                            <a:srgbClr val="143B37"/>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216,400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77,247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8.5%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304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75.5%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389,829</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r>
              <a:tr h="361950">
                <a:tc>
                  <a:txBody>
                    <a:bodyPr/>
                    <a:lstStyle/>
                    <a:p>
                      <a:pPr algn="l" indent="0" marL="0">
                        <a:buNone/>
                      </a:pPr>
                      <a:r>
                        <a:rPr lang="en-US" sz="1150" dirty="0">
                          <a:solidFill>
                            <a:srgbClr val="143B37"/>
                          </a:solidFill>
                          <a:latin typeface="Arial" pitchFamily="34" charset="0"/>
                          <a:ea typeface="Arial" pitchFamily="34" charset="-122"/>
                          <a:cs typeface="Arial" pitchFamily="34" charset="-120"/>
                        </a:rPr>
                        <a:t>2. Roof F, with storage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433</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43B37"/>
                          </a:solidFill>
                          <a:latin typeface="Arial" pitchFamily="34" charset="0"/>
                          <a:ea typeface="Arial" pitchFamily="34" charset="-122"/>
                          <a:cs typeface="Arial" pitchFamily="34" charset="-120"/>
                        </a:rPr>
                        <a:t>33 kW / 50 kWh</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227,175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79,324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8.7%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303</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73.4%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394,093</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algn="l" indent="0" marL="0">
                        <a:buNone/>
                      </a:pPr>
                      <a:r>
                        <a:rPr lang="en-US" sz="1150" dirty="0">
                          <a:solidFill>
                            <a:srgbClr val="143B37"/>
                          </a:solidFill>
                          <a:latin typeface="Arial" pitchFamily="34" charset="0"/>
                          <a:ea typeface="Arial" pitchFamily="34" charset="-122"/>
                          <a:cs typeface="Arial" pitchFamily="34" charset="-120"/>
                        </a:rPr>
                        <a:t>3. All roofs</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2,122</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43B37"/>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1,060,750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325,965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36.8%</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1,310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62.0%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1,512,301</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algn="l" indent="0" marL="0">
                        <a:buNone/>
                      </a:pPr>
                      <a:r>
                        <a:rPr lang="en-US" sz="1150" b="1" dirty="0">
                          <a:solidFill>
                            <a:srgbClr val="143B37"/>
                          </a:solidFill>
                          <a:latin typeface="Arial" pitchFamily="34" charset="0"/>
                          <a:ea typeface="Arial" pitchFamily="34" charset="-122"/>
                          <a:cs typeface="Arial" pitchFamily="34" charset="-120"/>
                        </a:rPr>
                        <a:t>4. All roofs, with storage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2,122</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ctr" indent="0" marL="0">
                        <a:buNone/>
                      </a:pPr>
                      <a:r>
                        <a:rPr lang="en-US" sz="1150" b="1" dirty="0">
                          <a:solidFill>
                            <a:srgbClr val="143B37"/>
                          </a:solidFill>
                          <a:latin typeface="Arial" pitchFamily="34" charset="0"/>
                          <a:ea typeface="Arial" pitchFamily="34" charset="-122"/>
                          <a:cs typeface="Arial" pitchFamily="34" charset="-120"/>
                        </a:rPr>
                        <a:t>303 kW / 634 kWh</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1,186,094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356,680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39.5%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1,363</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60.3%</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1,612,795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r>
              <a:tr h="361950">
                <a:tc>
                  <a:txBody>
                    <a:bodyPr/>
                    <a:lstStyle/>
                    <a:p>
                      <a:pPr algn="l" indent="0" marL="0">
                        <a:buNone/>
                      </a:pPr>
                      <a:r>
                        <a:rPr lang="en-US" sz="1150" dirty="0">
                          <a:solidFill>
                            <a:srgbClr val="4D6D68"/>
                          </a:solidFill>
                          <a:latin typeface="Arial" pitchFamily="34" charset="0"/>
                          <a:ea typeface="Arial" pitchFamily="34" charset="-122"/>
                          <a:cs typeface="Arial" pitchFamily="34" charset="-120"/>
                        </a:rPr>
                        <a:t>5. No roof limit, with storage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D6D68"/>
                          </a:solidFill>
                          <a:latin typeface="Arial" pitchFamily="34" charset="0"/>
                          <a:ea typeface="Arial" pitchFamily="34" charset="-122"/>
                          <a:cs typeface="Arial" pitchFamily="34" charset="-120"/>
                        </a:rPr>
                        <a:t>2,847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D6D68"/>
                          </a:solidFill>
                          <a:latin typeface="Arial" pitchFamily="34" charset="0"/>
                          <a:ea typeface="Arial" pitchFamily="34" charset="-122"/>
                          <a:cs typeface="Arial" pitchFamily="34" charset="-120"/>
                        </a:rPr>
                        <a:t>507 kW / 1,881 kWh</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D6D68"/>
                          </a:solidFill>
                          <a:latin typeface="Arial" pitchFamily="34" charset="0"/>
                          <a:ea typeface="Arial" pitchFamily="34" charset="-122"/>
                          <a:cs typeface="Arial" pitchFamily="34" charset="-120"/>
                        </a:rPr>
                        <a:t>1,756,407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D6D68"/>
                          </a:solidFill>
                          <a:latin typeface="Arial" pitchFamily="34" charset="0"/>
                          <a:ea typeface="Arial" pitchFamily="34" charset="-122"/>
                          <a:cs typeface="Arial" pitchFamily="34" charset="-120"/>
                        </a:rPr>
                        <a:t>460,458</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D6D68"/>
                          </a:solidFill>
                          <a:latin typeface="Arial" pitchFamily="34" charset="0"/>
                          <a:ea typeface="Arial" pitchFamily="34" charset="-122"/>
                          <a:cs typeface="Arial" pitchFamily="34" charset="-120"/>
                        </a:rPr>
                        <a:t>50.4%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D6D68"/>
                          </a:solidFill>
                          <a:latin typeface="Arial" pitchFamily="34" charset="0"/>
                          <a:ea typeface="Arial" pitchFamily="34" charset="-122"/>
                          <a:cs typeface="Arial" pitchFamily="34" charset="-120"/>
                        </a:rPr>
                        <a:t>1,740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D6D68"/>
                          </a:solidFill>
                          <a:latin typeface="Arial" pitchFamily="34" charset="0"/>
                          <a:ea typeface="Arial" pitchFamily="34" charset="-122"/>
                          <a:cs typeface="Arial" pitchFamily="34" charset="-120"/>
                        </a:rPr>
                        <a:t>49.6%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D6D68"/>
                          </a:solidFill>
                          <a:latin typeface="Arial" pitchFamily="34" charset="0"/>
                          <a:ea typeface="Arial" pitchFamily="34" charset="-122"/>
                          <a:cs typeface="Arial" pitchFamily="34" charset="-120"/>
                        </a:rPr>
                        <a:t>1,855,912</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14350" y="3810000"/>
            <a:ext cx="3810000" cy="26670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Reading the table</a:t>
            </a:r>
            <a:endParaRPr lang="en-US" sz="1600" dirty="0"/>
          </a:p>
        </p:txBody>
      </p:sp>
      <p:sp>
        <p:nvSpPr>
          <p:cNvPr id="10" name="Text 5"/>
          <p:cNvSpPr txBox="1"/>
          <p:nvPr/>
        </p:nvSpPr>
        <p:spPr>
          <a:xfrm>
            <a:off x="514350" y="4133850"/>
            <a:ext cx="11220450" cy="190500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43B37"/>
                </a:solidFill>
                <a:latin typeface="Arial" pitchFamily="34" charset="0"/>
                <a:ea typeface="Arial" pitchFamily="34" charset="-122"/>
                <a:cs typeface="Arial" pitchFamily="34" charset="-120"/>
              </a:rPr>
              <a:t>Roof F alone (case 1) returns its equity in 1.4 years; its 433 kWp are almost fully used on site (1.4% curtailed).</a:t>
            </a:r>
            <a:endParaRPr lang="en-US" sz="1250" dirty="0"/>
          </a:p>
          <a:p>
            <a:pPr marL="203200" indent="-203200">
              <a:spcAft>
                <a:spcPts val="700"/>
              </a:spcAft>
              <a:buSzPct val="100000"/>
              <a:buChar char="•"/>
            </a:pPr>
            <a:r>
              <a:rPr lang="en-US" sz="1250" dirty="0">
                <a:solidFill>
                  <a:srgbClr val="143B37"/>
                </a:solidFill>
                <a:latin typeface="Arial" pitchFamily="34" charset="0"/>
                <a:ea typeface="Arial" pitchFamily="34" charset="-122"/>
                <a:cs typeface="Arial" pitchFamily="34" charset="-120"/>
              </a:rPr>
              <a:t>All roofs (case 3) multiplies capex by 4.9 and NPV by 3.9; the marginal kilowatts are used less and IRR falls from 75.5% to 62.0%.</a:t>
            </a:r>
            <a:endParaRPr lang="en-US" sz="1250" dirty="0"/>
          </a:p>
          <a:p>
            <a:pPr marL="203200" indent="-203200">
              <a:spcAft>
                <a:spcPts val="700"/>
              </a:spcAft>
              <a:buSzPct val="100000"/>
              <a:buChar char="•"/>
            </a:pPr>
            <a:r>
              <a:rPr lang="en-US" sz="1250" dirty="0">
                <a:solidFill>
                  <a:srgbClr val="143B37"/>
                </a:solidFill>
                <a:latin typeface="Arial" pitchFamily="34" charset="0"/>
                <a:ea typeface="Arial" pitchFamily="34" charset="-122"/>
                <a:cs typeface="Arial" pitchFamily="34" charset="-120"/>
              </a:rPr>
              <a:t>Storage on roof F (case 2) is a token 50 kWh worth 4,264 USD of NPV: not a project. On all roofs (case 4) it adds 125,344 USD of capex and 100,493 USD of NPV.</a:t>
            </a:r>
            <a:endParaRPr lang="en-US" sz="1250" dirty="0"/>
          </a:p>
          <a:p>
            <a:pPr marL="203200" indent="-203200">
              <a:spcAft>
                <a:spcPts val="700"/>
              </a:spcAft>
              <a:buSzPct val="100000"/>
              <a:buChar char="•"/>
            </a:pPr>
            <a:r>
              <a:rPr lang="en-US" sz="1250" dirty="0">
                <a:solidFill>
                  <a:srgbClr val="143B37"/>
                </a:solidFill>
                <a:latin typeface="Arial" pitchFamily="34" charset="0"/>
                <a:ea typeface="Arial" pitchFamily="34" charset="-122"/>
                <a:cs typeface="Arial" pitchFamily="34" charset="-120"/>
              </a:rPr>
              <a:t>Case 5, the unconstrained optimum from the memo, is shown for reference: the measured roof stops about 726 kWp short of it.</a:t>
            </a:r>
            <a:endParaRPr lang="en-US" sz="1250" dirty="0"/>
          </a:p>
        </p:txBody>
      </p:sp>
      <p:sp>
        <p:nvSpPr>
          <p:cNvPr id="11" name="Text 6"/>
          <p:cNvSpPr txBox="1"/>
          <p:nvPr/>
        </p:nvSpPr>
        <p:spPr>
          <a:xfrm>
            <a:off x="514350" y="5715000"/>
            <a:ext cx="11220450" cy="381000"/>
          </a:xfrm>
          <a:prstGeom prst="rect">
            <a:avLst/>
          </a:prstGeom>
          <a:noFill/>
          <a:ln/>
        </p:spPr>
        <p:txBody>
          <a:bodyPr wrap="square" lIns="0" tIns="0" rIns="0" bIns="0" rtlCol="0" anchor="t"/>
          <a:lstStyle/>
          <a:p>
            <a:pPr algn="l" indent="0" marL="0">
              <a:buNone/>
            </a:pPr>
            <a:r>
              <a:rPr lang="en-US" sz="1100" i="1" dirty="0">
                <a:solidFill>
                  <a:srgbClr val="4D6D68"/>
                </a:solidFill>
                <a:latin typeface="Arial" pitchFamily="34" charset="0"/>
                <a:ea typeface="Arial" pitchFamily="34" charset="-122"/>
                <a:cs typeface="Arial" pitchFamily="34" charset="-120"/>
              </a:rPr>
              <a:t>Grid offset on the memo's grid-to-load basis. The memo's cases 1 to 4 (survey-based roof widths) are retired; case 5 here is the memo's case 6, unchanged.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Bigger systems return more in total, less per dollar</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12</a:t>
            </a:r>
            <a:endParaRPr lang="en-US" sz="1000" dirty="0"/>
          </a:p>
        </p:txBody>
      </p:sp>
      <p:sp>
        <p:nvSpPr>
          <p:cNvPr id="8" name="Text 4"/>
          <p:cNvSpPr txBox="1"/>
          <p:nvPr/>
        </p:nvSpPr>
        <p:spPr>
          <a:xfrm>
            <a:off x="514350" y="1181100"/>
            <a:ext cx="57150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Equity NPV (USD, 20 years at 11 percent)</a:t>
            </a:r>
            <a:endParaRPr lang="en-US" sz="1500" dirty="0"/>
          </a:p>
        </p:txBody>
      </p:sp>
      <p:graphicFrame>
        <p:nvGraphicFramePr>
          <p:cNvPr id="9" name="Chart 0" descr=""/>
          <p:cNvGraphicFramePr/>
          <p:nvPr/>
        </p:nvGraphicFramePr>
        <p:xfrm>
          <a:off x="514350" y="1466850"/>
          <a:ext cx="5905500" cy="40005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6858000" y="1181100"/>
            <a:ext cx="4762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Equity IRR</a:t>
            </a:r>
            <a:endParaRPr lang="en-US" sz="1500" dirty="0"/>
          </a:p>
        </p:txBody>
      </p:sp>
      <p:graphicFrame>
        <p:nvGraphicFramePr>
          <p:cNvPr id="11" name="Chart 1" descr=""/>
          <p:cNvGraphicFramePr/>
          <p:nvPr/>
        </p:nvGraphicFramePr>
        <p:xfrm>
          <a:off x="6858000" y="1466850"/>
          <a:ext cx="4876800" cy="2190750"/>
        </p:xfrm>
        <a:graphic xmlns:a="http://schemas.openxmlformats.org/drawingml/2006/main">
          <a:graphicData uri="http://schemas.openxmlformats.org/drawingml/2006/chart">
            <c:chart xmlns:c="http://schemas.openxmlformats.org/drawingml/2006/chart" r:id="rId3"/>
          </a:graphicData>
        </a:graphic>
      </p:graphicFrame>
      <p:sp>
        <p:nvSpPr>
          <p:cNvPr id="12" name="Shape 6"/>
          <p:cNvSpPr/>
          <p:nvPr/>
        </p:nvSpPr>
        <p:spPr>
          <a:xfrm>
            <a:off x="6858000" y="3848100"/>
            <a:ext cx="4876800" cy="1619250"/>
          </a:xfrm>
          <a:prstGeom prst="roundRect">
            <a:avLst>
              <a:gd name="adj" fmla="val 10588"/>
            </a:avLst>
          </a:prstGeom>
          <a:solidFill>
            <a:srgbClr val="17685F"/>
          </a:solidFill>
          <a:ln w="12700">
            <a:solidFill>
              <a:srgbClr val="17685F"/>
            </a:solidFill>
            <a:prstDash val="solid"/>
          </a:ln>
        </p:spPr>
      </p:sp>
      <p:sp>
        <p:nvSpPr>
          <p:cNvPr id="13" name="Text 7"/>
          <p:cNvSpPr txBox="1"/>
          <p:nvPr/>
        </p:nvSpPr>
        <p:spPr>
          <a:xfrm>
            <a:off x="7086600" y="4000500"/>
            <a:ext cx="4476750" cy="24765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Capex and equity by case (USD)</a:t>
            </a:r>
            <a:endParaRPr lang="en-US" sz="1300" dirty="0"/>
          </a:p>
        </p:txBody>
      </p:sp>
      <p:sp>
        <p:nvSpPr>
          <p:cNvPr id="14" name="Text 8"/>
          <p:cNvSpPr txBox="1"/>
          <p:nvPr/>
        </p:nvSpPr>
        <p:spPr>
          <a:xfrm>
            <a:off x="7086600" y="4286250"/>
            <a:ext cx="4476750" cy="1143000"/>
          </a:xfrm>
          <a:prstGeom prst="rect">
            <a:avLst/>
          </a:prstGeom>
          <a:noFill/>
          <a:ln/>
        </p:spPr>
        <p:txBody>
          <a:bodyPr wrap="square" lIns="0" tIns="0" rIns="0" bIns="0" rtlCol="0" anchor="t"/>
          <a:lstStyle/>
          <a:p>
            <a:pPr algn="l" indent="0" marL="0">
              <a:buNone/>
            </a:pPr>
            <a:r>
              <a:rPr lang="en-US" sz="1150" b="1" dirty="0">
                <a:solidFill>
                  <a:srgbClr val="FFFFFF"/>
                </a:solidFill>
                <a:latin typeface="Arial" pitchFamily="34" charset="0"/>
                <a:ea typeface="Arial" pitchFamily="34" charset="-122"/>
                <a:cs typeface="Arial" pitchFamily="34" charset="-120"/>
              </a:rPr>
              <a:t>1: </a:t>
            </a:r>
            <a:pPr algn="l" indent="0" marL="0">
              <a:buNone/>
            </a:pPr>
            <a:r>
              <a:rPr lang="en-US" sz="1150" dirty="0">
                <a:solidFill>
                  <a:srgbClr val="FFFFFF"/>
                </a:solidFill>
                <a:latin typeface="Arial" pitchFamily="34" charset="0"/>
                <a:ea typeface="Arial" pitchFamily="34" charset="-122"/>
                <a:cs typeface="Arial" pitchFamily="34" charset="-120"/>
              </a:rPr>
              <a:t>capex 216,400, equity 64,920, debt 151,480</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2: </a:t>
            </a:r>
            <a:pPr algn="l" indent="0" marL="0">
              <a:buNone/>
            </a:pPr>
            <a:r>
              <a:rPr lang="en-US" sz="1150" dirty="0">
                <a:solidFill>
                  <a:srgbClr val="FFFFFF"/>
                </a:solidFill>
                <a:latin typeface="Arial" pitchFamily="34" charset="0"/>
                <a:ea typeface="Arial" pitchFamily="34" charset="-122"/>
                <a:cs typeface="Arial" pitchFamily="34" charset="-120"/>
              </a:rPr>
              <a:t>capex 227,175, equity 68,152, debt 159,022</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3: </a:t>
            </a:r>
            <a:pPr algn="l" indent="0" marL="0">
              <a:buNone/>
            </a:pPr>
            <a:r>
              <a:rPr lang="en-US" sz="1150" dirty="0">
                <a:solidFill>
                  <a:srgbClr val="FFFFFF"/>
                </a:solidFill>
                <a:latin typeface="Arial" pitchFamily="34" charset="0"/>
                <a:ea typeface="Arial" pitchFamily="34" charset="-122"/>
                <a:cs typeface="Arial" pitchFamily="34" charset="-120"/>
              </a:rPr>
              <a:t>capex 1,060,750, equity 318,225, debt 742,525</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4: </a:t>
            </a:r>
            <a:pPr algn="l" indent="0" marL="0">
              <a:buNone/>
            </a:pPr>
            <a:r>
              <a:rPr lang="en-US" sz="1150" dirty="0">
                <a:solidFill>
                  <a:srgbClr val="FFFFFF"/>
                </a:solidFill>
                <a:latin typeface="Arial" pitchFamily="34" charset="0"/>
                <a:ea typeface="Arial" pitchFamily="34" charset="-122"/>
                <a:cs typeface="Arial" pitchFamily="34" charset="-120"/>
              </a:rPr>
              <a:t>capex 1,186,094, equity 355,828, debt 830,266</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5: </a:t>
            </a:r>
            <a:pPr algn="l" indent="0" marL="0">
              <a:buNone/>
            </a:pPr>
            <a:r>
              <a:rPr lang="en-US" sz="1150" dirty="0">
                <a:solidFill>
                  <a:srgbClr val="FFFFFF"/>
                </a:solidFill>
                <a:latin typeface="Arial" pitchFamily="34" charset="0"/>
                <a:ea typeface="Arial" pitchFamily="34" charset="-122"/>
                <a:cs typeface="Arial" pitchFamily="34" charset="-120"/>
              </a:rPr>
              <a:t>capex 1,756,407, equity 526,922, debt 1,229,485</a:t>
            </a:r>
            <a:endParaRPr lang="en-US" sz="1150" dirty="0"/>
          </a:p>
        </p:txBody>
      </p:sp>
      <p:sp>
        <p:nvSpPr>
          <p:cNvPr id="15" name="Text 9"/>
          <p:cNvSpPr txBox="1"/>
          <p:nvPr/>
        </p:nvSpPr>
        <p:spPr>
          <a:xfrm>
            <a:off x="514350" y="5619750"/>
            <a:ext cx="11220450" cy="381000"/>
          </a:xfrm>
          <a:prstGeom prst="rect">
            <a:avLst/>
          </a:prstGeom>
          <a:noFill/>
          <a:ln/>
        </p:spPr>
        <p:txBody>
          <a:bodyPr wrap="square" lIns="0" tIns="0" rIns="0" bIns="0" rtlCol="0" anchor="t"/>
          <a:lstStyle/>
          <a:p>
            <a:pPr algn="l" indent="0" marL="0">
              <a:buNone/>
            </a:pPr>
            <a:r>
              <a:rPr lang="en-US" sz="1200" i="1" dirty="0">
                <a:solidFill>
                  <a:srgbClr val="4D6D68"/>
                </a:solidFill>
                <a:latin typeface="Arial" pitchFamily="34" charset="0"/>
                <a:ea typeface="Arial" pitchFamily="34" charset="-122"/>
                <a:cs typeface="Arial" pitchFamily="34" charset="-120"/>
              </a:rPr>
              <a:t>Simple equity payback runs from 1.4 years (case 1) to 2.0 years (case 5). These are consequences of the 500 USD/kWp input; see slide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What storage buys, and why it needs the full roof</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13</a:t>
            </a:r>
            <a:endParaRPr lang="en-US" sz="1000" dirty="0"/>
          </a:p>
        </p:txBody>
      </p:sp>
      <p:sp>
        <p:nvSpPr>
          <p:cNvPr id="8" name="Text 4"/>
          <p:cNvSpPr txBox="1"/>
          <p:nvPr/>
        </p:nvSpPr>
        <p:spPr>
          <a:xfrm>
            <a:off x="514350" y="1181100"/>
            <a:ext cx="6667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Case 4, average day: who serves the load (kW by hour)</a:t>
            </a:r>
            <a:endParaRPr lang="en-US" sz="1500" dirty="0"/>
          </a:p>
        </p:txBody>
      </p:sp>
      <p:graphicFrame>
        <p:nvGraphicFramePr>
          <p:cNvPr id="9" name="Chart 0" descr=""/>
          <p:cNvGraphicFramePr/>
          <p:nvPr/>
        </p:nvGraphicFramePr>
        <p:xfrm>
          <a:off x="514350" y="1466850"/>
          <a:ext cx="7239000" cy="314325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514350" y="4705350"/>
            <a:ext cx="7239000" cy="419100"/>
          </a:xfrm>
          <a:prstGeom prst="rect">
            <a:avLst/>
          </a:prstGeom>
          <a:noFill/>
          <a:ln/>
        </p:spPr>
        <p:txBody>
          <a:bodyPr wrap="square" lIns="0" tIns="0" rIns="0" bIns="0" rtlCol="0" anchor="t"/>
          <a:lstStyle/>
          <a:p>
            <a:pPr algn="l" indent="0" marL="0">
              <a:buNone/>
            </a:pPr>
            <a:r>
              <a:rPr lang="en-US" sz="1150" i="1" dirty="0">
                <a:solidFill>
                  <a:srgbClr val="4D6D68"/>
                </a:solidFill>
                <a:latin typeface="Arial" pitchFamily="34" charset="0"/>
                <a:ea typeface="Arial" pitchFamily="34" charset="-122"/>
                <a:cs typeface="Arial" pitchFamily="34" charset="-120"/>
              </a:rPr>
              <a:t>Late morning the array also charges the battery (up to 147 kW on the average day) and still curtails up to 218 kW; the battery gives it back on the morning ramp and in the evening, inside the peak window, and tops up from the grid overnight at the off-peak rate.</a:t>
            </a:r>
            <a:endParaRPr lang="en-US" sz="1150" dirty="0"/>
          </a:p>
        </p:txBody>
      </p:sp>
      <p:sp>
        <p:nvSpPr>
          <p:cNvPr id="11" name="Shape 6"/>
          <p:cNvSpPr/>
          <p:nvPr/>
        </p:nvSpPr>
        <p:spPr>
          <a:xfrm>
            <a:off x="8096250" y="1181100"/>
            <a:ext cx="3638550" cy="1276350"/>
          </a:xfrm>
          <a:prstGeom prst="roundRect">
            <a:avLst>
              <a:gd name="adj" fmla="val 13433"/>
            </a:avLst>
          </a:prstGeom>
          <a:solidFill>
            <a:srgbClr val="17685F"/>
          </a:solidFill>
          <a:ln w="12700">
            <a:solidFill>
              <a:srgbClr val="17685F"/>
            </a:solidFill>
            <a:prstDash val="solid"/>
          </a:ln>
        </p:spPr>
      </p:sp>
      <p:sp>
        <p:nvSpPr>
          <p:cNvPr id="12" name="Text 7"/>
          <p:cNvSpPr txBox="1"/>
          <p:nvPr/>
        </p:nvSpPr>
        <p:spPr>
          <a:xfrm>
            <a:off x="8324850" y="1314450"/>
            <a:ext cx="3238500" cy="4191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193 MWh / yr</a:t>
            </a:r>
            <a:endParaRPr lang="en-US" sz="2400" dirty="0"/>
          </a:p>
        </p:txBody>
      </p:sp>
      <p:sp>
        <p:nvSpPr>
          <p:cNvPr id="13" name="Text 8"/>
          <p:cNvSpPr txBox="1"/>
          <p:nvPr/>
        </p:nvSpPr>
        <p:spPr>
          <a:xfrm>
            <a:off x="8324850" y="1771650"/>
            <a:ext cx="3238500" cy="628650"/>
          </a:xfrm>
          <a:prstGeom prst="rect">
            <a:avLst/>
          </a:prstGeom>
          <a:noFill/>
          <a:ln/>
        </p:spPr>
        <p:txBody>
          <a:bodyPr wrap="square" lIns="0" tIns="0" rIns="0" bIns="0" rtlCol="0" anchor="t"/>
          <a:lstStyle/>
          <a:p>
            <a:pPr algn="l" indent="0" marL="0">
              <a:buNone/>
            </a:pPr>
            <a:r>
              <a:rPr lang="en-US" sz="1150" dirty="0">
                <a:solidFill>
                  <a:srgbClr val="FFFFFF"/>
                </a:solidFill>
                <a:latin typeface="Arial" pitchFamily="34" charset="0"/>
                <a:ea typeface="Arial" pitchFamily="34" charset="-122"/>
                <a:cs typeface="Arial" pitchFamily="34" charset="-120"/>
              </a:rPr>
              <a:t>delivered by the case 4 battery to the load: about 56 percent in the evening peak hours (17:00 to 22:00), 37 percent on the morning ramp</a:t>
            </a:r>
            <a:endParaRPr lang="en-US" sz="1150" dirty="0"/>
          </a:p>
        </p:txBody>
      </p:sp>
      <p:sp>
        <p:nvSpPr>
          <p:cNvPr id="14" name="Shape 9"/>
          <p:cNvSpPr/>
          <p:nvPr/>
        </p:nvSpPr>
        <p:spPr>
          <a:xfrm>
            <a:off x="8096250" y="2609850"/>
            <a:ext cx="3638550" cy="1276350"/>
          </a:xfrm>
          <a:prstGeom prst="roundRect">
            <a:avLst>
              <a:gd name="adj" fmla="val 13433"/>
            </a:avLst>
          </a:prstGeom>
          <a:solidFill>
            <a:srgbClr val="3F8E73"/>
          </a:solidFill>
          <a:ln w="12700">
            <a:solidFill>
              <a:srgbClr val="3F8E73"/>
            </a:solidFill>
            <a:prstDash val="solid"/>
          </a:ln>
        </p:spPr>
      </p:sp>
      <p:sp>
        <p:nvSpPr>
          <p:cNvPr id="15" name="Text 10"/>
          <p:cNvSpPr txBox="1"/>
          <p:nvPr/>
        </p:nvSpPr>
        <p:spPr>
          <a:xfrm>
            <a:off x="8324850" y="2743200"/>
            <a:ext cx="3238500" cy="4191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13.2% to 9.0%</a:t>
            </a:r>
            <a:endParaRPr lang="en-US" sz="2400" dirty="0"/>
          </a:p>
        </p:txBody>
      </p:sp>
      <p:sp>
        <p:nvSpPr>
          <p:cNvPr id="16" name="Text 11"/>
          <p:cNvSpPr txBox="1"/>
          <p:nvPr/>
        </p:nvSpPr>
        <p:spPr>
          <a:xfrm>
            <a:off x="8324850" y="3200400"/>
            <a:ext cx="3238500" cy="628650"/>
          </a:xfrm>
          <a:prstGeom prst="rect">
            <a:avLst/>
          </a:prstGeom>
          <a:noFill/>
          <a:ln/>
        </p:spPr>
        <p:txBody>
          <a:bodyPr wrap="square" lIns="0" tIns="0" rIns="0" bIns="0" rtlCol="0" anchor="t"/>
          <a:lstStyle/>
          <a:p>
            <a:pPr algn="l" indent="0" marL="0">
              <a:buNone/>
            </a:pPr>
            <a:r>
              <a:rPr lang="en-US" sz="1150" dirty="0">
                <a:solidFill>
                  <a:srgbClr val="FFFFFF"/>
                </a:solidFill>
                <a:latin typeface="Arial" pitchFamily="34" charset="0"/>
                <a:ea typeface="Arial" pitchFamily="34" charset="-122"/>
                <a:cs typeface="Arial" pitchFamily="34" charset="-120"/>
              </a:rPr>
              <a:t>curtailment on all roofs without and with storage (cases 3 and 4): energy that would otherwise be lost</a:t>
            </a:r>
            <a:endParaRPr lang="en-US" sz="1150" dirty="0"/>
          </a:p>
        </p:txBody>
      </p:sp>
      <p:sp>
        <p:nvSpPr>
          <p:cNvPr id="17" name="Shape 12"/>
          <p:cNvSpPr/>
          <p:nvPr/>
        </p:nvSpPr>
        <p:spPr>
          <a:xfrm>
            <a:off x="8096250" y="4038600"/>
            <a:ext cx="3638550" cy="1276350"/>
          </a:xfrm>
          <a:prstGeom prst="roundRect">
            <a:avLst>
              <a:gd name="adj" fmla="val 13433"/>
            </a:avLst>
          </a:prstGeom>
          <a:solidFill>
            <a:srgbClr val="FFFFFF"/>
          </a:solidFill>
          <a:ln w="12700">
            <a:solidFill>
              <a:srgbClr val="8AB8B0"/>
            </a:solidFill>
            <a:prstDash val="solid"/>
          </a:ln>
        </p:spPr>
      </p:sp>
      <p:sp>
        <p:nvSpPr>
          <p:cNvPr id="18" name="Text 13"/>
          <p:cNvSpPr txBox="1"/>
          <p:nvPr/>
        </p:nvSpPr>
        <p:spPr>
          <a:xfrm>
            <a:off x="8324850" y="4171950"/>
            <a:ext cx="3238500" cy="419100"/>
          </a:xfrm>
          <a:prstGeom prst="rect">
            <a:avLst/>
          </a:prstGeom>
          <a:noFill/>
          <a:ln/>
        </p:spPr>
        <p:txBody>
          <a:bodyPr wrap="square" lIns="0" tIns="0" rIns="0" bIns="0" rtlCol="0" anchor="ctr"/>
          <a:lstStyle/>
          <a:p>
            <a:pPr algn="l" indent="0" marL="0">
              <a:buNone/>
            </a:pPr>
            <a:r>
              <a:rPr lang="en-US" sz="2400" b="1" dirty="0">
                <a:solidFill>
                  <a:srgbClr val="17685F"/>
                </a:solidFill>
                <a:latin typeface="Arial" pitchFamily="34" charset="0"/>
                <a:ea typeface="Arial" pitchFamily="34" charset="-122"/>
                <a:cs typeface="Arial" pitchFamily="34" charset="-120"/>
              </a:rPr>
              <a:t>50 kWh on roof F</a:t>
            </a:r>
            <a:endParaRPr lang="en-US" sz="2400" dirty="0"/>
          </a:p>
        </p:txBody>
      </p:sp>
      <p:sp>
        <p:nvSpPr>
          <p:cNvPr id="19" name="Text 14"/>
          <p:cNvSpPr txBox="1"/>
          <p:nvPr/>
        </p:nvSpPr>
        <p:spPr>
          <a:xfrm>
            <a:off x="8324850" y="4629150"/>
            <a:ext cx="3238500" cy="62865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all the optimiser adds to the roof F array (case 2), for 4,264 USD of NPV: storage needs the full roof to earn</a:t>
            </a:r>
            <a:endParaRPr lang="en-US" sz="1150" dirty="0"/>
          </a:p>
        </p:txBody>
      </p:sp>
      <p:sp>
        <p:nvSpPr>
          <p:cNvPr id="20" name="Text 15"/>
          <p:cNvSpPr txBox="1"/>
          <p:nvPr/>
        </p:nvSpPr>
        <p:spPr>
          <a:xfrm>
            <a:off x="514350" y="5486400"/>
            <a:ext cx="11220450" cy="381000"/>
          </a:xfrm>
          <a:prstGeom prst="rect">
            <a:avLst/>
          </a:prstGeom>
          <a:noFill/>
          <a:ln/>
        </p:spPr>
        <p:txBody>
          <a:bodyPr wrap="square" lIns="0" tIns="0" rIns="0" bIns="0" rtlCol="0" anchor="t"/>
          <a:lstStyle/>
          <a:p>
            <a:pPr algn="l" indent="0" marL="0">
              <a:buNone/>
            </a:pPr>
            <a:r>
              <a:rPr lang="en-US" sz="1250" b="1" dirty="0">
                <a:solidFill>
                  <a:srgbClr val="143B37"/>
                </a:solidFill>
                <a:latin typeface="Arial" pitchFamily="34" charset="0"/>
                <a:ea typeface="Arial" pitchFamily="34" charset="-122"/>
                <a:cs typeface="Arial" pitchFamily="34" charset="-120"/>
              </a:rPr>
              <a:t>The storage conclusion from the memo stands, with a size condition: the battery earns from curtailed energy and the monthly peak, and there is little of either until the array is large against the load.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The year-10 battery replacement meets the final loan year</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14</a:t>
            </a:r>
            <a:endParaRPr lang="en-US" sz="1000" dirty="0"/>
          </a:p>
        </p:txBody>
      </p:sp>
      <p:sp>
        <p:nvSpPr>
          <p:cNvPr id="8" name="Text 4"/>
          <p:cNvSpPr txBox="1"/>
          <p:nvPr/>
        </p:nvSpPr>
        <p:spPr>
          <a:xfrm>
            <a:off x="514350" y="1181100"/>
            <a:ext cx="6667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Debt service coverage ratio, years 1 to 10</a:t>
            </a:r>
            <a:endParaRPr lang="en-US" sz="1500" dirty="0"/>
          </a:p>
        </p:txBody>
      </p:sp>
      <p:graphicFrame>
        <p:nvGraphicFramePr>
          <p:cNvPr id="9" name="Chart 0" descr=""/>
          <p:cNvGraphicFramePr/>
          <p:nvPr/>
        </p:nvGraphicFramePr>
        <p:xfrm>
          <a:off x="514350" y="1466850"/>
          <a:ext cx="7239000" cy="342900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8096250" y="1181100"/>
            <a:ext cx="3638550" cy="4476750"/>
          </a:xfrm>
          <a:prstGeom prst="roundRect">
            <a:avLst>
              <a:gd name="adj" fmla="val 4712"/>
            </a:avLst>
          </a:prstGeom>
          <a:solidFill>
            <a:srgbClr val="17685F"/>
          </a:solidFill>
          <a:ln w="12700">
            <a:solidFill>
              <a:srgbClr val="17685F"/>
            </a:solidFill>
            <a:prstDash val="solid"/>
          </a:ln>
        </p:spPr>
      </p:sp>
      <p:sp>
        <p:nvSpPr>
          <p:cNvPr id="11" name="Text 6"/>
          <p:cNvSpPr txBox="1"/>
          <p:nvPr/>
        </p:nvSpPr>
        <p:spPr>
          <a:xfrm>
            <a:off x="8324850" y="1390650"/>
            <a:ext cx="32385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A structuring point</a:t>
            </a:r>
            <a:endParaRPr lang="en-US" sz="1700" dirty="0"/>
          </a:p>
        </p:txBody>
      </p:sp>
      <p:sp>
        <p:nvSpPr>
          <p:cNvPr id="12" name="Text 7"/>
          <p:cNvSpPr txBox="1"/>
          <p:nvPr/>
        </p:nvSpPr>
        <p:spPr>
          <a:xfrm>
            <a:off x="8324850" y="1790700"/>
            <a:ext cx="3200400" cy="3810000"/>
          </a:xfrm>
          <a:prstGeom prst="rect">
            <a:avLst/>
          </a:prstGeom>
          <a:noFill/>
          <a:ln/>
        </p:spPr>
        <p:txBody>
          <a:bodyPr wrap="square" lIns="0" tIns="0" rIns="0" bIns="0" rtlCol="0" anchor="t"/>
          <a:lstStyle/>
          <a:p>
            <a:pPr marL="203200" indent="-2032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Case 4, year 10: cash available for debt service 213,566 USD against 115,494 USD of debt service after a 125,344 USD battery replacement; coverage 1.85 in that year.</a:t>
            </a:r>
            <a:endParaRPr lang="en-US" sz="1150" dirty="0"/>
          </a:p>
          <a:p>
            <a:pPr marL="203200" indent="-2032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Still above a typical 1.2 covenant; the memo's unconstrained case (5) with a 1,881 kWh battery is the one that falls to 0.64. A reserve built in years 1 to 9, or a tenor set so the replacement falls after the final payment, removes the dip in either case.</a:t>
            </a:r>
            <a:endParaRPr lang="en-US" sz="1150" dirty="0"/>
          </a:p>
          <a:p>
            <a:pPr marL="203200" indent="-2032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Roof F alone has no such year: PV only, coverage above 3.1 throughout; the inverter replacement (10 percent of PV capex) falls in year 11, after the loan.</a:t>
            </a:r>
            <a:endParaRPr lang="en-US" sz="1150" dirty="0"/>
          </a:p>
          <a:p>
            <a:pPr marL="203200" indent="-2032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The whole-system replacement at 100 percent of install cost in year 10 is the memo's conservative case; a partial or cheaper replacement shrinks the dip.</a:t>
            </a:r>
            <a:endParaRPr lang="en-US" sz="1150" dirty="0"/>
          </a:p>
        </p:txBody>
      </p:sp>
      <p:sp>
        <p:nvSpPr>
          <p:cNvPr id="13" name="Text 8"/>
          <p:cNvSpPr txBox="1"/>
          <p:nvPr/>
        </p:nvSpPr>
        <p:spPr>
          <a:xfrm>
            <a:off x="514350" y="5048250"/>
            <a:ext cx="7239000" cy="419100"/>
          </a:xfrm>
          <a:prstGeom prst="rect">
            <a:avLst/>
          </a:prstGeom>
          <a:noFill/>
          <a:ln/>
        </p:spPr>
        <p:txBody>
          <a:bodyPr wrap="square" lIns="0" tIns="0" rIns="0" bIns="0" rtlCol="0" anchor="t"/>
          <a:lstStyle/>
          <a:p>
            <a:pPr algn="l" indent="0" marL="0">
              <a:buNone/>
            </a:pPr>
            <a:r>
              <a:rPr lang="en-US" sz="1150" i="1" dirty="0">
                <a:solidFill>
                  <a:srgbClr val="4D6D68"/>
                </a:solidFill>
                <a:latin typeface="Arial" pitchFamily="34" charset="0"/>
                <a:ea typeface="Arial" pitchFamily="34" charset="-122"/>
                <a:cs typeface="Arial" pitchFamily="34" charset="-120"/>
              </a:rPr>
              <a:t>Average coverage over the loan: case 1 3.35, case 4 2.74, case 5 2.31. PV inverter replacement follows in year 11, after the loan.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Two inputs move the answer: capital cost and export</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15</a:t>
            </a:r>
            <a:endParaRPr lang="en-US" sz="1000" dirty="0"/>
          </a:p>
        </p:txBody>
      </p:sp>
      <p:sp>
        <p:nvSpPr>
          <p:cNvPr id="8" name="Text 4"/>
          <p:cNvSpPr txBox="1"/>
          <p:nvPr/>
        </p:nvSpPr>
        <p:spPr>
          <a:xfrm>
            <a:off x="514350" y="1181100"/>
            <a:ext cx="53340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Installed PV cost, USD per kWp</a:t>
            </a:r>
            <a:endParaRPr lang="en-US" sz="1500" dirty="0"/>
          </a:p>
        </p:txBody>
      </p:sp>
      <p:graphicFrame>
        <p:nvGraphicFramePr>
          <p:cNvPr id="9" name="Chart 0" descr=""/>
          <p:cNvGraphicFramePr/>
          <p:nvPr/>
        </p:nvGraphicFramePr>
        <p:xfrm>
          <a:off x="514350" y="1466850"/>
          <a:ext cx="5334000" cy="28575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514350" y="4419600"/>
            <a:ext cx="5334000" cy="85725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The 500 USD/kWp price is used as given. It is why simple equity payback is 1.4 years on roof F; a quotation at 650 USD/kWp would change the picture materially. Confirming the price, on roof F first, is worth more than refining anything else in the analysis.</a:t>
            </a:r>
            <a:endParaRPr lang="en-US" sz="1250" dirty="0"/>
          </a:p>
        </p:txBody>
      </p:sp>
      <p:sp>
        <p:nvSpPr>
          <p:cNvPr id="11" name="Text 6"/>
          <p:cNvSpPr txBox="1"/>
          <p:nvPr/>
        </p:nvSpPr>
        <p:spPr>
          <a:xfrm>
            <a:off x="6381750" y="1181100"/>
            <a:ext cx="53340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Share of production curtailed (no export)</a:t>
            </a:r>
            <a:endParaRPr lang="en-US" sz="1500" dirty="0"/>
          </a:p>
        </p:txBody>
      </p:sp>
      <p:graphicFrame>
        <p:nvGraphicFramePr>
          <p:cNvPr id="12" name="Chart 1" descr=""/>
          <p:cNvGraphicFramePr/>
          <p:nvPr/>
        </p:nvGraphicFramePr>
        <p:xfrm>
          <a:off x="6381750" y="1466850"/>
          <a:ext cx="5334000" cy="2857500"/>
        </p:xfrm>
        <a:graphic xmlns:a="http://schemas.openxmlformats.org/drawingml/2006/main">
          <a:graphicData uri="http://schemas.openxmlformats.org/drawingml/2006/chart">
            <c:chart xmlns:c="http://schemas.openxmlformats.org/drawingml/2006/chart" r:id="rId3"/>
          </a:graphicData>
        </a:graphic>
      </p:graphicFrame>
      <p:sp>
        <p:nvSpPr>
          <p:cNvPr id="13" name="Text 7"/>
          <p:cNvSpPr txBox="1"/>
          <p:nvPr/>
        </p:nvSpPr>
        <p:spPr>
          <a:xfrm>
            <a:off x="6381750" y="4419600"/>
            <a:ext cx="5334000" cy="85725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Roof F alone wastes almost nothing because the array is small against the daytime load. Curtailment appears with the full roof and is where an export price, if PEA or a third party offers one, would raise both the value of the larger systems and the optimal size; the question is left open rather than priced by assumption.</a:t>
            </a:r>
            <a:endParaRPr lang="en-US" sz="1250" dirty="0"/>
          </a:p>
        </p:txBody>
      </p:sp>
      <p:sp>
        <p:nvSpPr>
          <p:cNvPr id="14" name="Text 8"/>
          <p:cNvSpPr txBox="1"/>
          <p:nvPr/>
        </p:nvSpPr>
        <p:spPr>
          <a:xfrm>
            <a:off x="514350" y="5524500"/>
            <a:ext cx="11220450" cy="228600"/>
          </a:xfrm>
          <a:prstGeom prst="rect">
            <a:avLst/>
          </a:prstGeom>
          <a:noFill/>
          <a:ln/>
        </p:spPr>
        <p:txBody>
          <a:bodyPr wrap="square" lIns="0" tIns="0" rIns="0" bIns="0" rtlCol="0" anchor="t"/>
          <a:lstStyle/>
          <a:p>
            <a:pPr algn="l" indent="0" marL="0">
              <a:buNone/>
            </a:pPr>
            <a:r>
              <a:rPr lang="en-US" sz="1100" i="1" dirty="0">
                <a:solidFill>
                  <a:srgbClr val="4D6D68"/>
                </a:solidFill>
                <a:latin typeface="Arial" pitchFamily="34" charset="0"/>
                <a:ea typeface="Arial" pitchFamily="34" charset="-122"/>
                <a:cs typeface="Arial" pitchFamily="34" charset="-120"/>
              </a:rPr>
              <a:t>Cases: 1 roof F, 2 roof F with storage, 3 all roofs, 4 all roofs with storage, 5 no roof limit with storage.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Recommendation: roof F now, the other roofs after review</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16</a:t>
            </a:r>
            <a:endParaRPr lang="en-US" sz="1000" dirty="0"/>
          </a:p>
        </p:txBody>
      </p:sp>
      <p:sp>
        <p:nvSpPr>
          <p:cNvPr id="8" name="Shape 4"/>
          <p:cNvSpPr/>
          <p:nvPr/>
        </p:nvSpPr>
        <p:spPr>
          <a:xfrm>
            <a:off x="514350" y="1200150"/>
            <a:ext cx="5524500" cy="2457450"/>
          </a:xfrm>
          <a:prstGeom prst="roundRect">
            <a:avLst>
              <a:gd name="adj" fmla="val 6977"/>
            </a:avLst>
          </a:prstGeom>
          <a:solidFill>
            <a:srgbClr val="17685F"/>
          </a:solidFill>
          <a:ln w="12700">
            <a:solidFill>
              <a:srgbClr val="17685F"/>
            </a:solidFill>
            <a:prstDash val="solid"/>
          </a:ln>
        </p:spPr>
      </p:sp>
      <p:sp>
        <p:nvSpPr>
          <p:cNvPr id="9" name="Text 5"/>
          <p:cNvSpPr txBox="1"/>
          <p:nvPr/>
        </p:nvSpPr>
        <p:spPr>
          <a:xfrm>
            <a:off x="742950" y="1371600"/>
            <a:ext cx="4953000" cy="28575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Phase 1: roof F, PV only (case 1)</a:t>
            </a:r>
            <a:endParaRPr lang="en-US" sz="1800" dirty="0"/>
          </a:p>
        </p:txBody>
      </p:sp>
      <p:sp>
        <p:nvSpPr>
          <p:cNvPr id="10" name="Text 6"/>
          <p:cNvSpPr txBox="1"/>
          <p:nvPr/>
        </p:nvSpPr>
        <p:spPr>
          <a:xfrm>
            <a:off x="742950" y="1733550"/>
            <a:ext cx="5048250" cy="1714500"/>
          </a:xfrm>
          <a:prstGeom prst="rect">
            <a:avLst/>
          </a:prstGeom>
          <a:noFill/>
          <a:ln/>
        </p:spPr>
        <p:txBody>
          <a:bodyPr wrap="square" lIns="0" tIns="0" rIns="0" bIns="0" rtlCol="0" anchor="t"/>
          <a:lstStyle/>
          <a:p>
            <a:pPr algn="l" indent="0" marL="0">
              <a:spcAft>
                <a:spcPts val="600"/>
              </a:spcAft>
              <a:buNone/>
            </a:pPr>
            <a:r>
              <a:rPr lang="en-US" sz="1250" b="1" dirty="0">
                <a:solidFill>
                  <a:srgbClr val="FFFFFF"/>
                </a:solidFill>
                <a:latin typeface="Arial" pitchFamily="34" charset="0"/>
                <a:ea typeface="Arial" pitchFamily="34" charset="-122"/>
                <a:cs typeface="Arial" pitchFamily="34" charset="-120"/>
              </a:rPr>
              <a:t>433 kWp on the roof replaced 1 to 2 years ago; no storage</a:t>
            </a:r>
            <a:endParaRPr lang="en-US" sz="1250" dirty="0"/>
          </a:p>
          <a:p>
            <a:pPr algn="l" indent="0" marL="0">
              <a:spcAft>
                <a:spcPts val="400"/>
              </a:spcAft>
              <a:buNone/>
            </a:pPr>
            <a:r>
              <a:rPr lang="en-US" sz="1250" dirty="0">
                <a:solidFill>
                  <a:srgbClr val="FFFFFF"/>
                </a:solidFill>
                <a:latin typeface="Arial" pitchFamily="34" charset="0"/>
                <a:ea typeface="Arial" pitchFamily="34" charset="-122"/>
                <a:cs typeface="Arial" pitchFamily="34" charset="-120"/>
              </a:rPr>
              <a:t>Capex 216,400 USD, equity 64,920 USD</a:t>
            </a:r>
            <a:endParaRPr lang="en-US" sz="1250" dirty="0"/>
          </a:p>
          <a:p>
            <a:pPr algn="l" indent="0" marL="0">
              <a:spcAft>
                <a:spcPts val="400"/>
              </a:spcAft>
              <a:buNone/>
            </a:pPr>
            <a:r>
              <a:rPr lang="en-US" sz="1250" dirty="0">
                <a:solidFill>
                  <a:srgbClr val="FFFFFF"/>
                </a:solidFill>
                <a:latin typeface="Arial" pitchFamily="34" charset="0"/>
                <a:ea typeface="Arial" pitchFamily="34" charset="-122"/>
                <a:cs typeface="Arial" pitchFamily="34" charset="-120"/>
              </a:rPr>
              <a:t>Year-1 savings 77,247 USD; grid offset 8.5%; 304 tCO2e a year avoided</a:t>
            </a:r>
            <a:endParaRPr lang="en-US" sz="1250" dirty="0"/>
          </a:p>
          <a:p>
            <a:pPr algn="l" indent="0" marL="0">
              <a:spcAft>
                <a:spcPts val="400"/>
              </a:spcAft>
              <a:buNone/>
            </a:pPr>
            <a:r>
              <a:rPr lang="en-US" sz="1250" dirty="0">
                <a:solidFill>
                  <a:srgbClr val="FFFFFF"/>
                </a:solidFill>
                <a:latin typeface="Arial" pitchFamily="34" charset="0"/>
                <a:ea typeface="Arial" pitchFamily="34" charset="-122"/>
                <a:cs typeface="Arial" pitchFamily="34" charset="-120"/>
              </a:rPr>
              <a:t>Equity NPV 389,829 USD; IRR 75.5%; payback 1.4 years; coverage above 3.1 in every year</a:t>
            </a:r>
            <a:endParaRPr lang="en-US" sz="1250" dirty="0"/>
          </a:p>
          <a:p>
            <a:pPr algn="l" indent="0" marL="0">
              <a:buNone/>
            </a:pPr>
            <a:r>
              <a:rPr lang="en-US" sz="1250" dirty="0">
                <a:solidFill>
                  <a:srgbClr val="CFE7E2"/>
                </a:solidFill>
                <a:latin typeface="Arial" pitchFamily="34" charset="0"/>
                <a:ea typeface="Arial" pitchFamily="34" charset="-122"/>
                <a:cs typeface="Arial" pitchFamily="34" charset="-120"/>
              </a:rPr>
              <a:t>Ready for an EPC quotation now; no structural question on this roof.</a:t>
            </a:r>
            <a:endParaRPr lang="en-US" sz="1250" dirty="0"/>
          </a:p>
        </p:txBody>
      </p:sp>
      <p:sp>
        <p:nvSpPr>
          <p:cNvPr id="11" name="Shape 7"/>
          <p:cNvSpPr/>
          <p:nvPr/>
        </p:nvSpPr>
        <p:spPr>
          <a:xfrm>
            <a:off x="6210300" y="1200150"/>
            <a:ext cx="5524500" cy="2457450"/>
          </a:xfrm>
          <a:prstGeom prst="roundRect">
            <a:avLst>
              <a:gd name="adj" fmla="val 6977"/>
            </a:avLst>
          </a:prstGeom>
          <a:solidFill>
            <a:srgbClr val="FFFFFF"/>
          </a:solidFill>
          <a:ln w="12700">
            <a:solidFill>
              <a:srgbClr val="8AB8B0"/>
            </a:solidFill>
            <a:prstDash val="solid"/>
          </a:ln>
        </p:spPr>
      </p:sp>
      <p:sp>
        <p:nvSpPr>
          <p:cNvPr id="12" name="Text 8"/>
          <p:cNvSpPr txBox="1"/>
          <p:nvPr/>
        </p:nvSpPr>
        <p:spPr>
          <a:xfrm>
            <a:off x="6438900" y="1371600"/>
            <a:ext cx="51435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Phase 2: the other six roofs, with storage</a:t>
            </a:r>
            <a:endParaRPr lang="en-US" sz="1800" dirty="0"/>
          </a:p>
        </p:txBody>
      </p:sp>
      <p:sp>
        <p:nvSpPr>
          <p:cNvPr id="13" name="Text 9"/>
          <p:cNvSpPr txBox="1"/>
          <p:nvPr/>
        </p:nvSpPr>
        <p:spPr>
          <a:xfrm>
            <a:off x="6438900" y="1733550"/>
            <a:ext cx="5048250" cy="1714500"/>
          </a:xfrm>
          <a:prstGeom prst="rect">
            <a:avLst/>
          </a:prstGeom>
          <a:noFill/>
          <a:ln/>
        </p:spPr>
        <p:txBody>
          <a:bodyPr wrap="square" lIns="0" tIns="0" rIns="0" bIns="0" rtlCol="0" anchor="t"/>
          <a:lstStyle/>
          <a:p>
            <a:pPr algn="l" indent="0" marL="0">
              <a:spcAft>
                <a:spcPts val="600"/>
              </a:spcAft>
              <a:buNone/>
            </a:pPr>
            <a:r>
              <a:rPr lang="en-US" sz="1250" b="1" dirty="0">
                <a:solidFill>
                  <a:srgbClr val="143B37"/>
                </a:solidFill>
                <a:latin typeface="Arial" pitchFamily="34" charset="0"/>
                <a:ea typeface="Arial" pitchFamily="34" charset="-122"/>
                <a:cs typeface="Arial" pitchFamily="34" charset="-120"/>
              </a:rPr>
              <a:t>Case 4 less case 1: 1,689 kWp more PV, 303 kW / 634 kWh of storage</a:t>
            </a:r>
            <a:endParaRPr lang="en-US" sz="1250" dirty="0"/>
          </a:p>
          <a:p>
            <a:pPr algn="l" indent="0" marL="0">
              <a:spcAft>
                <a:spcPts val="400"/>
              </a:spcAft>
              <a:buNone/>
            </a:pPr>
            <a:r>
              <a:rPr lang="en-US" sz="1250" dirty="0">
                <a:solidFill>
                  <a:srgbClr val="143B37"/>
                </a:solidFill>
                <a:latin typeface="Arial" pitchFamily="34" charset="0"/>
                <a:ea typeface="Arial" pitchFamily="34" charset="-122"/>
                <a:cs typeface="Arial" pitchFamily="34" charset="-120"/>
              </a:rPr>
              <a:t>Capex 969,694 USD more (case 4 total 1,186,094 USD)</a:t>
            </a:r>
            <a:endParaRPr lang="en-US" sz="1250" dirty="0"/>
          </a:p>
          <a:p>
            <a:pPr algn="l" indent="0" marL="0">
              <a:spcAft>
                <a:spcPts val="400"/>
              </a:spcAft>
              <a:buNone/>
            </a:pPr>
            <a:r>
              <a:rPr lang="en-US" sz="1250" dirty="0">
                <a:solidFill>
                  <a:srgbClr val="143B37"/>
                </a:solidFill>
                <a:latin typeface="Arial" pitchFamily="34" charset="0"/>
                <a:ea typeface="Arial" pitchFamily="34" charset="-122"/>
                <a:cs typeface="Arial" pitchFamily="34" charset="-120"/>
              </a:rPr>
              <a:t>Year-1 savings 279,433 USD more; site total grid offset 39.5%; 1,363 tCO2e a year</a:t>
            </a:r>
            <a:endParaRPr lang="en-US" sz="1250" dirty="0"/>
          </a:p>
          <a:p>
            <a:pPr algn="l" indent="0" marL="0">
              <a:spcAft>
                <a:spcPts val="400"/>
              </a:spcAft>
              <a:buNone/>
            </a:pPr>
            <a:r>
              <a:rPr lang="en-US" sz="1250" dirty="0">
                <a:solidFill>
                  <a:srgbClr val="143B37"/>
                </a:solidFill>
                <a:latin typeface="Arial" pitchFamily="34" charset="0"/>
                <a:ea typeface="Arial" pitchFamily="34" charset="-122"/>
                <a:cs typeface="Arial" pitchFamily="34" charset="-120"/>
              </a:rPr>
              <a:t>Equity NPV 1,222,965 USD more (case 4 total 1,612,795 USD); year-10 battery replacement dips coverage to 1.85</a:t>
            </a:r>
            <a:endParaRPr lang="en-US" sz="1250" dirty="0"/>
          </a:p>
          <a:p>
            <a:pPr algn="l" indent="0" marL="0">
              <a:buNone/>
            </a:pPr>
            <a:r>
              <a:rPr lang="en-US" sz="1250" dirty="0">
                <a:solidFill>
                  <a:srgbClr val="4D6D68"/>
                </a:solidFill>
                <a:latin typeface="Arial" pitchFamily="34" charset="0"/>
                <a:ea typeface="Arial" pitchFamily="34" charset="-122"/>
                <a:cs typeface="Arial" pitchFamily="34" charset="-120"/>
              </a:rPr>
              <a:t>Conditional on the older roofs passing a condition review.</a:t>
            </a:r>
            <a:endParaRPr lang="en-US" sz="1250" dirty="0"/>
          </a:p>
        </p:txBody>
      </p:sp>
      <p:sp>
        <p:nvSpPr>
          <p:cNvPr id="14" name="Text 10"/>
          <p:cNvSpPr txBox="1"/>
          <p:nvPr/>
        </p:nvSpPr>
        <p:spPr>
          <a:xfrm>
            <a:off x="514350" y="3810000"/>
            <a:ext cx="57150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Next steps, in order of value</a:t>
            </a:r>
            <a:endParaRPr lang="en-US" sz="1800" dirty="0"/>
          </a:p>
        </p:txBody>
      </p:sp>
      <p:sp>
        <p:nvSpPr>
          <p:cNvPr id="15" name="Shape 11"/>
          <p:cNvSpPr/>
          <p:nvPr/>
        </p:nvSpPr>
        <p:spPr>
          <a:xfrm>
            <a:off x="514350" y="4171950"/>
            <a:ext cx="2628900" cy="1676400"/>
          </a:xfrm>
          <a:prstGeom prst="roundRect">
            <a:avLst>
              <a:gd name="adj" fmla="val 10227"/>
            </a:avLst>
          </a:prstGeom>
          <a:solidFill>
            <a:srgbClr val="3F8E73"/>
          </a:solidFill>
          <a:ln w="12700">
            <a:solidFill>
              <a:srgbClr val="3F8E73"/>
            </a:solidFill>
            <a:prstDash val="solid"/>
          </a:ln>
        </p:spPr>
      </p:sp>
      <p:sp>
        <p:nvSpPr>
          <p:cNvPr id="16" name="Text 12"/>
          <p:cNvSpPr txBox="1"/>
          <p:nvPr/>
        </p:nvSpPr>
        <p:spPr>
          <a:xfrm>
            <a:off x="704850" y="4305300"/>
            <a:ext cx="381000" cy="419100"/>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17" name="Text 13"/>
          <p:cNvSpPr txBox="1"/>
          <p:nvPr/>
        </p:nvSpPr>
        <p:spPr>
          <a:xfrm>
            <a:off x="1143000" y="4343400"/>
            <a:ext cx="1905000" cy="381000"/>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Roof condition review</a:t>
            </a:r>
            <a:endParaRPr lang="en-US" sz="1400" dirty="0"/>
          </a:p>
        </p:txBody>
      </p:sp>
      <p:sp>
        <p:nvSpPr>
          <p:cNvPr id="18" name="Text 14"/>
          <p:cNvSpPr txBox="1"/>
          <p:nvPr/>
        </p:nvSpPr>
        <p:spPr>
          <a:xfrm>
            <a:off x="704850" y="4800600"/>
            <a:ext cx="2286000" cy="952500"/>
          </a:xfrm>
          <a:prstGeom prst="rect">
            <a:avLst/>
          </a:prstGeom>
          <a:noFill/>
          <a:ln/>
        </p:spPr>
        <p:txBody>
          <a:bodyPr wrap="square" lIns="0" tIns="0" rIns="0" bIns="0" rtlCol="0" anchor="t"/>
          <a:lstStyle/>
          <a:p>
            <a:pPr algn="l" indent="0" marL="0">
              <a:buNone/>
            </a:pPr>
            <a:r>
              <a:rPr lang="en-US" sz="1150" dirty="0">
                <a:solidFill>
                  <a:srgbClr val="FFFFFF"/>
                </a:solidFill>
                <a:latin typeface="Arial" pitchFamily="34" charset="0"/>
                <a:ea typeface="Arial" pitchFamily="34" charset="-122"/>
                <a:cs typeface="Arial" pitchFamily="34" charset="-120"/>
              </a:rPr>
              <a:t>Structural capacity and sheeting condition of A to E and G. Four fifths of the site's solar value sits on them.</a:t>
            </a:r>
            <a:endParaRPr lang="en-US" sz="1150" dirty="0"/>
          </a:p>
        </p:txBody>
      </p:sp>
      <p:sp>
        <p:nvSpPr>
          <p:cNvPr id="19" name="Shape 15"/>
          <p:cNvSpPr/>
          <p:nvPr/>
        </p:nvSpPr>
        <p:spPr>
          <a:xfrm>
            <a:off x="3333750" y="4171950"/>
            <a:ext cx="2628900" cy="1676400"/>
          </a:xfrm>
          <a:prstGeom prst="roundRect">
            <a:avLst>
              <a:gd name="adj" fmla="val 10227"/>
            </a:avLst>
          </a:prstGeom>
          <a:solidFill>
            <a:srgbClr val="FFFFFF"/>
          </a:solidFill>
          <a:ln w="12700">
            <a:solidFill>
              <a:srgbClr val="8AB8B0"/>
            </a:solidFill>
            <a:prstDash val="solid"/>
          </a:ln>
        </p:spPr>
      </p:sp>
      <p:sp>
        <p:nvSpPr>
          <p:cNvPr id="20" name="Text 16"/>
          <p:cNvSpPr txBox="1"/>
          <p:nvPr/>
        </p:nvSpPr>
        <p:spPr>
          <a:xfrm>
            <a:off x="3524250" y="4305300"/>
            <a:ext cx="381000" cy="419100"/>
          </a:xfrm>
          <a:prstGeom prst="rect">
            <a:avLst/>
          </a:prstGeom>
          <a:noFill/>
          <a:ln/>
        </p:spPr>
        <p:txBody>
          <a:bodyPr wrap="square" lIns="0" tIns="0" rIns="0" bIns="0" rtlCol="0" anchor="t"/>
          <a:lstStyle/>
          <a:p>
            <a:pPr algn="l" indent="0" marL="0">
              <a:buNone/>
            </a:pPr>
            <a:r>
              <a:rPr lang="en-US" sz="2800" b="1" dirty="0">
                <a:solidFill>
                  <a:srgbClr val="17685F"/>
                </a:solidFill>
                <a:latin typeface="Arial" pitchFamily="34" charset="0"/>
                <a:ea typeface="Arial" pitchFamily="34" charset="-122"/>
                <a:cs typeface="Arial" pitchFamily="34" charset="-120"/>
              </a:rPr>
              <a:t>2</a:t>
            </a:r>
            <a:endParaRPr lang="en-US" sz="2800" dirty="0"/>
          </a:p>
        </p:txBody>
      </p:sp>
      <p:sp>
        <p:nvSpPr>
          <p:cNvPr id="21" name="Text 17"/>
          <p:cNvSpPr txBox="1"/>
          <p:nvPr/>
        </p:nvSpPr>
        <p:spPr>
          <a:xfrm>
            <a:off x="3962400" y="4343400"/>
            <a:ext cx="1905000" cy="381000"/>
          </a:xfrm>
          <a:prstGeom prst="rect">
            <a:avLst/>
          </a:prstGeom>
          <a:noFill/>
          <a:ln/>
        </p:spPr>
        <p:txBody>
          <a:bodyPr wrap="square" lIns="0" tIns="0" rIns="0" bIns="0" rtlCol="0" anchor="ctr"/>
          <a:lstStyle/>
          <a:p>
            <a:pPr algn="l" indent="0" marL="0">
              <a:buNone/>
            </a:pPr>
            <a:r>
              <a:rPr lang="en-US" sz="1400" b="1" dirty="0">
                <a:solidFill>
                  <a:srgbClr val="143B37"/>
                </a:solidFill>
                <a:latin typeface="Arial" pitchFamily="34" charset="0"/>
                <a:ea typeface="Arial" pitchFamily="34" charset="-122"/>
                <a:cs typeface="Arial" pitchFamily="34" charset="-120"/>
              </a:rPr>
              <a:t>Quote roof F</a:t>
            </a:r>
            <a:endParaRPr lang="en-US" sz="1400" dirty="0"/>
          </a:p>
        </p:txBody>
      </p:sp>
      <p:sp>
        <p:nvSpPr>
          <p:cNvPr id="22" name="Text 18"/>
          <p:cNvSpPr txBox="1"/>
          <p:nvPr/>
        </p:nvSpPr>
        <p:spPr>
          <a:xfrm>
            <a:off x="3524250" y="4800600"/>
            <a:ext cx="2286000" cy="95250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An EPC quotation for the phase 1 array, checked against the 500 USD/kWp used here. Every return in this deck scales off that figure.</a:t>
            </a:r>
            <a:endParaRPr lang="en-US" sz="1150" dirty="0"/>
          </a:p>
        </p:txBody>
      </p:sp>
      <p:sp>
        <p:nvSpPr>
          <p:cNvPr id="23" name="Shape 19"/>
          <p:cNvSpPr/>
          <p:nvPr/>
        </p:nvSpPr>
        <p:spPr>
          <a:xfrm>
            <a:off x="6153150" y="4171950"/>
            <a:ext cx="2628900" cy="1676400"/>
          </a:xfrm>
          <a:prstGeom prst="roundRect">
            <a:avLst>
              <a:gd name="adj" fmla="val 10227"/>
            </a:avLst>
          </a:prstGeom>
          <a:solidFill>
            <a:srgbClr val="FFFFFF"/>
          </a:solidFill>
          <a:ln w="12700">
            <a:solidFill>
              <a:srgbClr val="8AB8B0"/>
            </a:solidFill>
            <a:prstDash val="solid"/>
          </a:ln>
        </p:spPr>
      </p:sp>
      <p:sp>
        <p:nvSpPr>
          <p:cNvPr id="24" name="Text 20"/>
          <p:cNvSpPr txBox="1"/>
          <p:nvPr/>
        </p:nvSpPr>
        <p:spPr>
          <a:xfrm>
            <a:off x="6343650" y="4305300"/>
            <a:ext cx="381000" cy="419100"/>
          </a:xfrm>
          <a:prstGeom prst="rect">
            <a:avLst/>
          </a:prstGeom>
          <a:noFill/>
          <a:ln/>
        </p:spPr>
        <p:txBody>
          <a:bodyPr wrap="square" lIns="0" tIns="0" rIns="0" bIns="0" rtlCol="0" anchor="t"/>
          <a:lstStyle/>
          <a:p>
            <a:pPr algn="l" indent="0" marL="0">
              <a:buNone/>
            </a:pPr>
            <a:r>
              <a:rPr lang="en-US" sz="2800" b="1" dirty="0">
                <a:solidFill>
                  <a:srgbClr val="17685F"/>
                </a:solidFill>
                <a:latin typeface="Arial" pitchFamily="34" charset="0"/>
                <a:ea typeface="Arial" pitchFamily="34" charset="-122"/>
                <a:cs typeface="Arial" pitchFamily="34" charset="-120"/>
              </a:rPr>
              <a:t>3</a:t>
            </a:r>
            <a:endParaRPr lang="en-US" sz="2800" dirty="0"/>
          </a:p>
        </p:txBody>
      </p:sp>
      <p:sp>
        <p:nvSpPr>
          <p:cNvPr id="25" name="Text 21"/>
          <p:cNvSpPr txBox="1"/>
          <p:nvPr/>
        </p:nvSpPr>
        <p:spPr>
          <a:xfrm>
            <a:off x="6781800" y="4343400"/>
            <a:ext cx="1905000" cy="381000"/>
          </a:xfrm>
          <a:prstGeom prst="rect">
            <a:avLst/>
          </a:prstGeom>
          <a:noFill/>
          <a:ln/>
        </p:spPr>
        <p:txBody>
          <a:bodyPr wrap="square" lIns="0" tIns="0" rIns="0" bIns="0" rtlCol="0" anchor="ctr"/>
          <a:lstStyle/>
          <a:p>
            <a:pPr algn="l" indent="0" marL="0">
              <a:buNone/>
            </a:pPr>
            <a:r>
              <a:rPr lang="en-US" sz="1400" b="1" dirty="0">
                <a:solidFill>
                  <a:srgbClr val="143B37"/>
                </a:solidFill>
                <a:latin typeface="Arial" pitchFamily="34" charset="0"/>
                <a:ea typeface="Arial" pitchFamily="34" charset="-122"/>
                <a:cs typeface="Arial" pitchFamily="34" charset="-120"/>
              </a:rPr>
              <a:t>Decide on grid export</a:t>
            </a:r>
            <a:endParaRPr lang="en-US" sz="1400" dirty="0"/>
          </a:p>
        </p:txBody>
      </p:sp>
      <p:sp>
        <p:nvSpPr>
          <p:cNvPr id="26" name="Text 22"/>
          <p:cNvSpPr txBox="1"/>
          <p:nvPr/>
        </p:nvSpPr>
        <p:spPr>
          <a:xfrm>
            <a:off x="6343650" y="4800600"/>
            <a:ext cx="2286000" cy="95250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A price for surplus generation would raise the value of phase 2 and the optimal size; none is assumed today.</a:t>
            </a:r>
            <a:endParaRPr lang="en-US" sz="1150" dirty="0"/>
          </a:p>
        </p:txBody>
      </p:sp>
      <p:sp>
        <p:nvSpPr>
          <p:cNvPr id="27" name="Shape 23"/>
          <p:cNvSpPr/>
          <p:nvPr/>
        </p:nvSpPr>
        <p:spPr>
          <a:xfrm>
            <a:off x="8972550" y="4171950"/>
            <a:ext cx="2628900" cy="1676400"/>
          </a:xfrm>
          <a:prstGeom prst="roundRect">
            <a:avLst>
              <a:gd name="adj" fmla="val 10227"/>
            </a:avLst>
          </a:prstGeom>
          <a:solidFill>
            <a:srgbClr val="FFFFFF"/>
          </a:solidFill>
          <a:ln w="12700">
            <a:solidFill>
              <a:srgbClr val="8AB8B0"/>
            </a:solidFill>
            <a:prstDash val="solid"/>
          </a:ln>
        </p:spPr>
      </p:sp>
      <p:sp>
        <p:nvSpPr>
          <p:cNvPr id="28" name="Text 24"/>
          <p:cNvSpPr txBox="1"/>
          <p:nvPr/>
        </p:nvSpPr>
        <p:spPr>
          <a:xfrm>
            <a:off x="9163050" y="4305300"/>
            <a:ext cx="381000" cy="419100"/>
          </a:xfrm>
          <a:prstGeom prst="rect">
            <a:avLst/>
          </a:prstGeom>
          <a:noFill/>
          <a:ln/>
        </p:spPr>
        <p:txBody>
          <a:bodyPr wrap="square" lIns="0" tIns="0" rIns="0" bIns="0" rtlCol="0" anchor="t"/>
          <a:lstStyle/>
          <a:p>
            <a:pPr algn="l" indent="0" marL="0">
              <a:buNone/>
            </a:pPr>
            <a:r>
              <a:rPr lang="en-US" sz="2800" b="1" dirty="0">
                <a:solidFill>
                  <a:srgbClr val="17685F"/>
                </a:solidFill>
                <a:latin typeface="Arial" pitchFamily="34" charset="0"/>
                <a:ea typeface="Arial" pitchFamily="34" charset="-122"/>
                <a:cs typeface="Arial" pitchFamily="34" charset="-120"/>
              </a:rPr>
              <a:t>4</a:t>
            </a:r>
            <a:endParaRPr lang="en-US" sz="2800" dirty="0"/>
          </a:p>
        </p:txBody>
      </p:sp>
      <p:sp>
        <p:nvSpPr>
          <p:cNvPr id="29" name="Text 25"/>
          <p:cNvSpPr txBox="1"/>
          <p:nvPr/>
        </p:nvSpPr>
        <p:spPr>
          <a:xfrm>
            <a:off x="9601200" y="4343400"/>
            <a:ext cx="1905000" cy="381000"/>
          </a:xfrm>
          <a:prstGeom prst="rect">
            <a:avLst/>
          </a:prstGeom>
          <a:noFill/>
          <a:ln/>
        </p:spPr>
        <p:txBody>
          <a:bodyPr wrap="square" lIns="0" tIns="0" rIns="0" bIns="0" rtlCol="0" anchor="ctr"/>
          <a:lstStyle/>
          <a:p>
            <a:pPr algn="l" indent="0" marL="0">
              <a:buNone/>
            </a:pPr>
            <a:r>
              <a:rPr lang="en-US" sz="1400" b="1" dirty="0">
                <a:solidFill>
                  <a:srgbClr val="143B37"/>
                </a:solidFill>
                <a:latin typeface="Arial" pitchFamily="34" charset="0"/>
                <a:ea typeface="Arial" pitchFamily="34" charset="-122"/>
                <a:cs typeface="Arial" pitchFamily="34" charset="-120"/>
              </a:rPr>
              <a:t>Supply kVAR maxima</a:t>
            </a:r>
            <a:endParaRPr lang="en-US" sz="1400" dirty="0"/>
          </a:p>
        </p:txBody>
      </p:sp>
      <p:sp>
        <p:nvSpPr>
          <p:cNvPr id="30" name="Text 26"/>
          <p:cNvSpPr txBox="1"/>
          <p:nvPr/>
        </p:nvSpPr>
        <p:spPr>
          <a:xfrm>
            <a:off x="9163050" y="4800600"/>
            <a:ext cx="2286000" cy="95250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Monthly kVAR maxima are needed to assess power factor; mitigation is currently outside the capital cost.</a:t>
            </a:r>
            <a:endParaRPr lang="en-US" sz="1150" dirty="0"/>
          </a:p>
        </p:txBody>
      </p:sp>
      <p:sp>
        <p:nvSpPr>
          <p:cNvPr id="31" name="Text 27"/>
          <p:cNvSpPr txBox="1"/>
          <p:nvPr/>
        </p:nvSpPr>
        <p:spPr>
          <a:xfrm>
            <a:off x="514350" y="5981700"/>
            <a:ext cx="11220450" cy="285750"/>
          </a:xfrm>
          <a:prstGeom prst="rect">
            <a:avLst/>
          </a:prstGeom>
          <a:noFill/>
          <a:ln/>
        </p:spPr>
        <p:txBody>
          <a:bodyPr wrap="square" lIns="0" tIns="0" rIns="0" bIns="0" rtlCol="0" anchor="t"/>
          <a:lstStyle/>
          <a:p>
            <a:pPr algn="l" indent="0" marL="0">
              <a:buNone/>
            </a:pPr>
            <a:r>
              <a:rPr lang="en-US" sz="1150" i="1" dirty="0">
                <a:solidFill>
                  <a:srgbClr val="4D6D68"/>
                </a:solidFill>
                <a:latin typeface="Arial" pitchFamily="34" charset="0"/>
                <a:ea typeface="Arial" pitchFamily="34" charset="-122"/>
                <a:cs typeface="Arial" pitchFamily="34" charset="-120"/>
              </a:rPr>
              <a:t>Then: ERC generation licence and Aor.6 building modification permit (no published fee schedule); no environmental assessment below 5 MWp. Phase 2 figures are case 4 less case 1, not a modelled sequence.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Appendix A: provisional inputs</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14350" y="1200150"/>
          <a:ext cx="11220450" cy="914400"/>
        </p:xfrm>
        <a:graphic>
          <a:graphicData uri="http://schemas.openxmlformats.org/drawingml/2006/table">
            <a:tbl>
              <a:tblPr/>
              <a:tblGrid>
                <a:gridCol w="2857500"/>
                <a:gridCol w="3810000"/>
                <a:gridCol w="4552950"/>
              </a:tblGrid>
              <a:tr h="314325">
                <a:tc>
                  <a:txBody>
                    <a:bodyPr/>
                    <a:lstStyle/>
                    <a:p>
                      <a:pPr indent="0" marL="0">
                        <a:buNone/>
                      </a:pPr>
                      <a:r>
                        <a:rPr lang="en-US" sz="1100" b="1" dirty="0">
                          <a:solidFill>
                            <a:srgbClr val="FFFFFF"/>
                          </a:solidFill>
                          <a:latin typeface="Arial" pitchFamily="34" charset="0"/>
                          <a:ea typeface="Arial" pitchFamily="34" charset="-122"/>
                          <a:cs typeface="Arial" pitchFamily="34" charset="-120"/>
                        </a:rPr>
                        <a:t>Input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Value used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Effect if changed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Usable roof share and PV cap</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65 percent of 16,319 m2 measured; 2,122 kWp all roofs, 433 kWp roof F</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Sets the size of every roof case; a layout drawing will replace the share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Roof condition, A to E and G</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assumed able to carry panels once reviewed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 failed review removes those roofs from phase 2 or adds re-roofing cost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Debt fraction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70 percent of capex</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Moves equity IRR and DSCR; NPV to equity changes with leverage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Debt term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10 years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 longer tenor takes the year-10 replacement past the final payment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Insurance rate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0.5 percent of capex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Recurring cost; second-order at this scale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PEA tariff escalation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3 percent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Raises or lowers every year's savings; Ft is not forecast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minimum duration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1.5 hours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Shapes the kW to kWh ratio the optimiser may choose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O&amp;M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 percent of install cost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Small; offset by the conservative replacement assumption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PV inverter replacement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year 11, 10 percent of PV capex</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Allotrope convention; a different year or share moves one year's cash flow</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PV tilt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15 degrees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Pitch not recorded; yield sensitivity is small at this latitude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Grid connection cost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excluded; placeholder pending quotation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Add when quoted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Permitting and licence fees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excluded (no published schedule)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Add when quoted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14325">
                <a:tc>
                  <a:txBody>
                    <a:bodyPr/>
                    <a:lstStyle/>
                    <a:p>
                      <a:pPr indent="0" marL="0">
                        <a:buNone/>
                      </a:pPr>
                      <a:r>
                        <a:rPr lang="en-US" sz="1100" dirty="0">
                          <a:solidFill>
                            <a:srgbClr val="143B37"/>
                          </a:solidFill>
                          <a:latin typeface="Arial" pitchFamily="34" charset="0"/>
                          <a:ea typeface="Arial" pitchFamily="34" charset="-122"/>
                          <a:cs typeface="Arial" pitchFamily="34" charset="-120"/>
                        </a:rPr>
                        <a:t>Power factor mitigation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excluded (no kVAR data)</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Conditional charge of 56.07 THB per kVAR above the allowance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14350" y="5924550"/>
            <a:ext cx="11220450" cy="228600"/>
          </a:xfrm>
          <a:prstGeom prst="rect">
            <a:avLst/>
          </a:prstGeom>
          <a:noFill/>
          <a:ln/>
        </p:spPr>
        <p:txBody>
          <a:bodyPr wrap="square" lIns="0" tIns="0" rIns="0" bIns="0" rtlCol="0" anchor="t"/>
          <a:lstStyle/>
          <a:p>
            <a:pPr algn="l" indent="0" marL="0">
              <a:buNone/>
            </a:pPr>
            <a:r>
              <a:rPr lang="en-US" sz="1050" i="1" dirty="0">
                <a:solidFill>
                  <a:srgbClr val="4D6D68"/>
                </a:solidFill>
                <a:latin typeface="Arial" pitchFamily="34" charset="0"/>
                <a:ea typeface="Arial" pitchFamily="34" charset="-122"/>
                <a:cs typeface="Arial" pitchFamily="34" charset="-120"/>
              </a:rPr>
              <a:t>Counted as fifteen items on the workbook because the roof area and the PV cap are listed separately, as are the PV inverter year and share; the roof condition line is added here.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Appendix B: technical basis, permitting and files</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measured roof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18</a:t>
            </a:r>
            <a:endParaRPr lang="en-US" sz="1000" dirty="0"/>
          </a:p>
        </p:txBody>
      </p:sp>
      <p:sp>
        <p:nvSpPr>
          <p:cNvPr id="8" name="Shape 4"/>
          <p:cNvSpPr/>
          <p:nvPr/>
        </p:nvSpPr>
        <p:spPr>
          <a:xfrm>
            <a:off x="514350" y="1200150"/>
            <a:ext cx="3619500" cy="3238500"/>
          </a:xfrm>
          <a:prstGeom prst="roundRect">
            <a:avLst>
              <a:gd name="adj" fmla="val 5294"/>
            </a:avLst>
          </a:prstGeom>
          <a:solidFill>
            <a:srgbClr val="FFFFFF"/>
          </a:solidFill>
          <a:ln w="12700">
            <a:solidFill>
              <a:srgbClr val="8AB8B0"/>
            </a:solidFill>
            <a:prstDash val="solid"/>
          </a:ln>
        </p:spPr>
      </p:sp>
      <p:sp>
        <p:nvSpPr>
          <p:cNvPr id="9" name="Text 5"/>
          <p:cNvSpPr txBox="1"/>
          <p:nvPr/>
        </p:nvSpPr>
        <p:spPr>
          <a:xfrm>
            <a:off x="723900" y="1371600"/>
            <a:ext cx="3200400" cy="28575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Optimisation</a:t>
            </a:r>
            <a:endParaRPr lang="en-US" sz="1600" dirty="0"/>
          </a:p>
        </p:txBody>
      </p:sp>
      <p:sp>
        <p:nvSpPr>
          <p:cNvPr id="10" name="Text 6"/>
          <p:cNvSpPr txBox="1"/>
          <p:nvPr/>
        </p:nvSpPr>
        <p:spPr>
          <a:xfrm>
            <a:off x="723900" y="1752600"/>
            <a:ext cx="3200400" cy="257175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REopt (NREL) v0.57 through Allotrope's REopt API, HiGHS solver.</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15 minute resolution, one metered year of load (2025).</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PVWatts irradiance for Phimai; tilt 15 degrees; 0.5 percent a year PV degradation.</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Objective: lowest 20 year cost of electricity for the site; no export; storage may charge from grid or PV.</a:t>
            </a:r>
            <a:endParaRPr lang="en-US" sz="1150" dirty="0"/>
          </a:p>
        </p:txBody>
      </p:sp>
      <p:sp>
        <p:nvSpPr>
          <p:cNvPr id="11" name="Shape 7"/>
          <p:cNvSpPr/>
          <p:nvPr/>
        </p:nvSpPr>
        <p:spPr>
          <a:xfrm>
            <a:off x="4286250" y="1200150"/>
            <a:ext cx="3619500" cy="3238500"/>
          </a:xfrm>
          <a:prstGeom prst="roundRect">
            <a:avLst>
              <a:gd name="adj" fmla="val 5294"/>
            </a:avLst>
          </a:prstGeom>
          <a:solidFill>
            <a:srgbClr val="17685F"/>
          </a:solidFill>
          <a:ln w="12700">
            <a:solidFill>
              <a:srgbClr val="17685F"/>
            </a:solidFill>
            <a:prstDash val="solid"/>
          </a:ln>
        </p:spPr>
      </p:sp>
      <p:sp>
        <p:nvSpPr>
          <p:cNvPr id="12" name="Text 8"/>
          <p:cNvSpPr txBox="1"/>
          <p:nvPr/>
        </p:nvSpPr>
        <p:spPr>
          <a:xfrm>
            <a:off x="4495800" y="1371600"/>
            <a:ext cx="320040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Pro forma</a:t>
            </a:r>
            <a:endParaRPr lang="en-US" sz="1600" dirty="0"/>
          </a:p>
        </p:txBody>
      </p:sp>
      <p:sp>
        <p:nvSpPr>
          <p:cNvPr id="13" name="Text 9"/>
          <p:cNvSpPr txBox="1"/>
          <p:nvPr/>
        </p:nvSpPr>
        <p:spPr>
          <a:xfrm>
            <a:off x="4495800" y="1752600"/>
            <a:ext cx="3200400" cy="257175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20 year cash flow, direct ownership, 70 percent debt at 6.5 percent over 10 years.</a:t>
            </a:r>
            <a:endParaRPr lang="en-US" sz="1150" dirty="0"/>
          </a:p>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Thai CIT 20 percent flat; 5 year machinery depreciation; 7 percent VAT on the bill.</a:t>
            </a:r>
            <a:endParaRPr lang="en-US" sz="1150" dirty="0"/>
          </a:p>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Battery replaced in year 10 at 100 percent of install cost; PV inverter in year 11 at 10 percent of PV capex; both capitalised.</a:t>
            </a:r>
            <a:endParaRPr lang="en-US" sz="1150" dirty="0"/>
          </a:p>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Every workbook reconciles its live formulas to the engine (audit sheet).</a:t>
            </a:r>
            <a:endParaRPr lang="en-US" sz="1150" dirty="0"/>
          </a:p>
        </p:txBody>
      </p:sp>
      <p:sp>
        <p:nvSpPr>
          <p:cNvPr id="14" name="Shape 10"/>
          <p:cNvSpPr/>
          <p:nvPr/>
        </p:nvSpPr>
        <p:spPr>
          <a:xfrm>
            <a:off x="8058150" y="1200150"/>
            <a:ext cx="3619500" cy="3238500"/>
          </a:xfrm>
          <a:prstGeom prst="roundRect">
            <a:avLst>
              <a:gd name="adj" fmla="val 5294"/>
            </a:avLst>
          </a:prstGeom>
          <a:solidFill>
            <a:srgbClr val="FFFFFF"/>
          </a:solidFill>
          <a:ln w="12700">
            <a:solidFill>
              <a:srgbClr val="8AB8B0"/>
            </a:solidFill>
            <a:prstDash val="solid"/>
          </a:ln>
        </p:spPr>
      </p:sp>
      <p:sp>
        <p:nvSpPr>
          <p:cNvPr id="15" name="Text 11"/>
          <p:cNvSpPr txBox="1"/>
          <p:nvPr/>
        </p:nvSpPr>
        <p:spPr>
          <a:xfrm>
            <a:off x="8267700" y="1371600"/>
            <a:ext cx="3200400" cy="28575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Emissions and permitting</a:t>
            </a:r>
            <a:endParaRPr lang="en-US" sz="1600" dirty="0"/>
          </a:p>
        </p:txBody>
      </p:sp>
      <p:sp>
        <p:nvSpPr>
          <p:cNvPr id="16" name="Text 12"/>
          <p:cNvSpPr txBox="1"/>
          <p:nvPr/>
        </p:nvSpPr>
        <p:spPr>
          <a:xfrm>
            <a:off x="8267700" y="1752600"/>
            <a:ext cx="3200400" cy="257175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Avoided import x 0.4750 kg CO2e per kWh (TGO 2022-2024 grid mix, effective 1 January 2026).</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The optimiser's emissions outputs use US datasets and are not used.</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ERC generation licence and Aor.6 building modification permit required; no published fee schedules.</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IEE at 5 MWp, EIA at 10 MWp: not triggered below 3 MWp.</a:t>
            </a:r>
            <a:endParaRPr lang="en-US" sz="1150" dirty="0"/>
          </a:p>
        </p:txBody>
      </p:sp>
      <p:sp>
        <p:nvSpPr>
          <p:cNvPr id="17" name="Text 13"/>
          <p:cNvSpPr txBox="1"/>
          <p:nvPr/>
        </p:nvSpPr>
        <p:spPr>
          <a:xfrm>
            <a:off x="514350" y="4667250"/>
            <a:ext cx="11220450" cy="476250"/>
          </a:xfrm>
          <a:prstGeom prst="rect">
            <a:avLst/>
          </a:prstGeom>
          <a:noFill/>
          <a:ln/>
        </p:spPr>
        <p:txBody>
          <a:bodyPr wrap="square" lIns="0" tIns="0" rIns="0" bIns="0" rtlCol="0" anchor="t"/>
          <a:lstStyle/>
          <a:p>
            <a:pPr algn="l" indent="0" marL="0">
              <a:buNone/>
            </a:pPr>
            <a:r>
              <a:rPr lang="en-US" sz="1200" dirty="0">
                <a:solidFill>
                  <a:srgbClr val="143B37"/>
                </a:solidFill>
                <a:latin typeface="Arial" pitchFamily="34" charset="0"/>
                <a:ea typeface="Arial" pitchFamily="34" charset="-122"/>
                <a:cs typeface="Arial" pitchFamily="34" charset="-120"/>
              </a:rPr>
              <a:t>Files: five pro forma workbooks (one per case) under rofu_thailand_v2, the satellite roof measurement, the memo of 12 September 2026 (survey-based roof; superseded on the roof only) and its Vietnamese translation, the tariff structure briefing, and the case inputs, solver payloads and raw results for each case.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Rofu Thailand rooftop solar and storage feasibility (measured roof)</dc:title>
  <dc:subject>PptxGenJS Presentation</dc:subject>
  <dc:creator>Allotrope Partners</dc:creator>
  <cp:lastModifiedBy>Allotrope Partners</cp:lastModifiedBy>
  <cp:revision>1</cp:revision>
  <dcterms:created xsi:type="dcterms:W3CDTF">2026-09-15T07:43:55Z</dcterms:created>
  <dcterms:modified xsi:type="dcterms:W3CDTF">2026-09-15T07:43:55Z</dcterms:modified>
</cp:coreProperties>
</file>
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538754ed5a46f7" /><Relationship Type="http://schemas.openxmlformats.org/officeDocument/2006/relationships/extended-properties" Target="/docProps/app.xml" Id="R223448c2ab2d4b35" /><Relationship Type="http://schemas.openxmlformats.org/officeDocument/2006/relationships/officeDocument" Target="/ppt/presentation.xml" Id="R3583a7af1fa040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7b4ec46e324d54"/>
  </p:sldMasterIdLst>
  <p:notesMasterIdLst>
    <p:notesMasterId xmlns:r="http://schemas.openxmlformats.org/officeDocument/2006/relationships" r:id="R4306949f14604812"/>
  </p:notesMasterIdLst>
  <p:sldIdLst>
    <p:sldId xmlns:r="http://schemas.openxmlformats.org/officeDocument/2006/relationships" id="256" r:id="R4d3530491b8e4449"/>
    <p:sldId xmlns:r="http://schemas.openxmlformats.org/officeDocument/2006/relationships" id="257" r:id="Rf0967119dde74302"/>
    <p:sldId xmlns:r="http://schemas.openxmlformats.org/officeDocument/2006/relationships" id="258" r:id="Rff528ed36dc846d3"/>
    <p:sldId xmlns:r="http://schemas.openxmlformats.org/officeDocument/2006/relationships" id="259" r:id="R869ba23c874e4f3b"/>
    <p:sldId xmlns:r="http://schemas.openxmlformats.org/officeDocument/2006/relationships" id="260" r:id="R170b161a420f4f70"/>
    <p:sldId xmlns:r="http://schemas.openxmlformats.org/officeDocument/2006/relationships" id="261" r:id="R86968ac7b7f74f94"/>
    <p:sldId xmlns:r="http://schemas.openxmlformats.org/officeDocument/2006/relationships" id="262" r:id="R2f73eef9f2284505"/>
    <p:sldId xmlns:r="http://schemas.openxmlformats.org/officeDocument/2006/relationships" id="263" r:id="Rec0190c378734142"/>
    <p:sldId xmlns:r="http://schemas.openxmlformats.org/officeDocument/2006/relationships" id="264" r:id="Rd760bb170e00437b"/>
    <p:sldId xmlns:r="http://schemas.openxmlformats.org/officeDocument/2006/relationships" id="265" r:id="Rdb612b7f2c5d4185"/>
    <p:sldId xmlns:r="http://schemas.openxmlformats.org/officeDocument/2006/relationships" id="266" r:id="R1cee4878aafd4355"/>
    <p:sldId xmlns:r="http://schemas.openxmlformats.org/officeDocument/2006/relationships" id="267" r:id="Rd8d093d312b54295"/>
    <p:sldId xmlns:r="http://schemas.openxmlformats.org/officeDocument/2006/relationships" id="268" r:id="R8370d88364424592"/>
    <p:sldId xmlns:r="http://schemas.openxmlformats.org/officeDocument/2006/relationships" id="269" r:id="R8bec1502469b4a38"/>
    <p:sldId xmlns:r="http://schemas.openxmlformats.org/officeDocument/2006/relationships" id="270" r:id="Re46430c3bd674f4e"/>
    <p:sldId xmlns:r="http://schemas.openxmlformats.org/officeDocument/2006/relationships" id="271" r:id="Rce7fb819d79b422c"/>
    <p:sldId xmlns:r="http://schemas.openxmlformats.org/officeDocument/2006/relationships" id="272" r:id="R532af7ec8e394b15"/>
    <p:sldId xmlns:r="http://schemas.openxmlformats.org/officeDocument/2006/relationships" id="273" r:id="Rbc72673071e2432e"/>
    <p:sldId xmlns:r="http://schemas.openxmlformats.org/officeDocument/2006/relationships" id="274" r:id="R1f74977601dd4075"/>
    <p:sldId xmlns:r="http://schemas.openxmlformats.org/officeDocument/2006/relationships" id="275" r:id="R1eb9c106519944fd"/>
    <p:sldId xmlns:r="http://schemas.openxmlformats.org/officeDocument/2006/relationships" id="276" r:id="R2276b5588e5c4da7"/>
    <p:sldId xmlns:r="http://schemas.openxmlformats.org/officeDocument/2006/relationships" id="277" r:id="Rad14f8deb5d04cb4"/>
    <p:sldId xmlns:r="http://schemas.openxmlformats.org/officeDocument/2006/relationships" id="278" r:id="R93377c76b350418b"/>
    <p:sldId xmlns:r="http://schemas.openxmlformats.org/officeDocument/2006/relationships" id="279" r:id="Ra4c2fe8da6ae424b"/>
    <p:sldId xmlns:r="http://schemas.openxmlformats.org/officeDocument/2006/relationships" id="280" r:id="Rb8c254c47e04433c"/>
    <p:sldId xmlns:r="http://schemas.openxmlformats.org/officeDocument/2006/relationships" id="281" r:id="R007a2af2459541e9"/>
    <p:sldId xmlns:r="http://schemas.openxmlformats.org/officeDocument/2006/relationships" id="282" r:id="Rf207e86cb6df48eb"/>
    <p:sldId xmlns:r="http://schemas.openxmlformats.org/officeDocument/2006/relationships" id="283" r:id="Ree67f7c287954ba5"/>
    <p:sldId xmlns:r="http://schemas.openxmlformats.org/officeDocument/2006/relationships" id="284" r:id="R78afa5c69087448a"/>
    <p:sldId xmlns:r="http://schemas.openxmlformats.org/officeDocument/2006/relationships" id="285" r:id="R5516b38b5ba944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885c7d9cdf4a48" /><Relationship Type="http://schemas.openxmlformats.org/officeDocument/2006/relationships/slideMaster" Target="/ppt/slideMasters/slideMaster1.xml" Id="R8d7b4ec46e324d54" /><Relationship Type="http://schemas.openxmlformats.org/officeDocument/2006/relationships/notesMaster" Target="/ppt/notesMasters/notesMaster1.xml" Id="R4306949f14604812" /><Relationship Type="http://schemas.openxmlformats.org/officeDocument/2006/relationships/presProps" Target="/ppt/presProps.xml" Id="R91ee515ac2c644ba" /><Relationship Type="http://schemas.openxmlformats.org/officeDocument/2006/relationships/viewProps" Target="/ppt/viewProps.xml" Id="Reb2008b3940a4eca" /><Relationship Type="http://schemas.openxmlformats.org/officeDocument/2006/relationships/tableStyles" Target="/ppt/tableStyles.xml" Id="R91e0a20cfb634f2b" /><Relationship Type="http://schemas.openxmlformats.org/officeDocument/2006/relationships/slide" Target="/ppt/slides/slide1.xml" Id="R4d3530491b8e4449" /><Relationship Type="http://schemas.openxmlformats.org/officeDocument/2006/relationships/slide" Target="/ppt/slides/slide2.xml" Id="Rf0967119dde74302" /><Relationship Type="http://schemas.openxmlformats.org/officeDocument/2006/relationships/slide" Target="/ppt/slides/slide3.xml" Id="Rff528ed36dc846d3" /><Relationship Type="http://schemas.openxmlformats.org/officeDocument/2006/relationships/slide" Target="/ppt/slides/slide4.xml" Id="R869ba23c874e4f3b" /><Relationship Type="http://schemas.openxmlformats.org/officeDocument/2006/relationships/slide" Target="/ppt/slides/slide5.xml" Id="R170b161a420f4f70" /><Relationship Type="http://schemas.openxmlformats.org/officeDocument/2006/relationships/slide" Target="/ppt/slides/slide6.xml" Id="R86968ac7b7f74f94" /><Relationship Type="http://schemas.openxmlformats.org/officeDocument/2006/relationships/slide" Target="/ppt/slides/slide7.xml" Id="R2f73eef9f2284505" /><Relationship Type="http://schemas.openxmlformats.org/officeDocument/2006/relationships/slide" Target="/ppt/slides/slide8.xml" Id="Rec0190c378734142" /><Relationship Type="http://schemas.openxmlformats.org/officeDocument/2006/relationships/slide" Target="/ppt/slides/slide9.xml" Id="Rd760bb170e00437b" /><Relationship Type="http://schemas.openxmlformats.org/officeDocument/2006/relationships/slide" Target="/ppt/slides/slide10.xml" Id="Rdb612b7f2c5d4185" /><Relationship Type="http://schemas.openxmlformats.org/officeDocument/2006/relationships/slide" Target="/ppt/slides/slide11.xml" Id="R1cee4878aafd4355" /><Relationship Type="http://schemas.openxmlformats.org/officeDocument/2006/relationships/slide" Target="/ppt/slides/slide12.xml" Id="Rd8d093d312b54295" /><Relationship Type="http://schemas.openxmlformats.org/officeDocument/2006/relationships/slide" Target="/ppt/slides/slide13.xml" Id="R8370d88364424592" /><Relationship Type="http://schemas.openxmlformats.org/officeDocument/2006/relationships/slide" Target="/ppt/slides/slide14.xml" Id="R8bec1502469b4a38" /><Relationship Type="http://schemas.openxmlformats.org/officeDocument/2006/relationships/slide" Target="/ppt/slides/slide15.xml" Id="Re46430c3bd674f4e" /><Relationship Type="http://schemas.openxmlformats.org/officeDocument/2006/relationships/slide" Target="/ppt/slides/slide16.xml" Id="Rce7fb819d79b422c" /><Relationship Type="http://schemas.openxmlformats.org/officeDocument/2006/relationships/slide" Target="/ppt/slides/slide17.xml" Id="R532af7ec8e394b15" /><Relationship Type="http://schemas.openxmlformats.org/officeDocument/2006/relationships/slide" Target="/ppt/slides/slide18.xml" Id="Rbc72673071e2432e" /><Relationship Type="http://schemas.openxmlformats.org/officeDocument/2006/relationships/slide" Target="/ppt/slides/slide19.xml" Id="R1f74977601dd4075" /><Relationship Type="http://schemas.openxmlformats.org/officeDocument/2006/relationships/slide" Target="/ppt/slides/slide20.xml" Id="R1eb9c106519944fd" /><Relationship Type="http://schemas.openxmlformats.org/officeDocument/2006/relationships/slide" Target="/ppt/slides/slide21.xml" Id="R2276b5588e5c4da7" /><Relationship Type="http://schemas.openxmlformats.org/officeDocument/2006/relationships/slide" Target="/ppt/slides/slide22.xml" Id="Rad14f8deb5d04cb4" /><Relationship Type="http://schemas.openxmlformats.org/officeDocument/2006/relationships/slide" Target="/ppt/slides/slide23.xml" Id="R93377c76b350418b" /><Relationship Type="http://schemas.openxmlformats.org/officeDocument/2006/relationships/slide" Target="/ppt/slides/slide24.xml" Id="Ra4c2fe8da6ae424b" /><Relationship Type="http://schemas.openxmlformats.org/officeDocument/2006/relationships/slide" Target="/ppt/slides/slide25.xml" Id="Rb8c254c47e04433c" /><Relationship Type="http://schemas.openxmlformats.org/officeDocument/2006/relationships/slide" Target="/ppt/slides/slide26.xml" Id="R007a2af2459541e9" /><Relationship Type="http://schemas.openxmlformats.org/officeDocument/2006/relationships/slide" Target="/ppt/slides/slide27.xml" Id="Rf207e86cb6df48eb" /><Relationship Type="http://schemas.openxmlformats.org/officeDocument/2006/relationships/slide" Target="/ppt/slides/slide28.xml" Id="Ree67f7c287954ba5" /><Relationship Type="http://schemas.openxmlformats.org/officeDocument/2006/relationships/slide" Target="/ppt/slides/slide29.xml" Id="R78afa5c69087448a" /><Relationship Type="http://schemas.openxmlformats.org/officeDocument/2006/relationships/slide" Target="/ppt/slides/slide30.xml" Id="R5516b38b5ba944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b6d75d655a4a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37f74c82b14fd8" /><Relationship Type="http://schemas.openxmlformats.org/officeDocument/2006/relationships/notesMaster" Target="/ppt/notesMasters/notesMaster1.xml" Id="Rc3ac1efb7e5d48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b687c77a8348b6" /><Relationship Type="http://schemas.openxmlformats.org/officeDocument/2006/relationships/notesMaster" Target="/ppt/notesMasters/notesMaster1.xml" Id="Rc4df0701238d4a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4f81e59cb343e2" /><Relationship Type="http://schemas.openxmlformats.org/officeDocument/2006/relationships/notesMaster" Target="/ppt/notesMasters/notesMaster1.xml" Id="R587154f5723447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1af55379054249" /><Relationship Type="http://schemas.openxmlformats.org/officeDocument/2006/relationships/notesMaster" Target="/ppt/notesMasters/notesMaster1.xml" Id="R55b24f0fd74e43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58b724ae2a4c74" /><Relationship Type="http://schemas.openxmlformats.org/officeDocument/2006/relationships/notesMaster" Target="/ppt/notesMasters/notesMaster1.xml" Id="R329fdb5f20054d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b7d44a7bab45ad" /><Relationship Type="http://schemas.openxmlformats.org/officeDocument/2006/relationships/notesMaster" Target="/ppt/notesMasters/notesMaster1.xml" Id="Rf0bc069e757e4d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184a42b25b417b" /><Relationship Type="http://schemas.openxmlformats.org/officeDocument/2006/relationships/notesMaster" Target="/ppt/notesMasters/notesMaster1.xml" Id="R56ddba58d81942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92f8154e494eb9" /><Relationship Type="http://schemas.openxmlformats.org/officeDocument/2006/relationships/notesMaster" Target="/ppt/notesMasters/notesMaster1.xml" Id="Ra1cc006de9e544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0ba61f5a6542a7" /><Relationship Type="http://schemas.openxmlformats.org/officeDocument/2006/relationships/notesMaster" Target="/ppt/notesMasters/notesMaster1.xml" Id="R131f0809ae3b4c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d8123b7c1a4568" /><Relationship Type="http://schemas.openxmlformats.org/officeDocument/2006/relationships/notesMaster" Target="/ppt/notesMasters/notesMaster1.xml" Id="Re8c790ebd7e645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c910f969f646a0" /><Relationship Type="http://schemas.openxmlformats.org/officeDocument/2006/relationships/notesMaster" Target="/ppt/notesMasters/notesMaster1.xml" Id="Ra3373aa698df45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f9dec4442f4094" /><Relationship Type="http://schemas.openxmlformats.org/officeDocument/2006/relationships/notesMaster" Target="/ppt/notesMasters/notesMaster1.xml" Id="Rf22e03ca97674d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4afaa721494841" /><Relationship Type="http://schemas.openxmlformats.org/officeDocument/2006/relationships/notesMaster" Target="/ppt/notesMasters/notesMaster1.xml" Id="R9f6b39c48d094a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5d0308a7464fac" /><Relationship Type="http://schemas.openxmlformats.org/officeDocument/2006/relationships/notesMaster" Target="/ppt/notesMasters/notesMaster1.xml" Id="R887a33377db344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79bb452c5049b7" /><Relationship Type="http://schemas.openxmlformats.org/officeDocument/2006/relationships/notesMaster" Target="/ppt/notesMasters/notesMaster1.xml" Id="R9ddfd66f68374c7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e07a48408ef472c" /><Relationship Type="http://schemas.openxmlformats.org/officeDocument/2006/relationships/notesMaster" Target="/ppt/notesMasters/notesMaster1.xml" Id="R891c11b856744c1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6fa5da971d64c13" /><Relationship Type="http://schemas.openxmlformats.org/officeDocument/2006/relationships/notesMaster" Target="/ppt/notesMasters/notesMaster1.xml" Id="R135d58bb2807432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1e566560b9f4815" /><Relationship Type="http://schemas.openxmlformats.org/officeDocument/2006/relationships/notesMaster" Target="/ppt/notesMasters/notesMaster1.xml" Id="R121d1b0477ad411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a14efd99c824219" /><Relationship Type="http://schemas.openxmlformats.org/officeDocument/2006/relationships/notesMaster" Target="/ppt/notesMasters/notesMaster1.xml" Id="R509db0b224f04e9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d2a81998c74f20" /><Relationship Type="http://schemas.openxmlformats.org/officeDocument/2006/relationships/notesMaster" Target="/ppt/notesMasters/notesMaster1.xml" Id="R7b06b7238a79473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de5584de18547c5" /><Relationship Type="http://schemas.openxmlformats.org/officeDocument/2006/relationships/notesMaster" Target="/ppt/notesMasters/notesMaster1.xml" Id="R4fd257a5f8eb4d8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30384f947714b27" /><Relationship Type="http://schemas.openxmlformats.org/officeDocument/2006/relationships/notesMaster" Target="/ppt/notesMasters/notesMaster1.xml" Id="R2424c837698c484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031bc875da3473f" /><Relationship Type="http://schemas.openxmlformats.org/officeDocument/2006/relationships/notesMaster" Target="/ppt/notesMasters/notesMaster1.xml" Id="R51dededde36049e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7b159dee354465d" /><Relationship Type="http://schemas.openxmlformats.org/officeDocument/2006/relationships/notesMaster" Target="/ppt/notesMasters/notesMaster1.xml" Id="Rff8379f1704b439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6894686ab9449a2" /><Relationship Type="http://schemas.openxmlformats.org/officeDocument/2006/relationships/notesMaster" Target="/ppt/notesMasters/notesMaster1.xml" Id="R840c90e892784c9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52fb310bbbd4d09" /><Relationship Type="http://schemas.openxmlformats.org/officeDocument/2006/relationships/notesMaster" Target="/ppt/notesMasters/notesMaster1.xml" Id="R63a2759551e643d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c3b72c6cae14700" /><Relationship Type="http://schemas.openxmlformats.org/officeDocument/2006/relationships/notesMaster" Target="/ppt/notesMasters/notesMaster1.xml" Id="Ra885f683bb224f1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1306bddd1de420b" /><Relationship Type="http://schemas.openxmlformats.org/officeDocument/2006/relationships/notesMaster" Target="/ppt/notesMasters/notesMaster1.xml" Id="Rf319a7e0b231444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b20fe227eae443e" /><Relationship Type="http://schemas.openxmlformats.org/officeDocument/2006/relationships/notesMaster" Target="/ppt/notesMasters/notesMaster1.xml" Id="Rbb303a08c716428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47dd0f130514841" /><Relationship Type="http://schemas.openxmlformats.org/officeDocument/2006/relationships/notesMaster" Target="/ppt/notesMasters/notesMaster1.xml" Id="R5d8c4ab4d6b148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0.5 min.</a:t>
            </a:r>
          </a:p>
          <a:p xmlns:a="http://schemas.openxmlformats.org/drawingml/2006/main">
            <a:r>
              <a:t>Open by framing the session as a buyer decision journey, not a legal overview.</a:t>
            </a:r>
          </a:p>
          <a:p xmlns:a="http://schemas.openxmlformats.org/drawingml/2006/main">
            <a:r>
              <a:t>Source: approved deck plan and presenter identity from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1.0 min.</a:t>
            </a:r>
          </a:p>
          <a:p xmlns:a="http://schemas.openxmlformats.org/drawingml/2006/main">
            <a:r>
              <a:t>Use this to move the audience from topic labels to decision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1.0 min.</a:t>
            </a:r>
          </a:p>
          <a:p xmlns:a="http://schemas.openxmlformats.org/drawingml/2006/main">
            <a:r>
              <a:t>Tell attendees where formulas will appear: only where they change a buyer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min.</a:t>
            </a:r>
          </a:p>
          <a:p xmlns:a="http://schemas.openxmlformats.org/drawingml/2006/main">
            <a:r>
              <a:t>Keep this as the baseline. Do not teach two-component tariff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1.0 min.</a:t>
            </a:r>
          </a:p>
          <a:p xmlns:a="http://schemas.openxmlformats.org/drawingml/2006/main">
            <a:r>
              <a:t>Correct prior-deck issue: eligibility is Article 2(2)(b), settlement math is Article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min.</a:t>
            </a:r>
          </a:p>
          <a:p xmlns:a="http://schemas.openxmlformats.org/drawingml/2006/main">
            <a:r>
              <a:t>Make explicit: physical electrons continue through the national grid.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2.0 min.</a:t>
            </a:r>
          </a:p>
          <a:p xmlns:a="http://schemas.openxmlformats.org/drawingml/2006/main">
            <a:r>
              <a:t>Teach this as the core settlement mental model: the strike is only one line in a larger bill.</a:t>
            </a:r>
          </a:p>
          <a:p xmlns:a="http://schemas.openxmlformats.org/drawingml/2006/main">
            <a:r>
              <a:t>Emphasize caveat: current numerical C_DPPAdv/P_cl publication was not confirmed; shown values are training/model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min.</a:t>
            </a:r>
          </a:p>
          <a:p xmlns:a="http://schemas.openxmlformats.org/drawingml/2006/main">
            <a:r>
              <a:t>Use the bridge to explain why volume shape matters before price.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min.</a:t>
            </a:r>
          </a:p>
          <a:p xmlns:a="http://schemas.openxmlformats.org/drawingml/2006/main">
            <a:r>
              <a:t>Do not let this sound like a current fixed-fee claim. It is a training/model assumption.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2.0 min.</a:t>
            </a:r>
          </a:p>
          <a:p xmlns:a="http://schemas.openxmlformats.org/drawingml/2006/main">
            <a:r>
              <a:t>Set up the arithmetic on the next slide; emphasize reproducibility.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2.0 min.</a:t>
            </a:r>
          </a:p>
          <a:p xmlns:a="http://schemas.openxmlformats.org/drawingml/2006/main">
            <a:r>
              <a:t>Point out that official total reconciliation is a procurement control, not academic math.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min.</a:t>
            </a:r>
          </a:p>
          <a:p xmlns:a="http://schemas.openxmlformats.org/drawingml/2006/main">
            <a:r>
              <a:t>This is the transition out of bill mechanics into offer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2.0 min.</a:t>
            </a:r>
          </a:p>
          <a:p xmlns:a="http://schemas.openxmlformats.org/drawingml/2006/main">
            <a:r>
              <a:t>Keep this intuitive; detailed formulas are already anchored in the bill 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2.0 min.</a:t>
            </a:r>
          </a:p>
          <a:p xmlns:a="http://schemas.openxmlformats.org/drawingml/2006/main">
            <a:r>
              <a:t>4% escalation is a modeled assumption, not a current market standard.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3.0 min.</a:t>
            </a:r>
          </a:p>
          <a:p xmlns:a="http://schemas.openxmlformats.org/drawingml/2006/main">
            <a:r>
              <a:t>This slide is conceptual. Use it to motivate the later 70%-100% volume sweep.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2.0 min.</a:t>
            </a:r>
          </a:p>
          <a:p xmlns:a="http://schemas.openxmlformats.org/drawingml/2006/main">
            <a:r>
              <a:t>This sets up why lender DSCR can fail even when seller IRR looks acceptable.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2.5 min.</a:t>
            </a:r>
          </a:p>
          <a:p xmlns:a="http://schemas.openxmlformats.org/drawingml/2006/main">
            <a:r>
              <a:t>Emphasize minimum DSCR rather than average DSCR.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2.5 min.</a:t>
            </a:r>
          </a:p>
          <a:p xmlns:a="http://schemas.openxmlformats.org/drawingml/2006/main">
            <a:r>
              <a:t>Flag fixed FX as a caveat. Do not overstate 25-year USD-facing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min.</a:t>
            </a:r>
          </a:p>
          <a:p xmlns:a="http://schemas.openxmlformats.org/drawingml/2006/main">
            <a:r>
              <a:t>Frame this as continuity with earlier onsite cases but keep it standalone.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2.5 min.</a:t>
            </a:r>
          </a:p>
          <a:p xmlns:a="http://schemas.openxmlformats.org/drawingml/2006/main">
            <a:r>
              <a:t>Frame as modeled Factory A evidence under tested assumptions.</a:t>
            </a:r>
          </a:p>
          <a:p xmlns:a="http://schemas.openxmlformats.org/drawingml/2006/main">
            <a:r>
              <a:t>Case 5 has replacement/lender weakness; Case 6 is bankable but buyer-negative at the offered strike.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2.0 min.</a:t>
            </a:r>
          </a:p>
          <a:p xmlns:a="http://schemas.openxmlformats.org/drawingml/2006/main">
            <a:r>
              <a:t>Do not overgeneralize: this is modeled Case 6 under tested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3.0 min.</a:t>
            </a:r>
          </a:p>
          <a:p xmlns:a="http://schemas.openxmlformats.org/drawingml/2006/main">
            <a:r>
              <a:t>Required language: zero of 56 tested Case 6 scenarios passed buyer, seller, and lender gates together.</a:t>
            </a:r>
          </a:p>
          <a:p xmlns:a="http://schemas.openxmlformats.org/drawingml/2006/main">
            <a:r>
              <a:t>Do not generalize into all Vietnam DPPAs being unbankable.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2.0 min.</a:t>
            </a:r>
          </a:p>
          <a:p xmlns:a="http://schemas.openxmlformats.org/drawingml/2006/main">
            <a:r>
              <a:t>Translate evidence into procurement posture.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3.0 min.</a:t>
            </a:r>
          </a:p>
          <a:p xmlns:a="http://schemas.openxmlformats.org/drawingml/2006/main">
            <a:r>
              <a:t>Close the main story and bridge to panel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backup only.</a:t>
            </a:r>
          </a:p>
          <a:p xmlns:a="http://schemas.openxmlformats.org/drawingml/2006/main">
            <a:r>
              <a:t>Use when participants ask for the algebra behind the bill walk.</a:t>
            </a:r>
          </a:p>
          <a:p xmlns:a="http://schemas.openxmlformats.org/drawingml/2006/main">
            <a:r>
              <a:t>Keep caveat discipline: 360, 163.3, and numerical Kpp examples are training/model assumptions, not confirmed current regulated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backup only.</a:t>
            </a:r>
          </a:p>
          <a:p xmlns:a="http://schemas.openxmlformats.org/drawingml/2006/main">
            <a:r>
              <a:t>Use this when participants ask whether FMP assumptions are forecastable.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backup only.</a:t>
            </a:r>
          </a:p>
          <a:p xmlns:a="http://schemas.openxmlformats.org/drawingml/2006/main">
            <a:r>
              <a:t>Keep this practical: production volatility changes volume and termination negotiations.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backup only.</a:t>
            </a:r>
          </a:p>
          <a:p xmlns:a="http://schemas.openxmlformats.org/drawingml/2006/main">
            <a:r>
              <a:t>No external Scope 2 standard source was added; this slide is a contract evidence checklist.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backup only.</a:t>
            </a:r>
          </a:p>
          <a:p xmlns:a="http://schemas.openxmlformats.org/drawingml/2006/main">
            <a:r>
              <a:t>State clearly that the numerical values are examples or model assumptions, not confirmed current official Kpp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backup only.</a:t>
            </a:r>
          </a:p>
          <a:p xmlns:a="http://schemas.openxmlformats.org/drawingml/2006/main">
            <a:r>
              <a:t>Use this if challenged on why buyer savings, seller IRR, and DSCR can point in different directions.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f094ce0aff45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a201bd442a4c9d" /><Relationship Type="http://schemas.openxmlformats.org/officeDocument/2006/relationships/slideLayout" Target="/ppt/slideLayouts/slideLayout1.xml" Id="R5e89a41c89ad44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89a41c89ad44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aa977b42149d2" /><Relationship Type="http://schemas.openxmlformats.org/officeDocument/2006/relationships/notesSlide" Target="/ppt/notesSlides/notesSlide1.xml" Id="Ra2f0ef3c1d044c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e35d767fc49c4" /><Relationship Type="http://schemas.openxmlformats.org/officeDocument/2006/relationships/notesSlide" Target="/ppt/notesSlides/notesSlide2.xml" Id="R6471f5e89b3947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c5ecf16754a69" /><Relationship Type="http://schemas.openxmlformats.org/officeDocument/2006/relationships/notesSlide" Target="/ppt/notesSlides/notesSlide3.xml" Id="R3c8debad939e43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91c29684d4193" /><Relationship Type="http://schemas.openxmlformats.org/officeDocument/2006/relationships/notesSlide" Target="/ppt/notesSlides/notesSlide4.xml" Id="R6fc212c6a16a48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053ecd702422e" /><Relationship Type="http://schemas.openxmlformats.org/officeDocument/2006/relationships/notesSlide" Target="/ppt/notesSlides/notesSlide5.xml" Id="Ree67dee2d15445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adde388cf475a" /><Relationship Type="http://schemas.openxmlformats.org/officeDocument/2006/relationships/notesSlide" Target="/ppt/notesSlides/notesSlide6.xml" Id="Rc6f7a7ec58ff41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588d54dad462c" /><Relationship Type="http://schemas.openxmlformats.org/officeDocument/2006/relationships/notesSlide" Target="/ppt/notesSlides/notesSlide7.xml" Id="Rb51a94c37f5d48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fdd735271438e" /><Relationship Type="http://schemas.openxmlformats.org/officeDocument/2006/relationships/notesSlide" Target="/ppt/notesSlides/notesSlide8.xml" Id="R488dd79d30c241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4767ef8db48ae" /><Relationship Type="http://schemas.openxmlformats.org/officeDocument/2006/relationships/notesSlide" Target="/ppt/notesSlides/notesSlide9.xml" Id="Rafa15e064bed47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e757c81cb462b" /><Relationship Type="http://schemas.openxmlformats.org/officeDocument/2006/relationships/notesSlide" Target="/ppt/notesSlides/notesSlide10.xml" Id="R07bb7b871d5b46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68d80a2bb41e4" /><Relationship Type="http://schemas.openxmlformats.org/officeDocument/2006/relationships/notesSlide" Target="/ppt/notesSlides/notesSlide11.xml" Id="R758d9ade6adc49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9c54cbb1b4b9c" /><Relationship Type="http://schemas.openxmlformats.org/officeDocument/2006/relationships/notesSlide" Target="/ppt/notesSlides/notesSlide12.xml" Id="R3946a47399994d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3e4c15fef45db" /><Relationship Type="http://schemas.openxmlformats.org/officeDocument/2006/relationships/notesSlide" Target="/ppt/notesSlides/notesSlide13.xml" Id="R914d636ccb5445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46765bed64955" /><Relationship Type="http://schemas.openxmlformats.org/officeDocument/2006/relationships/notesSlide" Target="/ppt/notesSlides/notesSlide14.xml" Id="R1eb865f2bde548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5353b56cd41d6" /><Relationship Type="http://schemas.openxmlformats.org/officeDocument/2006/relationships/notesSlide" Target="/ppt/notesSlides/notesSlide15.xml" Id="R35494b0975f5448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aa663caae4057" /><Relationship Type="http://schemas.openxmlformats.org/officeDocument/2006/relationships/notesSlide" Target="/ppt/notesSlides/notesSlide16.xml" Id="Rb379a83545e1453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6a126ae2e4329" /><Relationship Type="http://schemas.openxmlformats.org/officeDocument/2006/relationships/notesSlide" Target="/ppt/notesSlides/notesSlide17.xml" Id="Rf9a64ec57c9948e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d7bb412c94c50" /><Relationship Type="http://schemas.openxmlformats.org/officeDocument/2006/relationships/notesSlide" Target="/ppt/notesSlides/notesSlide18.xml" Id="Rabf8fed42ef04cc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bf51951bc4e5e" /><Relationship Type="http://schemas.openxmlformats.org/officeDocument/2006/relationships/notesSlide" Target="/ppt/notesSlides/notesSlide19.xml" Id="Rc7622ab4e73e445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ae73170cf42d9" /><Relationship Type="http://schemas.openxmlformats.org/officeDocument/2006/relationships/notesSlide" Target="/ppt/notesSlides/notesSlide20.xml" Id="R47556ecf3512489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8bcdde0274366" /><Relationship Type="http://schemas.openxmlformats.org/officeDocument/2006/relationships/notesSlide" Target="/ppt/notesSlides/notesSlide21.xml" Id="R9ab5c4ffda7841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ac0a262724e73" /><Relationship Type="http://schemas.openxmlformats.org/officeDocument/2006/relationships/notesSlide" Target="/ppt/notesSlides/notesSlide22.xml" Id="Rfc827434d327479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53b3d24bd48f3" /><Relationship Type="http://schemas.openxmlformats.org/officeDocument/2006/relationships/notesSlide" Target="/ppt/notesSlides/notesSlide23.xml" Id="Rc7f9a50cb20541c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d1cd43f0c40c4" /><Relationship Type="http://schemas.openxmlformats.org/officeDocument/2006/relationships/notesSlide" Target="/ppt/notesSlides/notesSlide24.xml" Id="R2d9f3e4b64dd499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21af74dd74349" /><Relationship Type="http://schemas.openxmlformats.org/officeDocument/2006/relationships/notesSlide" Target="/ppt/notesSlides/notesSlide25.xml" Id="R42de084675014f4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8282f0fa24544" /><Relationship Type="http://schemas.openxmlformats.org/officeDocument/2006/relationships/notesSlide" Target="/ppt/notesSlides/notesSlide26.xml" Id="R5069f93d1e6c42f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49f00061040f3" /><Relationship Type="http://schemas.openxmlformats.org/officeDocument/2006/relationships/notesSlide" Target="/ppt/notesSlides/notesSlide27.xml" Id="Rb558e2d6c3f5449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9c2e488d542a3" /><Relationship Type="http://schemas.openxmlformats.org/officeDocument/2006/relationships/notesSlide" Target="/ppt/notesSlides/notesSlide28.xml" Id="R20caaa7af23b423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495c354c64c5f" /><Relationship Type="http://schemas.openxmlformats.org/officeDocument/2006/relationships/notesSlide" Target="/ppt/notesSlides/notesSlide29.xml" Id="R255224e7828445e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6c2b61c094833" /><Relationship Type="http://schemas.openxmlformats.org/officeDocument/2006/relationships/notesSlide" Target="/ppt/notesSlides/notesSlide30.xml" Id="R1bfc38cbf94c48c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C9FC74-A766-4313-9D91-7873D03C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99F41-4028-41C3-8884-9C49C562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27C2F640-EF17-4067-8A78-79EFF22E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DF2D8F2E-EBA7-4090-A44F-2B0F4EA2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OPEN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C58AF-966A-41A4-B36A-12A7DA37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704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3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Understanding Vietnam's DPPA Mechanisms and Pricing Considerations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30703-7ED6-4646-9EAD-A4B5C6E0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647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CE7E5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DCE7E5"/>
                </a:solidFill>
                <a:latin typeface="Segoe UI"/>
                <a:ea typeface="Segoe UI"/>
                <a:cs typeface="Segoe UI"/>
              </a:rPr>
              <a:t>A buyer-decision training deck for factory representatives in global-brand supply chains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258A1-C86B-422E-AF43-60C88E1D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31623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9050">
            <a:solidFill>
              <a:srgbClr val="8ED2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905DB-A9A2-4CC8-BC11-62AD6108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002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BUYER DECISION JOURNEY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B70C6-ECB0-4B22-BAB0-3EA2C301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97F02-2FE0-45B6-9ED0-ACA3FC03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512FA-706D-449B-8F01-615FC712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479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F8712-E680-4015-A612-4E055E5E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907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Bill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83DB6-A082-44DA-AB3D-6F305D40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31FB8-519C-452C-A0EF-E74C1E0A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43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Offer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68D3F-0DD2-490E-939A-3F35EA2D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52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15475-C22D-491A-A99A-1693C216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956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Gates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9DBA8F-4193-4C1A-97A4-D1FF33BE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05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7551E9-3235-4B28-8FA0-7ED30EE2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480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Stress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B0C69F-AE53-4F97-880C-690F0D73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57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E6660-03CC-4B2B-8E7C-D1DE0DAD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004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Checklist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8B1B8-6760-4F7A-B17B-9AADFFDC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571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02138-240E-4626-ACDE-4431A6B4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Cong Nguyen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47022-64F5-4190-9EC1-76DEB6F1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7E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DCE7E5"/>
                </a:solidFill>
                <a:latin typeface="Segoe UI"/>
                <a:ea typeface="Segoe UI"/>
                <a:cs typeface="Segoe UI"/>
              </a:rPr>
              <a:t>Vietnam Clean Energy Manager - Allotrope Partners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66ED06-C757-4559-8263-83C783FE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8CE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B9C8CE"/>
                </a:solidFill>
                <a:latin typeface="Segoe UI"/>
                <a:ea typeface="Segoe UI"/>
                <a:cs typeface="Segoe UI"/>
              </a:rPr>
              <a:t>Source: deck_plan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02121-F642-4B03-9FC7-A03A2D6E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9C8CE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B9C8CE"/>
                </a:solidFill>
                <a:latin typeface="Segoe UI"/>
                <a:ea typeface="Segoe UI"/>
                <a:cs typeface="Segoe UI"/>
              </a:rPr>
              <a:t>As of 2026-06-12 | 01</a:t>
            </a:r>
          </a:p>
        </p:txBody>
      </p:sp>
    </p:spTree>
    <p:extLst>
      <p:ext uri="{BB962C8B-B14F-4D97-AF65-F5344CB8AC3E}">
        <p14:creationId xmlns:p14="http://schemas.microsoft.com/office/powerpoint/2010/main" val="15617484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725E15-0EBE-4401-9265-BBE230B6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0982F-314A-414C-84A5-0F73CDEE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74BEDA67-6C1C-4D47-8549-83FCD9A3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2E23E0F7-1C3A-4968-9225-0302C87F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DECISION 1 - BUYER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EBAD8-4E0B-4E27-BDEC-209B6D92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The same DPPA offer can look cheap, expensive, or unfinanceable depending on the test you run.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37D3A-0F02-4213-8B50-76A53298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2238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C2FD9-16AA-4BD6-AA13-9271D2E8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1C405-2D64-4A74-8395-698AF933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933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EVN BAU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9A207-836A-4E0E-B7D1-A1A9F4F7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1933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What would the factory pay if it did nothing?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E8E92-EEC9-458B-8D5E-0C302080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333625"/>
            <a:ext cx="2238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017AF-D1C5-4FD3-B905-1955CF47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333625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66A8D-3F6E-430F-A2B5-5E951E20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543175"/>
            <a:ext cx="1933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DPPA bill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9AC59-4A89-48E1-BFED-CDD3FB8E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924175"/>
            <a:ext cx="1933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What do the five settlement lines actually total?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445B2-F1E5-4F40-BA98-D3C92E9E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33625"/>
            <a:ext cx="2238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52C8D-5CFD-40FF-810C-2083D3FF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33625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CD49B-34F9-4046-A3FF-3C8E7A80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43175"/>
            <a:ext cx="1933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Three gates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5BBAAC-16A2-4FC2-8C35-A6CF1506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24175"/>
            <a:ext cx="1933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Can buyer, seller, and lender all pass together?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0CA01-ABE1-43AA-ABCC-752BA1AC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7429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This session is about the buyer's test sequence: establish the baseline, decode the bill, then check whether pricing and financing can coexist.</a:t>
            </a:r>
          </a:p>
        </p:txBody>
      </p:sp>
      <p:sp>
        <p:nvSpPr>
          <p:cNvPr id="19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7384A244-5D7A-4EC7-ADBB-A9262208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F29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D65F21-95D1-439C-A05F-2EB6F8C4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86025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BUYER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03561D-3B2C-44DA-88BD-60A2FC72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33675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Which test is this offer being judged against?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0A9130-4472-4BBE-82E7-A99CC138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deck_plan, repo_case6_sweep, repo_case6_lower_strike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F64241-3F6D-4371-872E-59B8662E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02</a:t>
            </a:r>
          </a:p>
        </p:txBody>
      </p:sp>
    </p:spTree>
    <p:extLst>
      <p:ext uri="{BB962C8B-B14F-4D97-AF65-F5344CB8AC3E}">
        <p14:creationId xmlns:p14="http://schemas.microsoft.com/office/powerpoint/2010/main" val="13446391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BD477C-08C4-45C0-BBCE-1141CEC0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70A6D-64F8-40EE-92CE-68B3DF6B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6154D3B7-B192-45F8-8353-1AA17441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02E70132-D188-4037-8D37-476F2C94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BUYER JOURNEY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E7C6A-A39F-4753-97EB-3CBA484C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Six decisions turn a DPPA proposal into a negotiable term sheet.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99CD0-67A2-4A34-965D-2D677002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257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1969D-AA06-43F8-90CA-30A3079E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25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42825-C830-4E25-9C47-0C234338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2A9F2-F8EF-4473-A252-618952F7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813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56D15-1900-4696-AA77-B8EF8EEC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1750"/>
            <a:ext cx="1257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0DFD8-A216-47D3-9BD8-DABF52DB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432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25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BC894-BEA4-412C-9C92-606980EE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3850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Bill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E1B0E-0370-47C7-A63F-372672C1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813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78D72-532C-44A0-B78C-C1531489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71750"/>
            <a:ext cx="1257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7A147-E7A4-48A0-8A92-93B9F80F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432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25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79808-9E6E-4A6C-A022-66F0BA91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3850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Offer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75ABD-013A-440B-AEE4-F7FC5F19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813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9EFE7B-C6D9-4063-9E21-6FE34143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1257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9525">
            <a:solidFill>
              <a:srgbClr val="0F29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E6C984-3094-440F-A1DC-293E7104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432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25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729D3-C938-40C6-8618-361EA2AE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3850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Bankability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69FCF4-3624-42AA-A7EF-F7AFDE01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813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DAE54-8E98-4B58-B7DC-D66B2D2F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1257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9525">
            <a:solidFill>
              <a:srgbClr val="0F29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D0649D-1FA8-47B3-8D62-5E39F69F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432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25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EC6FC-3C8F-4672-B825-98D30D5D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Stress 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06F0B0-FA4E-443B-9C8E-13A89C02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813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FB93F6-09CC-425D-B729-FB49F713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1257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9525">
            <a:solidFill>
              <a:srgbClr val="0F29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CA0F52-85A5-47E1-A439-8679D3EA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432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25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E0A0F3-10BA-4049-B93A-AA3C5952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3850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Checklist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54C303-D4C4-4798-9087-4840862A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F"/>
          </a:solidFill>
          <a:ln xmlns:a="http://schemas.openxmlformats.org/drawingml/2006/main" w="0">
            <a:solidFill>
              <a:srgbClr val="E5F0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90B01A-23FC-45FF-966A-30CCA578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Mechanism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E2EC9F-6AFB-428F-BDBB-F3C21672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767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C"/>
          </a:solidFill>
          <a:ln xmlns:a="http://schemas.openxmlformats.org/drawingml/2006/main" w="0">
            <a:solidFill>
              <a:srgbClr val="FFF3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BB6A11-E347-4930-AA23-E11A1E94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2437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rPr>
              <a:t>Commercial offer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391747-71C7-4DAB-9FF5-9DBD3F45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767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E"/>
          </a:solidFill>
          <a:ln xmlns:a="http://schemas.openxmlformats.org/drawingml/2006/main" w="0">
            <a:solidFill>
              <a:srgbClr val="EAF4E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F191D7-1697-436A-AC40-48A4A7C6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2437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9E5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2E9E5B"/>
                </a:solidFill>
                <a:latin typeface="Segoe UI Semibold"/>
                <a:ea typeface="Segoe UI Semibold"/>
                <a:cs typeface="Segoe UI Semibold"/>
              </a:rPr>
              <a:t>Evidence and decision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A5DD31-939D-4FEA-9DFF-A5103F39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Assumed from the morning session: basic DPPA structure and contracting vocabulary.</a:t>
            </a:r>
          </a:p>
        </p:txBody>
      </p:sp>
      <p:sp>
        <p:nvSpPr>
          <p:cNvPr id="36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D85C5814-8FC6-4A38-9D59-B890BA3F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72000"/>
            <a:ext cx="3238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F293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C68604-4027-4AFB-9407-D6BBAB6A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244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BUYER ACTION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74AF13-E43B-4B79-A56A-0D105381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72050"/>
            <a:ext cx="2895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Use this six-stage checklist to organize developer diligence.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31C291-374A-41A9-891A-EB2B56FB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deck_plan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246F80-3BDA-43C7-95E5-4AF16989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03</a:t>
            </a:r>
          </a:p>
        </p:txBody>
      </p:sp>
    </p:spTree>
    <p:extLst>
      <p:ext uri="{BB962C8B-B14F-4D97-AF65-F5344CB8AC3E}">
        <p14:creationId xmlns:p14="http://schemas.microsoft.com/office/powerpoint/2010/main" val="1639444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F5FAAF-EC83-4BF7-9E61-12D3978D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DEE49-EBC7-4064-9187-3925363A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CA6849E9-CF86-4913-ABB8-E31C39AF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5F9D4D7F-CED1-47FE-8322-A691EECE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DECISION 1 -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B02B0-7F43-4488-9F9E-B7552CA5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Your DPPA benchmark is the EVN bill you would otherwise keep paying.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B808B-6C0C-415A-BF5A-1A7A1FB6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127A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BB5DA-2BE3-4F1E-8918-CAA12893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1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Production voltage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0877E-A57B-4726-A202-D338D956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859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1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Off-peak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BB1EE-DABE-443C-9523-18E8DC66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859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1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Normal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4DEEF-E85B-4D68-9CE5-881E013D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859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1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Peak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D9F8D-9BD4-4FB5-99B1-8C27169A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D84B7-9426-4450-8148-4179892B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&gt;=110 kV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EE0D7-381B-4CAA-A66C-E2786152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1146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277DC-1C1C-43E7-BBFE-0CFAD873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812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1811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16F31-6978-4F96-85A4-1A0AB474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812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3266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7116C-7F02-401B-A5A1-A1AAC95A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2D558-B4A3-455D-9342-AB76C561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22-110 kV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91C39-70DD-4DE4-BD6A-80095D64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765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1190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040BC5-8B8C-4AE3-B38F-EE38C4BE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765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1833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F4A521-BA7F-4CB6-A134-54E5CE8D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765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3398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2EC8F-2314-4735-AD84-08932CC2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1097FC-8400-4253-9190-3DF76EDC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6-22 kV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3987B8-B78A-44DF-8E3B-4D4B87B0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718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1234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7651D9-F357-4960-B4D1-8CB7AD3D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718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1899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2731AF-A107-475A-A254-EEC8DA5B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718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3508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512BD0-D1FA-4773-A417-8672A319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5414F8-752A-4F29-BB85-49A7688C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&lt;6 kV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720888-2CFC-4835-B9B3-0F3AFE71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671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1300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A282CD-E107-447C-9BE1-4B118F39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671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1987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1F298A-78CD-461F-9935-D93D0E00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671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3640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3C87D5-4060-49F2-B2CE-D41DD2AC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Current source tariff: EVN retail tariff under Decision 1279/QD-BCT. Legacy TOU bands remain applied as of the latest MOIT status located.</a:t>
            </a:r>
          </a:p>
        </p:txBody>
      </p:sp>
      <p:sp>
        <p:nvSpPr>
          <p:cNvPr id="32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1F7EDD2A-0692-42FF-8AE1-5547C981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F293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4B7580-A1B7-4682-A03B-E8EAC8D5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BUYER ACTION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70CBC1-9D42-40F2-ACF8-E798786F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3840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Ask for your voltage band, 12 monthly bills, and interval data.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955276-CC65-42FC-BF07-BA0D6F2F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evn_retail_tariff_1279, evn_current_tou_rules, moit_tou_transition_status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E7A2EC-A1B2-4669-AD7F-00994379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04</a:t>
            </a:r>
          </a:p>
        </p:txBody>
      </p:sp>
    </p:spTree>
    <p:extLst>
      <p:ext uri="{BB962C8B-B14F-4D97-AF65-F5344CB8AC3E}">
        <p14:creationId xmlns:p14="http://schemas.microsoft.com/office/powerpoint/2010/main" val="9522441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57D88F-6B1F-4B3A-ABB1-A2C4E115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0EAF7-8A9C-4947-854E-6D01345D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1EB19D53-4033-45A4-88BE-26D905D0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B79ED864-319F-46BB-8CD3-55A61D99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rPr>
              <a:t>DECISION 1 - ELIGIBILITY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F9014-AF11-4CFE-8F7D-DFE34214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90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Before pricing, confirm whether the regulation can settle your meter.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94521-C3B0-4AFB-9EEA-BFC6A76A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4B863-C65E-4FF3-98EB-48B5049A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C17C3-85AB-4F20-8227-BA942C1D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BUYER VOLTAGE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EFCD7-1907-4BCB-96E4-7AC31074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&gt;=22 kV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0414D-54AB-4B48-A364-EBB6F1F0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076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Article 2(2)(b) defines national-grid DPPA buyers at 22 kV or above.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7DB8F-924E-49EB-AB38-C7D6B4C3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9621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66C69-B566-4271-9B48-5FDD955F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9621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BFA7D-9854-4376-B402-98470627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LOSS FACTOR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29FA9-0BF0-4B8F-8CBE-EF5374B7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6220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K_pp is annual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9510CC-6269-4EC0-922B-4CE24286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43200"/>
            <a:ext cx="2076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Article 16 calculates K_pp from loss data; current numerical publication was not confirmed.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ACD5A-FEF7-4416-8614-A7E76AA0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621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2A85E-3AFD-4E11-A254-97B6FE95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621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C846C-6093-4901-97B1-703F679E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TRAINING VALUES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A94FF-CEE5-4BFA-B4BE-48F0F7AD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6220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Model assumptions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F0918-A860-4476-8852-30986C0C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43200"/>
            <a:ext cx="2076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Example K_pp values are useful for math, not proof of current published factors.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287A6D-1A77-4062-B81A-A52C6D4D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781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C"/>
          </a:solidFill>
          <a:ln xmlns:a="http://schemas.openxmlformats.org/drawingml/2006/main" w="9525">
            <a:solidFill>
              <a:srgbClr val="E09A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C7B6AC-F6AE-451C-BBB9-DEC90C27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Article 16 defines annual calculation from N-2 loss data; current numerical primary-source publication not confirmed</a:t>
            </a:r>
          </a:p>
        </p:txBody>
      </p:sp>
      <p:sp>
        <p:nvSpPr>
          <p:cNvPr id="23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D8A1197E-7D51-4942-8C35-CE61A219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F29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FBA4E-FBB8-4589-B12A-45ADAC3A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BUYER QUESTION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6ACD2B-77CF-41BE-BC1E-1CF77285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3840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What voltage is our delivery point, and which published loss factor will settle our bill?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084391-CD5A-44A2-98A1-BD51A653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gov_nd57, nsmo_training_example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34FC73-7387-4C6D-A793-1562636F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05</a:t>
            </a:r>
          </a:p>
        </p:txBody>
      </p:sp>
    </p:spTree>
    <p:extLst>
      <p:ext uri="{BB962C8B-B14F-4D97-AF65-F5344CB8AC3E}">
        <p14:creationId xmlns:p14="http://schemas.microsoft.com/office/powerpoint/2010/main" val="5776000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423925-E330-4331-AF2D-D205B85B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1FBCC-CCB2-47BC-AE0B-68A252D8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F9D911AF-B3E0-4F0D-982C-FDF1C51B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7680CCE7-7651-47A5-B724-7792C44D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DECISION 2 - MONEY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CA10C-6308-4DF6-B0D4-8317D769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09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A virtual DPPA changes the cash flows, not the physical electrons serving the factory.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C2CEE-593B-4330-8467-289C5C71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127A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00866-3EC0-4975-B2A1-1D6BAEBF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Generator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32D05-5101-4E46-A4F9-D9BF8D18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CE7E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CE7E5"/>
                </a:solidFill>
                <a:latin typeface="Aptos"/>
                <a:ea typeface="Aptos"/>
                <a:cs typeface="Aptos"/>
              </a:rPr>
              <a:t>sells energy to market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D2762-DC57-4C65-BD41-92320D5D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860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F29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430F7-9ACF-4E3F-B093-C9833450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955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Market / EVN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3BCC8-FB28-4BA1-986D-19DC3B55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8194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CE7E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CE7E5"/>
                </a:solidFill>
                <a:latin typeface="Aptos"/>
                <a:ea typeface="Aptos"/>
                <a:cs typeface="Aptos"/>
              </a:rPr>
              <a:t>meters, wheels, bills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92413-0AE2-44DC-87A4-4C3A9F4C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860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E5B"/>
          </a:solidFill>
          <a:ln xmlns:a="http://schemas.openxmlformats.org/drawingml/2006/main" w="0">
            <a:solidFill>
              <a:srgbClr val="2E9E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4CF96-540D-4F18-BCD6-8185A37A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Factory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F7059-2AFC-43C1-A5C2-2002497E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194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CE7E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CE7E5"/>
                </a:solidFill>
                <a:latin typeface="Aptos"/>
                <a:ea typeface="Aptos"/>
                <a:cs typeface="Aptos"/>
              </a:rPr>
              <a:t>pays EVN bill and CfD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8881F-1505-4C5F-8CE1-A8124D1D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6E57F-4591-4BF8-9B9E-77F53596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7813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A03D7-1DC3-4BE4-B11C-27077C5F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908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spot sale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B48983-FA45-4CEB-92B2-95100A8E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DPPA bill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DCB463-8486-46FF-A054-76B13A7D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95750"/>
            <a:ext cx="571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8662A1-E67B-4F35-A27C-BE26C538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053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bilateral two-way CfD overlays the grid transaction</a:t>
            </a:r>
          </a:p>
        </p:txBody>
      </p:sp>
      <p:sp>
        <p:nvSpPr>
          <p:cNvPr id="21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3E56156C-B806-42E3-B016-51EF5873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4790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F29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5DE0C4-EBFC-4719-B1C4-F16731BB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03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BUYER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9ECB4A-6BEC-4674-A0F8-CC93BFAA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Separate EVN bill cash flows from the bilateral CfD cash flows.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EBC132-7E34-4012-B819-5BA52A09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gov_nd57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F4BCDA-697A-4C1F-8810-6798A70E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06</a:t>
            </a:r>
          </a:p>
        </p:txBody>
      </p:sp>
    </p:spTree>
    <p:extLst>
      <p:ext uri="{BB962C8B-B14F-4D97-AF65-F5344CB8AC3E}">
        <p14:creationId xmlns:p14="http://schemas.microsoft.com/office/powerpoint/2010/main" val="14482799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AA7888-2B46-4275-9941-139F1556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DFF7E-850D-42B5-A334-FA2BA2EE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C939F009-04BD-4010-B94F-3D38E105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73CBA9BF-F7C5-4EF9-933E-727410D0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DECISION 2 - FIVE-LINE BILL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E736D-0149-4C91-A4E4-99574D0B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09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The buyer's monthly DPPA cost is five lines, not one price.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88653-7B3F-4E76-AA45-F9B891E0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7399C-3743-4FC7-9CD3-B2FCE539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38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79E8F-2840-4A26-A2AD-BAC53357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431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9442B-CD50-4C49-B4AE-68A79667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573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Market energy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891C9-7B43-4F95-8E09-B4114711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57375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A7A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127A7A"/>
                </a:solidFill>
                <a:latin typeface="Consolas"/>
                <a:ea typeface="Consolas"/>
                <a:cs typeface="Consolas"/>
              </a:rPr>
              <a:t>Q_Khc x CFMP x K_pp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0E3AA-93D4-4939-90E5-188032AA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33600"/>
            <a:ext cx="390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market price at delivery 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7E924-EFD2-44F7-A86D-9E8D4867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97E95-BC52-4314-805C-F9977C27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438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0FCE0-FDE4-46BC-AF10-00B84838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241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6EAAAA-0AE6-41DA-B251-AEF240BD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384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DPPA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CB827-2900-49FB-AE78-D2C4EAB4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38425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A7A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127A7A"/>
                </a:solidFill>
                <a:latin typeface="Consolas"/>
                <a:ea typeface="Consolas"/>
                <a:cs typeface="Consolas"/>
              </a:rPr>
              <a:t>Q_Khc x C_DPPAdv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766908-7A45-44DD-83F7-99DA2A75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390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training assumption: 360 VND/kWh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1AC4D-EE22-4ED7-9BD8-5895ED22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1570B-BDAA-4530-A96E-6BE7C209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38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AEB10-333D-40A6-B328-40C9D321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052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FF8B5-530E-4D69-9CD3-A899827D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194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Balancing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BF8A8-9136-432F-8320-CADFC03F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19475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A7A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127A7A"/>
                </a:solidFill>
                <a:latin typeface="Consolas"/>
                <a:ea typeface="Consolas"/>
                <a:cs typeface="Consolas"/>
              </a:rPr>
              <a:t>Q_Khc x P_cl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EAE0E6-9A67-43A4-8619-F07FE363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95700"/>
            <a:ext cx="390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training assumption: 163.3 VND/kWh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ED6A32-6572-4424-B2F4-B98B6BB6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9F2E42-FA6F-4DB3-A75D-A7E73132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438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C96E98-DBFB-4DF5-8D4C-07510B8C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901BD3-23F3-4B09-9D76-691E8451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Residual EVN purchase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4914EF-FCCC-489B-BF23-4167B111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00525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A7A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127A7A"/>
                </a:solidFill>
                <a:latin typeface="Consolas"/>
                <a:ea typeface="Consolas"/>
                <a:cs typeface="Consolas"/>
              </a:rPr>
              <a:t>(load - Q_Khc) x EVN tariff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C3C855-32C7-41F3-BD1C-584F73D0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76750"/>
            <a:ext cx="390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your remaining TOU bill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54E261-F603-4BB1-A645-9C5C89BB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C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F392BF-694E-42E6-ABC6-E6740165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438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7AA98A-68D4-486D-B13A-185EFD51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673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994FB9-7018-4044-8C70-4BF9434F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815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CfD settlement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48B46D-B2DF-411F-91A7-27967F66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81575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A7A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127A7A"/>
                </a:solidFill>
                <a:latin typeface="Consolas"/>
                <a:ea typeface="Consolas"/>
                <a:cs typeface="Consolas"/>
              </a:rPr>
              <a:t>(strike - FMP) x matched volume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A0EA08-3C9E-435C-82AD-ABF34FEB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57800"/>
            <a:ext cx="390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bilateral buyer-generator cash flow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964C66-7CE7-4310-8356-11548212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5280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C"/>
          </a:solidFill>
          <a:ln xmlns:a="http://schemas.openxmlformats.org/drawingml/2006/main" w="9525">
            <a:solidFill>
              <a:srgbClr val="E09A2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1D10AD-06CE-431A-A699-8EACEDA1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433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rPr>
              <a:t>CAVEAT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C58E61-0305-4D23-9A4B-DFBE6E1C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29050"/>
            <a:ext cx="2819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360 + 163.3 VND/kWh are NSMO training/model assumptions, not confirmed current regulated fees.</a:t>
            </a:r>
          </a:p>
        </p:txBody>
      </p:sp>
      <p:sp>
        <p:nvSpPr>
          <p:cNvPr id="39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A5C1C2C8-9F71-4B3B-BD26-370B0451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9070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F293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E8F1C6-978C-4509-B2B4-8EECC38F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431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BUYER QUESTION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B4DA7B-C581-4588-B1D0-1F7811B9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Which bill lines stay outside the negotiated strike?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826DC9-3C3C-45D0-8BEB-1821A8C0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gov_nd57, nsmo_training_example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20C17C-3E6E-4477-BA31-A7A3A0BE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07</a:t>
            </a:r>
          </a:p>
        </p:txBody>
      </p:sp>
    </p:spTree>
    <p:extLst>
      <p:ext uri="{BB962C8B-B14F-4D97-AF65-F5344CB8AC3E}">
        <p14:creationId xmlns:p14="http://schemas.microsoft.com/office/powerpoint/2010/main" val="15226059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FC0070-B501-434A-B667-21FC884F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EFFC0-817C-4DA4-B9D8-0F5D1E0A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46619D68-AF75-460B-A226-9052304A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507EA6E9-2194-44F3-814B-CB55BFE3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DECISION 2 - VOLUME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517EF-4F9B-431B-950A-E7D22BED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Settlement is capped by what your factory actually consumes.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66EE8-36B0-48B7-A631-61AB5B9A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6609B-D338-4412-B451-49625725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7A7A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27A7A"/>
                </a:solidFill>
                <a:latin typeface="Consolas"/>
                <a:ea typeface="Consolas"/>
                <a:cs typeface="Consolas"/>
              </a:rPr>
              <a:t>Q_meter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ED57F-96F4-46D3-9065-C76530E5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generator meter volume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7FF8B-8659-4002-9E06-7A30A585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956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0B10F-9D43-4D5D-9B03-499F8C92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8125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47A25-0A34-416F-909A-94F21085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860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7A7A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27A7A"/>
                </a:solidFill>
                <a:latin typeface="Consolas"/>
                <a:ea typeface="Consolas"/>
                <a:cs typeface="Consolas"/>
              </a:rPr>
              <a:t>Q_adj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CAA13-42D5-473E-B9EC-3CB7E326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718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delivered volume after loss factor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0EC00-4828-4603-B075-43C23D1D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956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2FFA1-1298-4FC8-BDEA-25855676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C"/>
          </a:solidFill>
          <a:ln xmlns:a="http://schemas.openxmlformats.org/drawingml/2006/main" w="9525">
            <a:solidFill>
              <a:srgbClr val="E09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427F1-6D9A-49AE-9199-F873CD7E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09A2B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E09A2B"/>
                </a:solidFill>
                <a:latin typeface="Consolas"/>
                <a:ea typeface="Consolas"/>
                <a:cs typeface="Consolas"/>
              </a:rPr>
              <a:t>Q_Khc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6DCC9-D864-4ED6-81B0-6FDEC740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min(load, Q_adj)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1501E-9FCB-4F77-AF63-BC586070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8D3882-8F4F-4D35-A8B0-2D559A5F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125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918C7C-938D-4155-A2D1-AC0A5DF3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860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7A7A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27A7A"/>
                </a:solidFill>
                <a:latin typeface="Consolas"/>
                <a:ea typeface="Consolas"/>
                <a:cs typeface="Consolas"/>
              </a:rPr>
              <a:t>Q_CfD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E4BDE-B02F-4CD5-86FC-9B7145DD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718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min(contract, Q_Khc)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18111-F73E-4ABE-95F5-77300C00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714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The cap protects the buyer from settling volume it did not consume, but it also means annual renewable percentages can overstate financial settlement value.</a:t>
            </a:r>
          </a:p>
        </p:txBody>
      </p:sp>
      <p:sp>
        <p:nvSpPr>
          <p:cNvPr id="22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0EC206FF-7114-407F-B154-FD356F6B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F29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AA4D1B-7C4A-486F-8498-E52E0E79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336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BUYER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6D2138-6F9F-4C45-9317-A7B1077A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Ask for hourly matching against your meter data, not annual percentages.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E8A73A-FC5E-4BAF-AC62-9D4DC4F3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gov_nd57, nsmo_training_example, repo_case_assumptions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4A09F2-01FE-4638-8A0D-0FD9561E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08</a:t>
            </a:r>
          </a:p>
        </p:txBody>
      </p:sp>
    </p:spTree>
    <p:extLst>
      <p:ext uri="{BB962C8B-B14F-4D97-AF65-F5344CB8AC3E}">
        <p14:creationId xmlns:p14="http://schemas.microsoft.com/office/powerpoint/2010/main" val="9592249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E8EC24-D1C8-43F0-8EDF-DC6044DB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3C72A-060F-436A-B011-7E486F65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C23374B2-C5A5-4461-B7A6-04D3DB54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8DB2C238-0363-4593-A3F8-DEFEB12F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rPr>
              <a:t>DECISION 2 - FEE BURDEN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05C01-AFC6-406E-B5B3-563CA34F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90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Grid-related charges can consume much of the apparent CfD value.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D489D-FA5B-4BF0-9C69-D00BFFBE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AD5F1-DFA7-433B-AA9D-966A7D75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F8CC4-A4B2-4043-98F8-C3294D8D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05AD7-9779-4535-A4D9-A4785DEE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360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E72A2-E806-472D-9B0F-84CA7F84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VND/kWh assumption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544DE-6DAF-4ABA-8E87-A6A18A62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145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2C531-6C51-43D7-AB18-6EF0B2A1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145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BA5A5-426A-46EE-9F46-2E0342D3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86000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BALANCING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EB0DF-6078-4908-80F3-F3559E2E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527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163.3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DD0B7-7651-4C24-9683-116B4E4E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67050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VND/kWh assumption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1F464-9BF7-4345-8108-35ADAC47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145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CD127D-DFAD-4D4B-80A8-93D3945E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145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F4CBA-7DC1-4866-8D9B-8C462EB9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86000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TOTAL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47EE7-6F41-4408-B072-B8ECF718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527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523.3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332389-4960-4063-80FE-6EE0C8FB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67050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training/model adder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086D0-E94F-48A8-AF3E-A399984F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C"/>
          </a:solidFill>
          <a:ln xmlns:a="http://schemas.openxmlformats.org/drawingml/2006/main" w="9525">
            <a:solidFill>
              <a:srgbClr val="E09A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4D258-ABEE-4961-9964-E85276CA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693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Important caveat: these numerical values are from NSMO training/model evidence. The current regulated publications for these exact amounts were not confirmed.</a:t>
            </a:r>
          </a:p>
        </p:txBody>
      </p:sp>
      <p:sp>
        <p:nvSpPr>
          <p:cNvPr id="23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5DC8B15D-E6EB-4DDE-B846-C70898D5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F29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637C7B-41FD-41D1-997C-DCFCDE27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622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BUYER QUESTION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C81F89-0D08-4F90-9A28-DFCC184F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985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Which current published fee and loss-factor values are being used in this offer?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ED2F8C-2C10-4504-8313-0D5AE6B4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gov_nd57, nsmo_training_example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6DFC54-56CA-4ED2-9BF7-D28D7792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09</a:t>
            </a:r>
          </a:p>
        </p:txBody>
      </p:sp>
    </p:spTree>
    <p:extLst>
      <p:ext uri="{BB962C8B-B14F-4D97-AF65-F5344CB8AC3E}">
        <p14:creationId xmlns:p14="http://schemas.microsoft.com/office/powerpoint/2010/main" val="2053593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40AD6B-5FF0-4847-AF78-98DDB83E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10B63-45F0-4ABF-BB45-4D6B8A7F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CD95D35F-96B6-4A31-AE1C-44E523AA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8096D680-1B13-42E8-A2EC-2BD9A503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DECISION 2 - WORKED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F3FBF-A2B5-4DA4-B2DF-4E309BD9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The NSMO example shows why the bill must be reconciled line by 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7B2E0-FE84-4CC4-BC25-ACA996BD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127A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643C9-4C1E-44CA-9921-27C4321C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19C3A-74A8-4E01-8631-22EED757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621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49D01-9A9D-4EDD-ACC3-44F6791C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62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Why it matters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54D52-DF99-4D62-BAB9-D4961E46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666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22B62-58B8-4FB5-A280-61DC0726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Buyer consumption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DAC1A-FE27-47EF-B89F-E9978C57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574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6,000,000 kWh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7315A-97C9-4C3A-8D1C-E3C33D9E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74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caps settlement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7C75F-44B0-4C29-8C42-08FC9594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666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01E90-5EC2-4C72-92C7-E0084697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Generator spot volume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1C34F-BD67-47DC-BCAF-8336B1FB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527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6,048,000 kWh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C8E20E-D3A5-4D16-BA29-68E8FE8D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527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generator revenue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D516FA-CCB2-478D-8C24-24805ACA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666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1C205-3155-4162-A976-1020654B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FMP / strike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19017A-CACB-4444-85E5-379A311B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480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1200 / 1300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F230A3-E87B-475D-8B7F-62FA6BF0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480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CfD direction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ADFEB6-F288-47DD-B94E-0190B95F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666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40B01-3B39-4609-BEC2-93F90960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k / K_pp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23B66E-4B22-458D-8F2F-C62C21F7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433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1.026 / 1.008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DB64D-FF53-45D0-B21F-346F6455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433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price and loss factors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01D8C8-399D-4A61-9966-49755868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666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F740F2-43EC-4F09-9C14-6983EF55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Service / balancing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D54433-D981-40CF-94AD-3DAAFDD3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386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360 / 163.3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DB0231-5D48-4881-84A6-A7EF6640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386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adder assumptions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E3BC5C-5811-4448-A789-AC72A5C3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Classification: NSMO training example, not confirmation of current fee levels.</a:t>
            </a:r>
          </a:p>
        </p:txBody>
      </p:sp>
      <p:sp>
        <p:nvSpPr>
          <p:cNvPr id="31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950C0A77-8095-4BCB-A010-CB594A80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1455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F293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BD950C-CAAC-465A-B28D-36992A1A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669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BUYER 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0AEF85-1B3A-47EE-B04B-29B9E0C5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1460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Ask the developer to show the same input ledger before showing savings.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FBF2D6-CF9A-49D9-ADB4-309EC1EA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nsmo_training_example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29266B-F7CB-46C2-8123-84A36EEC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10</a:t>
            </a:r>
          </a:p>
        </p:txBody>
      </p:sp>
    </p:spTree>
    <p:extLst>
      <p:ext uri="{BB962C8B-B14F-4D97-AF65-F5344CB8AC3E}">
        <p14:creationId xmlns:p14="http://schemas.microsoft.com/office/powerpoint/2010/main" val="10293698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22E9B5-9785-4153-8A44-94D17A75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1104F-EA17-4DF7-AD85-70B8A85A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C1D4E1D7-55A5-440B-A499-D15A35AC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DE9916AF-6454-4238-A698-D534D28B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DECISION 2 - RECONCILIATION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B6EB7-049A-46D0-9BF8-B0BD29CD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09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The official totals only reconcile when volume, price, and fee assumptions are explicit.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86A79-BCBE-4EBC-90A9-358677AB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76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127A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F48B8-F2BE-4592-8A93-0A6524F3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7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0654F-8663-4654-B006-E7ACD128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62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7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Formula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99006-C104-49DF-A908-DFE7C337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621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7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VND/month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B5309-224E-4C11-90DA-27C5457A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76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4E9A4-2740-42D2-9909-00B74434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C_DN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AFDC9-FC04-471B-B177-BA2B9370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384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Q_Khc x CFMP x K_pp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D97BD-DAE7-4EC9-8717-7755C77B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38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7,446,297,600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1C622D-72C8-48DA-938E-E12BFFB5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676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7699A-C967-4AAE-A0E4-B5CD6E9B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C_DPPA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7F97D-E0B3-4929-A2B7-71D547CE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146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Q_Khc x C_DPPAdv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D8A13-5252-4786-96A8-AD5474A5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14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2,160,000,000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F036E-EE85-40EA-9F77-B860475A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676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1731E7-369F-42AC-88FA-92823E1D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C_CL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7E6B9-17F5-45EA-A666-7EF32D2F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90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Q_Khc x P_cl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C87838-F734-4467-A0D2-F38B211E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90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979,800,000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970019-1D65-44B5-AE15-5A5C9D90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676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49225C-2D15-4043-A63D-254CA70D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C_CfD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4B4F00-B72E-48AA-8B47-731EDE05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67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(strike - FMP) x Q_CfD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334CD5-412C-4A62-BB8E-467F3D78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671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600,000,000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1FEC96-08FC-40AE-A30B-B52FC792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128EAB-8C7B-45E5-83F7-6E80050A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FC954B-7E30-4754-BF02-8A7E553B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BUYER TOTAL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BD5A15-06BD-40A6-B847-2E208995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11.186bn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0CC921-D421-4171-BEE1-62EFCA9E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C_KH VND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D14798-F2CF-443E-BA6C-DD5E5950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577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7FE782-BDCD-425A-A35E-81B67F33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577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A44A4C-8EA8-4536-A966-771983CC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29150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GENERATOR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1B9838-B0A4-4779-8080-3CEE0CCA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9585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7.858bn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FDF185-1496-40E9-9CBC-21C30E7D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76850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VND revenue</a:t>
            </a:r>
          </a:p>
        </p:txBody>
      </p:sp>
      <p:sp>
        <p:nvSpPr>
          <p:cNvPr id="36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7B12AC41-C673-474F-816D-7977A045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1455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F293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A04FBB-8905-44F3-A513-F50157A3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669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BUYER QUESTION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947F20-C856-49F5-A6BD-943163CF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1460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Can we reproduce your monthly settlement total from the inputs?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1DE078-D8CE-4112-9E4E-24DF0A77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nsmo_training_example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784628-4F10-443F-9392-D716AD40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11</a:t>
            </a:r>
          </a:p>
        </p:txBody>
      </p:sp>
    </p:spTree>
    <p:extLst>
      <p:ext uri="{BB962C8B-B14F-4D97-AF65-F5344CB8AC3E}">
        <p14:creationId xmlns:p14="http://schemas.microsoft.com/office/powerpoint/2010/main" val="18223858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3F0459-87ED-4476-A7F9-3BCD8C15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F66B3-8E14-43D4-922E-1DF4C806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D7AC48D0-C936-457C-BD51-CBF44E37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B59822F6-C647-45E0-AEEA-B841F16B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DECISION 2 - BUYER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1AC8E-69EA-404E-BA05-30335C60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After decoding the bill, the first negotiation is really about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54404-5748-4223-B3A7-A52BBED0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2266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85996-600F-497A-8EF6-542C9EDB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5CABF-E608-4AAA-B078-0D421F9F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Interval 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2ABEB-F9A9-42C8-B108-2E2B4CCB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71700"/>
            <a:ext cx="2266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488B6-E528-415B-8C00-54F6D2C5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4315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78296-BBDA-4843-BEF9-E4C54D64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Voltage band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9A5FA-8234-44F6-88F8-F3E0141A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71700"/>
            <a:ext cx="2266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1B805-30D7-431B-A58A-74171FEC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4315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11D2D-D78B-4B91-9C0A-0F1F24B0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Current tariff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EFD36-AECC-49FC-AF6B-6A78896B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2266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9191E-2654-4D50-9A1A-CA12D10C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D8F88E-C66F-474D-B13E-45C80582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Published loss factor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9204E-AB71-4515-AADA-ACF6B0FE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71850"/>
            <a:ext cx="2266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6AA78-749C-492D-B559-EA2E156A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4330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8EE4F5-69B5-49CC-89CD-E0C587DA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8140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Fee source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444932-4BFC-434A-85C7-6B91B372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71850"/>
            <a:ext cx="2266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7EE40-E40C-4510-A6BA-DFA5F3AC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4330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E55F9-6F3C-484C-AD4D-E89D2EB5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8140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FMP / CFMP series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91D7C8-A488-40F7-A847-C1DDDE78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3238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E97E73-F87B-4E37-AC1D-C71C472F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90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BUYER 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B0C78F-AF8B-41F3-A761-5F831D29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33700"/>
            <a:ext cx="281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Request the data pack before discussing savings.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0BBE48-76ED-45A2-9845-D0EBF20E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8CE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B9C8CE"/>
                </a:solidFill>
                <a:latin typeface="Segoe UI"/>
                <a:ea typeface="Segoe UI"/>
                <a:cs typeface="Segoe UI"/>
              </a:rPr>
              <a:t>Source: gov_nd57, evn_retail_tariff_1279, nsmo_training_example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0A8A83-B5D3-445A-9240-99FC935F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9C8CE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B9C8CE"/>
                </a:solidFill>
                <a:latin typeface="Segoe UI"/>
                <a:ea typeface="Segoe UI"/>
                <a:cs typeface="Segoe UI"/>
              </a:rPr>
              <a:t>As of 2026-06-12 | 12</a:t>
            </a:r>
          </a:p>
        </p:txBody>
      </p:sp>
    </p:spTree>
    <p:extLst>
      <p:ext uri="{BB962C8B-B14F-4D97-AF65-F5344CB8AC3E}">
        <p14:creationId xmlns:p14="http://schemas.microsoft.com/office/powerpoint/2010/main" val="85807072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B61068-10C6-42E7-969B-FC424DD9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DBD98-D735-4092-A022-D407CA85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9FB4B703-7273-4752-A8F5-7DA20427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8B3D65EF-5B1E-4317-B152-E61C3816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DECISION 3 - CFD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311DB-F5D8-49CE-9A1B-4A099245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90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A two-way CfD buys price certainty; it does not guarantee savings.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2B4A6-1991-449B-A4A8-5E7BDE4F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2B40C-7115-4706-BB76-B599DAAC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A1E1F-6A0C-4FE4-8AA4-9A82E6E7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FMP BELOW STRIKE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3F3AF-B06B-45C0-BDDD-1A2F5949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028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Buyer tops up generator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AE500-4238-483B-B318-A56482A5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028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Strike - FMP is positive. The bilateral CfD is an extra buyer payment on matched volume.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4A06A-1042-49B9-8659-A85193D6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29A36-750E-471C-8D14-72ACD0B2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E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A7A80-2E45-48B2-89CF-21954182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4790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FMP ABOVE STRIKE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107C3-8951-4E22-81EA-B5CAF921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95550"/>
            <a:ext cx="3028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Generator pays buyer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1311A-54FD-4E9F-B2C4-313B3DCD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76550"/>
            <a:ext cx="3028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Strike - FMP is negative. The CfD offsets part of the buyer's EVN-market exposure.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F84C9-A32A-4CE1-BF83-2C3D52B8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The buyer should model scenarios, not memorize one expected FMP path.</a:t>
            </a:r>
          </a:p>
        </p:txBody>
      </p:sp>
      <p:sp>
        <p:nvSpPr>
          <p:cNvPr id="17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F022D23E-48C4-4389-AF42-360CEC7D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F29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C2321C-5D24-4BED-AF4A-AA12A0E2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146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BUYER QUESTION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CB4ED-D2CF-43C4-9C43-C1D4D1E5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6225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What FMP scenarios make us pay, and what scenarios make us receive?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C2F511-1E78-4C59-89F5-3452FAE4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gov_nd57, nsmo_training_example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D0490-2E0E-4F16-9192-1254E6DE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13</a:t>
            </a:r>
          </a:p>
        </p:txBody>
      </p:sp>
    </p:spTree>
    <p:extLst>
      <p:ext uri="{BB962C8B-B14F-4D97-AF65-F5344CB8AC3E}">
        <p14:creationId xmlns:p14="http://schemas.microsoft.com/office/powerpoint/2010/main" val="83542678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714097-DC39-4E13-B902-0EE81D09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43A80-717F-417C-A2EC-E9699818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4BE3078C-F042-42A2-9CEE-53230DC5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4CD409E6-3164-48A6-9D87-B33F6652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DECISION 3 - ESCALATION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8C42E-BC86-409D-926A-D0390888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09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Escalation can help bankability while making Year 1 harder for the buyer.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C29A4-5438-4CCD-B79F-3942657D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2A47F-E0E1-4A1B-BE7A-C84803AF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935FC-76EF-46AE-9E7C-F7386A01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FLAT STRIKE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8B650-C533-4E01-A980-94FC98B4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25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2,000 VND/kWh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486B1-267E-4139-93B1-1D8F925B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simpler buyer budget; weaker seller/lender lifetime revenue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6B481-8F1F-48B3-A52F-14EADF1B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9075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B9864-6AC9-4B05-9667-79D2DF63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907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CCB3E-4FA6-4846-909C-FC6E30F3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65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ESCALATING STRIKE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0934D-8B27-4F61-A42D-A57C4FCF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384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25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rPr>
              <a:t>2,000 + 4%/yr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42CDD-BD5C-4BBC-ABC6-58449380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052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supports bankability; buyer must approve early-year premium</a:t>
            </a:r>
          </a:p>
        </p:txBody>
      </p:sp>
      <p:sp>
        <p:nvSpPr>
          <p:cNvPr id="16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F8A021C8-4884-493D-BA54-2BBCD958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F29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DE732-F1CA-4D7E-A5AD-51A9D70E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146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BUYER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A4B61-297C-433E-B5B1-96B238F4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6225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Ask for fixed, escalating, and indexed cases against the same BAU benchmark.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CFE49-8A07-48BF-BEDD-F753A4AD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repo_case_assumptions, deck_plan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9DF50D-2489-4405-80E5-EDFBA315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14</a:t>
            </a:r>
          </a:p>
        </p:txBody>
      </p:sp>
    </p:spTree>
    <p:extLst>
      <p:ext uri="{BB962C8B-B14F-4D97-AF65-F5344CB8AC3E}">
        <p14:creationId xmlns:p14="http://schemas.microsoft.com/office/powerpoint/2010/main" val="51166495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1F5413-7C77-447C-963E-FA4FABAA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568FB-20A9-49F4-ABCB-6074F3E3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2CEAAD85-C3C6-4BF0-9D7C-33A28225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5CB4C9B8-802C-4FD3-BCB9-5FADF178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DECISION 3 - HOURLY MATCH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A2B9E-AA80-4F50-837D-E9F41F52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09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Over-contracting beyond hourly consumption does not create more buyer settlement value.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8A4EA-B4C8-4075-8DEA-791F1C6A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723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9D2EE-94E9-4FE7-8271-A6C5BFFE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14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85979-A809-4674-A5BB-96435100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305300"/>
            <a:ext cx="1143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C0B41-DE06-4125-B783-8995400F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88610"/>
            <a:ext cx="114300" cy="216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12A52-F87A-4108-8F0C-05D7F364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05300"/>
            <a:ext cx="1143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92BA6-F5DB-4CC2-A729-18CBFC80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676"/>
            <a:ext cx="114300" cy="237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7DB6C-8C9A-42C2-A75D-C4601273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05300"/>
            <a:ext cx="1143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6058B-F267-4161-BCC4-38449DBD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34374"/>
            <a:ext cx="114300" cy="2709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E15D8-D95A-41C6-89C4-DDD2B557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305300"/>
            <a:ext cx="1143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D0BBD-A59A-468F-BCC2-FFDCB64C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90975"/>
            <a:ext cx="1143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2BF71-C34E-4911-A648-952E16F1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305300"/>
            <a:ext cx="1143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B8CF3-D0C9-4B19-A5FB-017B5A71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40436"/>
            <a:ext cx="114300" cy="36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643C72-BF36-455C-AAA3-67F01AC8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305300"/>
            <a:ext cx="1143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BFDC8-9FF3-4F64-9200-47A8F6E9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86200"/>
            <a:ext cx="114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A993C0-AF72-4DB1-A173-6C9B668F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05300"/>
            <a:ext cx="1143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BDD0D3-475B-40A7-9FD7-ACD42702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31964"/>
            <a:ext cx="114300" cy="473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B0D8AA-6FFF-4D16-AFBB-133D872F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078497"/>
            <a:ext cx="114300" cy="2268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BE694F-E64E-4D86-93F9-B2C6A8AE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781425"/>
            <a:ext cx="1143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03F41E-44B5-4DE7-A706-E65B83CF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867150"/>
            <a:ext cx="11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D49016-DD18-4602-9741-A5FEDC6F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14176"/>
            <a:ext cx="114300" cy="8911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3617B2-C639-4CD5-B78F-32E67E0B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685662"/>
            <a:ext cx="114300" cy="619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916285-1A05-46C6-83A2-88F2D3C3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80874"/>
            <a:ext cx="114300" cy="9244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6B1176-6481-4A15-A9DA-FA7A7C78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46402"/>
            <a:ext cx="114300" cy="7588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B44C6E-253C-4BA9-ABAE-7754909E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59940"/>
            <a:ext cx="114300" cy="945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3C8097-7939-4428-BB4A-FC957446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58859"/>
            <a:ext cx="114300" cy="8464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A7944B-5CF7-4A1C-BA54-9AE4D14A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52800"/>
            <a:ext cx="114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2A334E-D61E-425F-9DA6-9A8EB636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429000"/>
            <a:ext cx="114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7D96DE-47BB-43D0-A2F3-1989A26B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59940"/>
            <a:ext cx="114300" cy="945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6C7F68-38B2-4428-A6A6-B6F27F3E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458859"/>
            <a:ext cx="114300" cy="8464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CF7E03-B0D7-4717-8FFB-F760BC95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80874"/>
            <a:ext cx="114300" cy="9244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CF0FB6-081B-4902-97BF-E4B1B33C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546402"/>
            <a:ext cx="114300" cy="7588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F0F431-53A5-4481-87C6-AC8845CD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14176"/>
            <a:ext cx="114300" cy="8911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0D2E8D-5467-401D-9A6A-0CE191B3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685662"/>
            <a:ext cx="114300" cy="619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EAF86A-37E3-4900-9CE6-A8E051B4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57575"/>
            <a:ext cx="1143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EFEBEC-C2C5-40A8-928D-D8DB1F77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867150"/>
            <a:ext cx="11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7B9FB0-EEA1-4505-BE7A-E61DB32C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08114"/>
            <a:ext cx="114300" cy="7971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2F7B81-BC5D-4ACC-8431-E8459ADE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078497"/>
            <a:ext cx="114300" cy="2268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EDEBAC-1935-4375-8576-50DC5A78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62350"/>
            <a:ext cx="114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5385B9-097B-4741-A0A5-4E8DBA50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305300"/>
            <a:ext cx="1143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6EACB7-D5BB-4241-B8A3-03611B23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16586"/>
            <a:ext cx="114300" cy="688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09A81C-FFBA-4EA5-9698-4E13E3CD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305300"/>
            <a:ext cx="1143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4858B8-5851-41AC-A4BB-BF20B6AC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90975"/>
            <a:ext cx="1143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3AFA21-8546-4586-867C-404602C1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05300"/>
            <a:ext cx="1143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0C4109-FE78-4C59-81F0-23B01C21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4374"/>
            <a:ext cx="114300" cy="2709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A2D38F-AD44-48EE-9FC1-A07EB528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05300"/>
            <a:ext cx="1143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A78E9B-A1F9-4C5A-9338-D3EC0382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67676"/>
            <a:ext cx="114300" cy="237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54BF80-058B-444C-893E-EA0A96A2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305300"/>
            <a:ext cx="1143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5DE507-0BA5-4ADE-B5F1-EEC9B563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88610"/>
            <a:ext cx="114300" cy="216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8A752A-6503-4D09-AC69-469C48CC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305300"/>
            <a:ext cx="1143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76F632-7032-4F59-B428-62FCB1FC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Hourly load vs solar shape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AD322B-714A-4A95-B641-6242A489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1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Only overlap settles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2AC16A-3018-43CC-A089-4CF9ACCD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The useful contract volume is the hour-by-hour overlap between delivered renewable energy and factory consumption.</a:t>
            </a:r>
          </a:p>
        </p:txBody>
      </p:sp>
      <p:sp>
        <p:nvSpPr>
          <p:cNvPr id="58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E57A36D0-B619-4E32-8CAD-D5A9C77B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F293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3C478D-D32A-4CDC-886D-5AE77897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BUYER ACTION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DCFDDF-2BBA-4194-B3FA-281C0781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Ask for an 8760-hour contract-volume sweep against your actual meter.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3C39724-9DFB-48DC-A3DA-49111D9B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gov_nd57, nsmo_training_example, repo_case6_lower_strike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78971BE-A8A6-4098-BF4A-6D43F4A8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15</a:t>
            </a:r>
          </a:p>
        </p:txBody>
      </p:sp>
    </p:spTree>
    <p:extLst>
      <p:ext uri="{BB962C8B-B14F-4D97-AF65-F5344CB8AC3E}">
        <p14:creationId xmlns:p14="http://schemas.microsoft.com/office/powerpoint/2010/main" val="28627878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0C0D39-84D9-4C3D-8B86-E39E4F9B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58DE5-536E-422E-B87E-6CBE2F8A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5FB731CB-BE9C-40F1-A679-A2131073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A7B6A780-C6AD-4FC6-AC93-4F94F45E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DECISION 4 - SELLER REVENUE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47F0C-EF3C-45E2-8911-2F07AB01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09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Your strike becomes the developer's bankable revenue 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6C2E0-B300-48C7-AABD-76D1A6F9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9B40D-9E20-43F5-9C63-79BE8C4D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400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Spot market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A2B54-B9D7-449B-BB2F-EED3AA43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9C8C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8CE"/>
                </a:solidFill>
                <a:latin typeface="Aptos"/>
                <a:ea typeface="Aptos"/>
                <a:cs typeface="Aptos"/>
              </a:rPr>
              <a:t>Q_meter x FMP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F185C-25A5-4359-B7A9-70BCC18F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724150"/>
            <a:ext cx="57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E09A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E09A2B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E9AE8-01FB-4071-B14D-3E174CF4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9050">
            <a:solidFill>
              <a:srgbClr val="E09A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9A029-522E-47FE-ABA1-2FA32CCE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400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CfD stabilizer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ED128-7A09-485B-A149-E33D8DA6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9C8C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8CE"/>
                </a:solidFill>
                <a:latin typeface="Aptos"/>
                <a:ea typeface="Aptos"/>
                <a:cs typeface="Aptos"/>
              </a:rPr>
              <a:t>(strike - FMP) x Q_CfD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DADDD-5062-4452-9700-8A61E966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714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The lender does not finance your sustainability target; it finances predictable project cash flow.</a:t>
            </a:r>
          </a:p>
        </p:txBody>
      </p:sp>
      <p:sp>
        <p:nvSpPr>
          <p:cNvPr id="14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8C517B99-9DA8-4931-A988-1CD384EE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1A782-24D1-41CC-BB26-78BFDB37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BUYER QUESTION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A4A28-1ADC-4F85-BA88-871C9E40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Which revenue line supports debt service, and which line is exposed to spot price?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029C6-DEB8-4395-9739-2F92726A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8CE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B9C8CE"/>
                </a:solidFill>
                <a:latin typeface="Segoe UI"/>
                <a:ea typeface="Segoe UI"/>
                <a:cs typeface="Segoe UI"/>
              </a:rPr>
              <a:t>Source: gov_nd57, repo_case_assumptions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09BD9-87A3-4206-9259-DED8FACC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9C8CE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B9C8CE"/>
                </a:solidFill>
                <a:latin typeface="Segoe UI"/>
                <a:ea typeface="Segoe UI"/>
                <a:cs typeface="Segoe UI"/>
              </a:rPr>
              <a:t>As of 2026-06-12 | 16</a:t>
            </a:r>
          </a:p>
        </p:txBody>
      </p:sp>
    </p:spTree>
    <p:extLst>
      <p:ext uri="{BB962C8B-B14F-4D97-AF65-F5344CB8AC3E}">
        <p14:creationId xmlns:p14="http://schemas.microsoft.com/office/powerpoint/2010/main" val="88282017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4D540E-4506-4425-B832-CB8D0992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CBB98-5E70-4412-B991-798F172A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1A5E53BF-4F9F-47C5-9B41-CB4BB911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992BD150-CB20-4044-B855-151B9376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DECISION 4 - THREE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E9043-2BC4-4386-BC5F-4096A723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A deal only works when buyer, seller, and lender gates all pass at once.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38F69-A409-4643-A76A-6703A6B5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9050">
            <a:solidFill>
              <a:srgbClr val="E09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CDE40-DA33-4B30-9DC9-1F2791CC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rPr>
              <a:t>BUYER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56810-E573-4E0A-A5D0-45ABDD81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rPr>
              <a:t>&gt;=0%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EB976-D33E-4F3C-95F1-D16AC9E1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10yr and lifetime vs BAU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AB832-CD94-4E11-A1F6-D47AF5B8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9050">
            <a:solidFill>
              <a:srgbClr val="2E9E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A8C71-27E4-474C-A320-DFDD2308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146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rPr>
              <a:t>SELLER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924E4-6896-4DD0-9173-51C49550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9E5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>
                <a:solidFill>
                  <a:srgbClr val="2E9E5B"/>
                </a:solidFill>
                <a:latin typeface="Segoe UI Semibold"/>
                <a:ea typeface="Segoe UI Semibold"/>
                <a:cs typeface="Segoe UI Semibold"/>
              </a:rPr>
              <a:t>IRR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1AC17-5AA5-47FB-A75B-9BB1C3C6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1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equity return threshold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CD889-F8D0-4EE5-9FB0-D81A50CB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12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9050">
            <a:solidFill>
              <a:srgbClr val="E09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5A829-6839-4136-88C8-0DE40DFE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146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rPr>
              <a:t>LENDER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EE8CF-2CE2-4237-A1CC-5A929194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622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rPr>
              <a:t>DSCR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340FB-B6F3-47A6-A97F-426B8737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051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minimum yearly cushion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18D00-45A3-4486-A9BA-C59D7405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695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low strike that clears the buyer gate can still fail lender DSCR. A bankable strike can still fail the buyer gate.</a:t>
            </a:r>
          </a:p>
        </p:txBody>
      </p:sp>
      <p:sp>
        <p:nvSpPr>
          <p:cNvPr id="19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B5FF89FD-4D5C-4327-A5C3-B83BFEF4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D4E259-C683-4199-B319-8D80FB32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BUYER 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2075B0-EF54-4D1D-B676-0DA09BA3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Ask for the gate table, not only a headline strike price.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1300F7-8407-4DBB-95C1-240305E8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8CE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B9C8CE"/>
                </a:solidFill>
                <a:latin typeface="Segoe UI"/>
                <a:ea typeface="Segoe UI"/>
                <a:cs typeface="Segoe UI"/>
              </a:rPr>
              <a:t>Source: repo_case5_sweep, repo_case6_sweep, repo_case6_lower_strike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4B2770-08E7-4373-B1BE-6FD64CD6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9C8CE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B9C8CE"/>
                </a:solidFill>
                <a:latin typeface="Segoe UI"/>
                <a:ea typeface="Segoe UI"/>
                <a:cs typeface="Segoe UI"/>
              </a:rPr>
              <a:t>As of 2026-06-12 | 17</a:t>
            </a:r>
          </a:p>
        </p:txBody>
      </p:sp>
    </p:spTree>
    <p:extLst>
      <p:ext uri="{BB962C8B-B14F-4D97-AF65-F5344CB8AC3E}">
        <p14:creationId xmlns:p14="http://schemas.microsoft.com/office/powerpoint/2010/main" val="164065685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B43FA7-E401-4558-9C5E-45A86BAB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7BD3E-2A0E-46CF-9B2F-500512B5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6B4A0B64-5E1F-4E2A-9231-78616FD1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F6A53F6D-46D8-41D6-BD48-1A012806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rPr>
              <a:t>DECISION 4 - LIFECYCLE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B746C-C0E0-44E9-B4B7-3FAB4A87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09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Lifecycle items move the bankable strike even when they are absent from the term sheet.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9B924-C791-46E8-B16B-5454762B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127A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A30E2-6CB6-4E8A-B9D6-2D108757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28825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7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Item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92282-98ED-4C7E-AF8E-57879DFB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28825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7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Typical model treatment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88263-C705-4272-A2F1-8DBAB4B4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28825"/>
            <a:ext cx="276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7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Buyer implication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7871F-D3FE-4B4E-8441-2138DACE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98907-B1D6-4420-B021-70EEF792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81275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PV degradation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EC168-1201-42BA-BAEC-DA3AD36E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81275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output declines over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58B0F-ACF7-4443-8D0E-8E1B807A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81275"/>
            <a:ext cx="276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matched volume can shrink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0B71C-D177-4D3E-963D-5EB0D3D0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57525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326E2-E1D6-4569-ACA4-E971BEE6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33725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Battery replacement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E3EBF-0E02-46A7-AAD9-69312BE8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33725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large one-off cost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C5CB0-2DCE-4491-9D5B-7FFAA427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33725"/>
            <a:ext cx="276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can stress DSCR in one year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73C8CC-FFA4-4E05-9BD5-546329A0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9A9290-CC06-4680-A8FC-A049767B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Tax timing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64895A-E6BB-416A-99F7-14998C19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86175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holiday and carryforward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816EA1-EBE1-445B-B24A-B10EAB37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86175"/>
            <a:ext cx="276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changes seller economics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171B87-6115-4FFE-A1BB-728BB107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62425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75026C-74A3-4B81-9BCD-D854E508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FX exposure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678E01-DC70-4EC9-8804-AA7CBFE8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38625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fixed 25,000 VND/USD in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93F873-BD56-4A54-9B3D-51921D92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38625"/>
            <a:ext cx="276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sensitivity required</a:t>
            </a:r>
          </a:p>
        </p:txBody>
      </p:sp>
      <p:sp>
        <p:nvSpPr>
          <p:cNvPr id="26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D3E32022-5CB8-4ACB-BF9E-834B2D21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43125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F29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F37286-D939-492E-B8F8-ED840E23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95525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BUYER 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1FB05E-E685-473F-9482-58A4C740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43175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Ask who bears replacement, degradation, tax, and FX risk before signing tenor.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8506C2-35D9-4C86-8EBE-0365A510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repo_case_assumptions, repo_session_2026_06_11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D9E557-14A1-4697-8A1F-6E7A395C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18</a:t>
            </a:r>
          </a:p>
        </p:txBody>
      </p:sp>
    </p:spTree>
    <p:extLst>
      <p:ext uri="{BB962C8B-B14F-4D97-AF65-F5344CB8AC3E}">
        <p14:creationId xmlns:p14="http://schemas.microsoft.com/office/powerpoint/2010/main" val="93005869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82FAB1-A12C-4C31-A914-203B1D0C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CC8C7-AA44-4679-AEE5-0C29D480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E3AE376C-84D3-4E4C-928A-C6F09BE8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0C1D747A-8176-441D-82DF-A0E2982C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DECISION 5 - CASE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0CB3B-E624-4009-A03C-C1464618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The same factory that looked onsite-ready can still struggle offsite.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C7263-3AB9-4EDB-B4DB-2451E259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F0B08-BC9A-42E7-9A57-F2D8EECF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2CE78-615F-49C1-92E4-58D208A0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rPr>
              <a:t>CONTRACT 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C9597-7ABB-4553-8527-6F31B7AA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Virtual DPPA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07B9F-BC13-4359-AE78-F0AE445B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7E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DCE7E5"/>
                </a:solidFill>
                <a:latin typeface="Segoe UI"/>
                <a:ea typeface="Segoe UI"/>
                <a:cs typeface="Segoe UI"/>
              </a:rPr>
              <a:t>Grid-connected CfD overlay under Decree 57.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AD236-649E-4FB8-BF0C-9D0D0347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9550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E6943-DD4A-4348-885F-D27AE304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955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03440-6317-482D-AF89-5469FFC0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4790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rPr>
              <a:t>STARTING STRIKE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9C581-A5CE-47A2-9BEB-E074B090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9555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2,000 VND/kWh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D8337-4D21-4291-9CF2-4713A162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7655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7E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DCE7E5"/>
                </a:solidFill>
                <a:latin typeface="Segoe UI"/>
                <a:ea typeface="Segoe UI"/>
                <a:cs typeface="Segoe UI"/>
              </a:rPr>
              <a:t>Negotiated model input, not a regulated strike.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7317F1-C26B-416B-9C53-3A65F15C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9550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92D80-4ABF-4515-848D-F3E573C4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955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2F1A2-48BA-4804-BAB7-9B5D851D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4790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rPr>
              <a:t>ESCALATION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7FDE48-C468-427F-B725-F2598691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9555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4%/yr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92CC7-C130-4333-96C0-CD666769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7655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7E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DCE7E5"/>
                </a:solidFill>
                <a:latin typeface="Segoe UI"/>
                <a:ea typeface="Segoe UI"/>
                <a:cs typeface="Segoe UI"/>
              </a:rPr>
              <a:t>Modeled annual escalation across 25 years.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1303F-C399-453C-A6E3-BE517768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771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D4869D-7B1D-412D-BECE-4C278678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733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Cases 5 and 6 use the same anonymized factory and DPPA contract frame; only asset sizing changes.</a:t>
            </a:r>
          </a:p>
        </p:txBody>
      </p:sp>
      <p:sp>
        <p:nvSpPr>
          <p:cNvPr id="23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F5EF5C4B-97D2-415C-87F7-46783A7A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0505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BB4589-32A3-4496-91BA-010BB89B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BUYER QUESTION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FE3C9A-1186-4A93-9298-A157E2AC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0510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Does this offer pass our gates on our own meter, not a reference load?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1C7243-E814-442A-A0AF-CF30BB48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8CE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B9C8CE"/>
                </a:solidFill>
                <a:latin typeface="Segoe UI"/>
                <a:ea typeface="Segoe UI"/>
                <a:cs typeface="Segoe UI"/>
              </a:rPr>
              <a:t>Source: repo_case_assumptions, repo_case5_sweep, repo_case6_sweep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34EC05-C1ED-4229-873F-BE371687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9C8CE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B9C8CE"/>
                </a:solidFill>
                <a:latin typeface="Segoe UI"/>
                <a:ea typeface="Segoe UI"/>
                <a:cs typeface="Segoe UI"/>
              </a:rPr>
              <a:t>As of 2026-06-12 | 19</a:t>
            </a:r>
          </a:p>
        </p:txBody>
      </p:sp>
    </p:spTree>
    <p:extLst>
      <p:ext uri="{BB962C8B-B14F-4D97-AF65-F5344CB8AC3E}">
        <p14:creationId xmlns:p14="http://schemas.microsoft.com/office/powerpoint/2010/main" val="136916097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1D9318-E9A3-46E1-8152-1C7E550F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4987D-BA29-4A89-8B32-70D65898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7218B19C-F99B-46DF-9C5D-C5A28670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1035DBA3-2402-44BB-97FE-B75EDEEB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DECISION 5 - SIZING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61588-89C6-497F-B3CD-DF9E6ABB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85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Right-sizing fixes lender comfort, but not buyer value at the offered strike.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41EF2-B25B-47F6-A51C-EA832A44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3371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4E456-D2F8-4E34-9087-2E158292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3371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A7CB8-98A2-41F6-A498-5D09EC06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rPr>
              <a:t>CASE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C6958-2ED6-4776-AEBF-22F9DF15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Solar + large battery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8EFFC-D866-4BA6-872A-84AEEB8C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9050">
            <a:solidFill>
              <a:srgbClr val="2E9E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1CECA-A1E7-4A10-998A-DE62EA37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rPr>
              <a:t>SELLER IRR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25FBC-F283-4FCB-9AD5-7E64873A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9E5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>
                <a:solidFill>
                  <a:srgbClr val="2E9E5B"/>
                </a:solidFill>
                <a:latin typeface="Segoe UI Semibold"/>
                <a:ea typeface="Segoe UI Semibold"/>
                <a:cs typeface="Segoe UI Semibold"/>
              </a:rPr>
              <a:t>+16.9%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A0657-C0E6-4B72-A8AE-CF598AAA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NPV 1.52M USD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E4CC30-BD7B-4951-8B8F-369C9429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9050">
            <a:solidFill>
              <a:srgbClr val="B646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1CEA3-428B-438D-8C53-3F82545C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rPr>
              <a:t>MIN DSCR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54A43-8FE9-444C-9043-1262D81F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463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>
                <a:solidFill>
                  <a:srgbClr val="B6463B"/>
                </a:solidFill>
                <a:latin typeface="Segoe UI Semibold"/>
                <a:ea typeface="Segoe UI Semibold"/>
                <a:cs typeface="Segoe UI Semibold"/>
              </a:rPr>
              <a:t>1.14x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EE0D11-313F-4EFD-B0C2-F0309964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below 1.20x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EC40D-6997-4B2D-AEC2-ECB1592A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819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6463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B6463B"/>
                </a:solidFill>
                <a:latin typeface="Segoe UI Semibold"/>
                <a:ea typeface="Segoe UI Semibold"/>
                <a:cs typeface="Segoe UI Semibold"/>
              </a:rPr>
              <a:t>-9.3%</a:t>
            </a:r>
          </a:p>
          <a:p xmlns:a="http://schemas.openxmlformats.org/drawingml/2006/main">
            <a:pPr algn="ctr">
              <a:defRPr sz="1650" b="1">
                <a:solidFill>
                  <a:srgbClr val="B6463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B6463B"/>
                </a:solidFill>
                <a:latin typeface="Segoe UI Semibold"/>
                <a:ea typeface="Segoe UI Semibold"/>
                <a:cs typeface="Segoe UI Semibold"/>
              </a:rPr>
              <a:t>buyer</a:t>
            </a:r>
          </a:p>
          <a:p xmlns:a="http://schemas.openxmlformats.org/drawingml/2006/main">
            <a:pPr algn="ctr">
              <a:defRPr sz="1650" b="1">
                <a:solidFill>
                  <a:srgbClr val="B6463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B6463B"/>
                </a:solidFill>
                <a:latin typeface="Segoe UI Semibold"/>
                <a:ea typeface="Segoe UI Semibold"/>
                <a:cs typeface="Segoe UI Semibold"/>
              </a:rPr>
              <a:t>lifetime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16145-041D-4B85-AB7F-317610B5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90700"/>
            <a:ext cx="3371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B947D1-6182-4490-8D09-F706C2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90700"/>
            <a:ext cx="3371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695804-A181-4CB4-B0B0-8FE1AFB1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rPr>
              <a:t>CASE 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864DE7-7F8B-4890-B459-C4F32497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Solar + minimum battery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EE206-F625-4FB0-9F46-EF49BE96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003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9050">
            <a:solidFill>
              <a:srgbClr val="2E9E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C93918-6C40-484E-B9EF-631A489E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rPr>
              <a:t>SELLER IRR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C50A75-A707-4EE4-BFBE-25113DC3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813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9E5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>
                <a:solidFill>
                  <a:srgbClr val="2E9E5B"/>
                </a:solidFill>
                <a:latin typeface="Segoe UI Semibold"/>
                <a:ea typeface="Segoe UI Semibold"/>
                <a:cs typeface="Segoe UI Semibold"/>
              </a:rPr>
              <a:t>+26.9%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789A63-0683-4519-A3DB-A22A9E14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NPV 2.54M USD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744777-F216-4424-8E97-B2DD7583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005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9050">
            <a:solidFill>
              <a:srgbClr val="2E9E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47551B-24A6-430D-8680-B1E9B5F5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3385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rPr>
              <a:t>MIN DSCR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F62417-62FB-4E23-93A4-DBE69988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815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9E5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>
                <a:solidFill>
                  <a:srgbClr val="2E9E5B"/>
                </a:solidFill>
                <a:latin typeface="Segoe UI Semibold"/>
                <a:ea typeface="Segoe UI Semibold"/>
                <a:cs typeface="Segoe UI Semibold"/>
              </a:rPr>
              <a:t>1.50x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57FE29-0767-4A03-9737-2A78DA96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2440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lender gate passes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12A9AE-79B3-4B01-AFA5-DDCC5C48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819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6463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B6463B"/>
                </a:solidFill>
                <a:latin typeface="Segoe UI Semibold"/>
                <a:ea typeface="Segoe UI Semibold"/>
                <a:cs typeface="Segoe UI Semibold"/>
              </a:rPr>
              <a:t>-14.4%</a:t>
            </a:r>
          </a:p>
          <a:p xmlns:a="http://schemas.openxmlformats.org/drawingml/2006/main">
            <a:pPr algn="ctr">
              <a:defRPr sz="1650" b="1">
                <a:solidFill>
                  <a:srgbClr val="B6463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B6463B"/>
                </a:solidFill>
                <a:latin typeface="Segoe UI Semibold"/>
                <a:ea typeface="Segoe UI Semibold"/>
                <a:cs typeface="Segoe UI Semibold"/>
              </a:rPr>
              <a:t>buyer</a:t>
            </a:r>
          </a:p>
          <a:p xmlns:a="http://schemas.openxmlformats.org/drawingml/2006/main">
            <a:pPr algn="ctr">
              <a:defRPr sz="1650" b="1">
                <a:solidFill>
                  <a:srgbClr val="B6463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B6463B"/>
                </a:solidFill>
                <a:latin typeface="Segoe UI Semibold"/>
                <a:ea typeface="Segoe UI Semibold"/>
                <a:cs typeface="Segoe UI Semibold"/>
              </a:rPr>
              <a:t>lifetime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3EEBD1-E784-42AB-BE0B-BC3C349E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530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F6B947-A5BE-4ABE-A205-124F5E9C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At the 2,000 VND/kWh modeled strike, the leaner system improves bankability but the buyer remains negative versus BAU.</a:t>
            </a:r>
          </a:p>
        </p:txBody>
      </p:sp>
      <p:sp>
        <p:nvSpPr>
          <p:cNvPr id="34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3D9117F6-8653-487F-ACF9-952FDAF0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9570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43D0ED-9471-403F-82C5-A3774443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481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BUYER ACTION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F876DB-432C-4F30-9F07-398AA5FF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9575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Show both asset-sizing economics and buyer cost impacts.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BCE131-05D7-426A-A5E3-26ED4639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8CE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B9C8CE"/>
                </a:solidFill>
                <a:latin typeface="Segoe UI"/>
                <a:ea typeface="Segoe UI"/>
                <a:cs typeface="Segoe UI"/>
              </a:rPr>
              <a:t>Source: repo_case5_sweep, repo_case5_workbook, repo_case6_sweep, repo_case6_workbook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1DD740-3D28-40F8-A949-4F3870CA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9C8CE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B9C8CE"/>
                </a:solidFill>
                <a:latin typeface="Segoe UI"/>
                <a:ea typeface="Segoe UI"/>
                <a:cs typeface="Segoe UI"/>
              </a:rPr>
              <a:t>As of 2026-06-12 | 20</a:t>
            </a:r>
          </a:p>
        </p:txBody>
      </p:sp>
    </p:spTree>
    <p:extLst>
      <p:ext uri="{BB962C8B-B14F-4D97-AF65-F5344CB8AC3E}">
        <p14:creationId xmlns:p14="http://schemas.microsoft.com/office/powerpoint/2010/main" val="82022237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576B5E-C47C-4D51-BEAD-7B8188E4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3AE93-6ED1-4653-AB28-57D567FA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FAD5E8A5-B89E-4E49-A730-DE2884CC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368BF0CE-4F1C-49CD-8FE5-E861FE10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DECISION 5 - BUYER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633FA-16D0-4A97-B787-C0F19ACD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At 2,000 VND/kWh, the leaner project is financeable but still buyer-negative.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5AAB6-9914-4B5C-9D6A-6DE64751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9050">
            <a:solidFill>
              <a:srgbClr val="2E9E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12679-246E-469E-A5A6-609ED21B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rPr>
              <a:t>SELLER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4FD5F-2D1C-4CF7-BE7D-F1C565F6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9E5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>
                <a:solidFill>
                  <a:srgbClr val="2E9E5B"/>
                </a:solidFill>
                <a:latin typeface="Segoe UI Semibold"/>
                <a:ea typeface="Segoe UI Semibold"/>
                <a:cs typeface="Segoe UI Semibold"/>
              </a:rPr>
              <a:t>+26.9%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51E93-7E96-4EE8-9D1C-7A72B7B5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equity IRR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29C87-E1D0-4CE9-8368-9D74B331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050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9050">
            <a:solidFill>
              <a:srgbClr val="2E9E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86B58-B29B-4977-B8C0-FD179FA7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384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rPr>
              <a:t>LENDER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B944C-4921-44F0-A26A-0A3FE5B0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9E5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>
                <a:solidFill>
                  <a:srgbClr val="2E9E5B"/>
                </a:solidFill>
                <a:latin typeface="Segoe UI Semibold"/>
                <a:ea typeface="Segoe UI Semibold"/>
                <a:cs typeface="Segoe UI Semibold"/>
              </a:rPr>
              <a:t>1.50x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F7651-B83B-411D-BA64-FFA6E2FA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289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minimum DSCR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32D8B-DAEF-4AB6-9D82-A1319DCE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228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93DE3-745F-49FD-B099-07849ADB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FD872-AD29-44EE-99BE-991782F0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765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rPr>
              <a:t>BUYER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8AD66-96B2-4B58-A44D-E06C8ECE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43200"/>
            <a:ext cx="1981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-14.4%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BAB65D-4DD3-4929-8D6F-3FCD0816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76600"/>
            <a:ext cx="1981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7E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DCE7E5"/>
                </a:solidFill>
                <a:latin typeface="Segoe UI"/>
                <a:ea typeface="Segoe UI"/>
                <a:cs typeface="Segoe UI"/>
              </a:rPr>
              <a:t>lifetime vs BAU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CA2FC-22A9-45B7-A1BE-C3121B7F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714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81D508-C90F-47D4-9803-635923C2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676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The seller and lender can be comfortable while the buyer still loses value versus BAU.</a:t>
            </a:r>
          </a:p>
        </p:txBody>
      </p:sp>
      <p:sp>
        <p:nvSpPr>
          <p:cNvPr id="21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ED80A1EA-E80D-4240-815F-F23B5AE5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562FA1-A8F7-4CE7-9689-3790BB30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BUYER QUESTION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D90A3A-CED3-465F-9C8A-45893C44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Where is the strike where buyer value appears, and does the lender still pass there?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D87BC9-68D6-4701-8A50-36958903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8CE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B9C8CE"/>
                </a:solidFill>
                <a:latin typeface="Segoe UI"/>
                <a:ea typeface="Segoe UI"/>
                <a:cs typeface="Segoe UI"/>
              </a:rPr>
              <a:t>Source: repo_case6_sweep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857DB6-8619-4B76-A3C0-A22C9B44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9C8CE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B9C8CE"/>
                </a:solidFill>
                <a:latin typeface="Segoe UI"/>
                <a:ea typeface="Segoe UI"/>
                <a:cs typeface="Segoe UI"/>
              </a:rPr>
              <a:t>As of 2026-06-12 | 21</a:t>
            </a:r>
          </a:p>
        </p:txBody>
      </p:sp>
    </p:spTree>
    <p:extLst>
      <p:ext uri="{BB962C8B-B14F-4D97-AF65-F5344CB8AC3E}">
        <p14:creationId xmlns:p14="http://schemas.microsoft.com/office/powerpoint/2010/main" val="46923314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189B9D-8D18-40BC-9658-6BA38D51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A46AE-F7D6-40B4-BC5A-31181659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53D3140C-3EB4-44FA-BA6D-7FB78646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999C7F34-B07A-447D-8E45-B04B42A7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DECISION 5 - SWEEP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F8F7B-AD37-4DA8-8684-6C5DAFDE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Pricing alone did not balance the modeled Case 6 deal under the tested assumptions.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02457-6430-4BB7-B639-9721C255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4095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9050">
            <a:solidFill>
              <a:srgbClr val="E09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DFE10-7D32-4F9B-9720-F1F74A6F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638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rPr>
              <a:t>TESTED CASE 6 SWEEP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9B03E-499C-49AB-A481-E1E3EC5C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3638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435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rPr>
              <a:t>0 / 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0F432-7915-4156-AC71-F5C5A28C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638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tested scenarios passed buyer, seller, and lender gates together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7199C-3DF9-4BAD-A801-3C50C813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145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2BC3F-77D6-455E-A0B6-2BB38939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62200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B9C8CE"/>
                </a:solidFill>
                <a:latin typeface="Segoe UI Semibold"/>
                <a:ea typeface="Segoe UI Semibold"/>
                <a:cs typeface="Segoe UI Semibold"/>
              </a:rPr>
              <a:t>CLOSEST BUYER-POSITIVE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80192-8BE5-416A-B4D3-A7884C4F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432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1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Strike: 1,300 VND/kWh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9BE1F-9FB7-42A2-83B9-B83BD3A2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480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1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Volume: 70%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3F1CA-2E4D-40C6-8972-35079B51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528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1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Buyer lifetime: +0.46%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F4115-D9AF-44CD-8F94-2CAC0A3B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576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1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Seller IRR: +17.85%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F473B-CFB2-4AD0-A59C-3B314845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624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463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125" b="1">
                <a:solidFill>
                  <a:srgbClr val="B6463B"/>
                </a:solidFill>
                <a:latin typeface="Segoe UI Semibold"/>
                <a:ea typeface="Segoe UI Semibold"/>
                <a:cs typeface="Segoe UI Semibold"/>
              </a:rPr>
              <a:t>Min DSCR: 1.143x</a:t>
            </a:r>
          </a:p>
        </p:txBody>
      </p:sp>
      <p:sp>
        <p:nvSpPr>
          <p:cNvPr id="17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CD42C857-D185-4CFC-BD12-AE34CE6D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6971C-6FA8-43CA-A772-8F4BCA12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BUYER QUESTION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A7903-FAEA-4D87-A203-5DB202B7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If price cannot pass all gates, what structural lever changes the financing?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9E6516-66AC-4C4C-96D1-7A2DD2D0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8CE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B9C8CE"/>
                </a:solidFill>
                <a:latin typeface="Segoe UI"/>
                <a:ea typeface="Segoe UI"/>
                <a:cs typeface="Segoe UI"/>
              </a:rPr>
              <a:t>Source: repo_case6_sweep, repo_case6_lower_strike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70E0CE-06FD-4F40-97A7-FBD18E01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9C8CE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B9C8CE"/>
                </a:solidFill>
                <a:latin typeface="Segoe UI"/>
                <a:ea typeface="Segoe UI"/>
                <a:cs typeface="Segoe UI"/>
              </a:rPr>
              <a:t>As of 2026-06-12 | 22</a:t>
            </a:r>
          </a:p>
        </p:txBody>
      </p:sp>
    </p:spTree>
    <p:extLst>
      <p:ext uri="{BB962C8B-B14F-4D97-AF65-F5344CB8AC3E}">
        <p14:creationId xmlns:p14="http://schemas.microsoft.com/office/powerpoint/2010/main" val="145330764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A01F35-9282-4301-80C2-AC054D38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4119C-B77B-4533-AE3D-D846B613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DCA1E179-E79E-4787-A89F-772201BE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648C011D-EB5D-472C-8A63-D92DC910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DECISION 5 - EXPECTATIONS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2A0ED-EA83-4C04-810B-0DDDE90E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09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The practical buyer expectation is value under constraints, not automatic savings.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C89DE-EE7A-45DF-ACFD-B171E8F9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2238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E5FF6-6D2E-43EF-9A6A-C3F8408A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8F49A-7272-4BA4-81C0-8F673F40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933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COST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D5851-5C0F-4EFE-AA61-B111CEC4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933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Year 1 can be hard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6E8E4-4B68-4B6D-99FE-14B31F8D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933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Modeled offer pricing may start above BAU.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F1C45-91CD-4653-B4BA-8BCF9CEC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14550"/>
            <a:ext cx="2238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342B5-6FE6-4C11-95A1-D67C6F6F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1455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8EC55-20F3-4E5F-B700-FC7A6B16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266950"/>
            <a:ext cx="1933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4F66B-D3A9-4BBB-ACBD-FE751D73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514600"/>
            <a:ext cx="1933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Horizon matters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B0FE2-7138-49A0-943D-717F61DC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95600"/>
            <a:ext cx="1933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Judge 10-year and lifetime cost, not only the first bill.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1CD8F-063D-41D7-AF88-702A7D81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2238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46E66-649A-4ADE-A37E-B1FFA753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C8252D-8F1D-44E9-A519-3A760637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66950"/>
            <a:ext cx="1933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STRUCTURE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403FF3-1C0B-4FEB-8C39-E51B8AA4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14600"/>
            <a:ext cx="1933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Financing can decide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99D640-E4C5-4DC8-9035-79FF9B2E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95600"/>
            <a:ext cx="1933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If all gates cannot pass, change structure before declaring victory on price.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C283BC-02C5-4C31-9E9E-EC2715B8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7286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C"/>
          </a:solidFill>
          <a:ln xmlns:a="http://schemas.openxmlformats.org/drawingml/2006/main" w="9525">
            <a:solidFill>
              <a:srgbClr val="E09A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CAD9EF-4D64-4477-B600-E1255014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693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Modeled evidence supports disciplined expectations, not a universal market forecast.</a:t>
            </a:r>
          </a:p>
        </p:txBody>
      </p:sp>
      <p:sp>
        <p:nvSpPr>
          <p:cNvPr id="23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93351C17-EB77-47FB-88C1-4089AA15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F29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96E914-182A-4168-9462-A12C1833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193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BUYER 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9B9CD-F45C-4CF4-97A4-B002C112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Prepare internal approval around 10-year and lifetime cost, renewable claims, and risk allocation.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FA2832-97C3-42B8-98D9-B9CF4D1E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repo_case5_sweep, repo_case6_sweep, repo_case6_lower_strike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C57FAF-E42C-4B0A-981D-1474F1B1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23</a:t>
            </a:r>
          </a:p>
        </p:txBody>
      </p:sp>
    </p:spTree>
    <p:extLst>
      <p:ext uri="{BB962C8B-B14F-4D97-AF65-F5344CB8AC3E}">
        <p14:creationId xmlns:p14="http://schemas.microsoft.com/office/powerpoint/2010/main" val="167713545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9E5B9D-7B4D-44A4-A707-F396EB46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9DC16-7823-4234-AB58-978E9E5B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9C886B2D-4146-4AD4-ABD9-DE8B2CAC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BAE6C7D5-3B98-4697-8D12-92F80681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DECISION 6 - NEGOTIATION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3CB1F-5A7A-450E-BE9B-83D317E6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Leave the session with five questions that change the term sheet.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AF05F-3E0F-430D-8474-B9D76A13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54227-3279-487F-A62F-AB823C23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D542C-B7E6-4B05-96F5-38851CD5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Strike level and indexation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C65E0-CEA3-4833-8CEB-9EF3F89D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06E98-772A-4A36-B41D-4012360F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725AE-BA14-4B43-AF6C-820BA7AF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8130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Hourly contract volume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D647E-813E-49E7-8136-87EE5A2F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C3E72-AAE3-4E24-BBE5-FAFCD46A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69A15-1F4F-4B0C-B44D-E7FCE238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4805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Tenor and termination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B93EE-63D1-428B-88C7-B58A3575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2DF8F-013F-43E4-B5FF-655C8307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6BB01-4CF5-4C6B-88C7-0A6D80E8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1480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Voltage and loss factor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B1935-DB9C-4304-8589-3C187606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5D91B8-0F3A-4075-8642-50F41290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CE94D-ECC5-4C58-8035-6630EE09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8155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Risk allocation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D213EE-E94B-4933-9AE8-7120387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0287F-FEBC-410D-8ED5-C3CE2039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289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PANEL BRIDGE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5DD4F-4B38-4EFA-ABE3-0FA71667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281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25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Bring the lender-gate question into the afternoon risk discussion.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B81F7C-0C2F-404F-BAA3-E5548CE5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8CE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B9C8CE"/>
                </a:solidFill>
                <a:latin typeface="Segoe UI"/>
                <a:ea typeface="Segoe UI"/>
                <a:cs typeface="Segoe UI"/>
              </a:rPr>
              <a:t>Source: deck_plan, gov_nd57, repo_case_assumptions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675BDA-E3EA-412D-B2D1-FFF569DF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9C8CE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B9C8CE"/>
                </a:solidFill>
                <a:latin typeface="Segoe UI"/>
                <a:ea typeface="Segoe UI"/>
                <a:cs typeface="Segoe UI"/>
              </a:rPr>
              <a:t>As of 2026-06-12 | 24</a:t>
            </a:r>
          </a:p>
        </p:txBody>
      </p:sp>
    </p:spTree>
    <p:extLst>
      <p:ext uri="{BB962C8B-B14F-4D97-AF65-F5344CB8AC3E}">
        <p14:creationId xmlns:p14="http://schemas.microsoft.com/office/powerpoint/2010/main" val="180214316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B871F5-AB4C-4D86-9D9B-837A84F6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F6016-784C-4D6F-AC44-7F5DC5E1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4FEC859A-19E4-40E0-A5B3-A64EE087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C058DBCD-7DF1-4174-9974-7BF8DD12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rPr>
              <a:t>BACKUP A - SETTLEMENT FORMULAS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0276D-CE11-46B0-B6DE-09A65084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5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Use the formula sheet to separate regulated settlement logic from training-model inputs.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03A10-5562-4F7A-9B8D-33C96E11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765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F29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9685A-010A-4E2D-8766-42043EAF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Item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282FB-41AE-4E37-8599-6D3B1D9B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88595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What it does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B2E88-7184-4F63-8F38-DA9CAB9D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85950"/>
            <a:ext cx="3067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Buyer diligence 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2F796-2809-4472-90B9-407A5AAA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765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50B9A-8A0B-4FE4-9D2C-B7AE1767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Q_adj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0AE1B-472E-4FFB-99D1-9A45C953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384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Renewable output adjusted for loss factors.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CB23F-EC1C-4728-9B7A-E7B6694B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38400"/>
            <a:ext cx="3067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Check voltage level and annual Kpp basis.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AFA52-3718-4D26-9CA4-34B61F31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765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B4B64-3C99-4FF6-B3EF-05991E91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Q_Khc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58615-DFF5-48E7-9D8F-9DB5FB4D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9085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Contracted CfD volume for settlement.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564FA-8E6D-4DE4-89B2-5E476C3A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90850"/>
            <a:ext cx="3067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Confirm whether hourly cap is min(load, Q_adj).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784A3-F3EE-4108-8D53-AECD22F1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765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7D37BA-5B95-401B-8197-C0DCDB34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C_DN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01E910-49B1-42F9-9E78-52446AD0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433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Renewable payment via EVN.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D2AD1-02D4-4C51-8C44-351EDDB4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43300"/>
            <a:ext cx="3067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Confirm FMP, K, Kpp, and metered volumes.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942BD2-7FF5-447E-B2C8-1E7C1DCA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765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6EF766-E2C4-440C-865A-28230071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C_DPPA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884CE2-9DD7-426C-863B-8F881BA0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9575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DPPA service charge component.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333618-A562-438D-8484-AA4A9C17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95750"/>
            <a:ext cx="3067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360 VND/kWh here is a training/model input.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CE61E7-C94C-4EC1-97CE-F3DFA197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765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4F0FCD-FE19-4BAC-B292-D364396D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C_CL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64B032-CEBB-4C4C-8841-B555D690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482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Balancing difference component.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B21C30-2F93-47B1-BE2A-FAD1DDDB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48200"/>
            <a:ext cx="3067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163.3 VND/kWh here is a training/model input.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9CF959-9929-48AC-8F24-F72A00A8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765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D9B2E6-EBD5-488F-8766-F0CB7A96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CfD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6FAC49-AE20-4C5E-80D3-427DE9A5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0065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Strike-minus-market financial settlement.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083886-8628-4AF3-925F-2A6ABBE4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00650"/>
            <a:ext cx="3067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Test strike, indexation, tenor, and volume together.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5F83A0-DB4B-4A25-8EA8-24D65E87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47900"/>
            <a:ext cx="28575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C"/>
          </a:solidFill>
          <a:ln xmlns:a="http://schemas.openxmlformats.org/drawingml/2006/main" w="9525">
            <a:solidFill>
              <a:srgbClr val="E09A2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05A7FF-18A3-49CC-926A-1A3F17EC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9555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rPr>
              <a:t>DO NOT MISREAD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DE48F3-F28C-4FE5-9FC1-19145A12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57500"/>
            <a:ext cx="2400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The deck uses NSMO training examples and repository model assumptions where current numerical primary-source fee publications were not confirmed.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0D3778-B89D-4F8C-8412-02526A5D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gov_nd57, nsmo_training_example, repo_case_assumptions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531893-49B8-48B5-B9B6-6E1BA083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25</a:t>
            </a:r>
          </a:p>
        </p:txBody>
      </p:sp>
    </p:spTree>
    <p:extLst>
      <p:ext uri="{BB962C8B-B14F-4D97-AF65-F5344CB8AC3E}">
        <p14:creationId xmlns:p14="http://schemas.microsoft.com/office/powerpoint/2010/main" val="25397812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A778BB-922B-44AD-AD24-1115691C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5EF9E-2D6C-4490-9D3B-E7658078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45833E58-E5A3-439D-A893-C22CE99F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A89E0FCC-18DB-43B6-9CC0-C163FD57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BACKUP B - MARKET PRICE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FD7E5-5861-46AF-A570-5B880235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5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FMP and CFMP uncertainty should be tested as scenarios, not treated as a point forecast.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DCE21-F7DB-4329-B413-FC7C825D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A9298-1125-4C46-B7B3-77884A9A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195B7-9EAB-4E92-8548-4E8C8D8D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SCENARIO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7A4B1-9190-4659-AA04-37614BFB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LOW PRICE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A474E-C266-47C6-8D6E-2F7E7D5D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07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Buyer may pay more through the CfD when the strike exceeds market price.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F5770-32C9-401E-8A43-D5EA34DD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3835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69C56-44DE-499D-AD92-F8B350BF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383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881B1-AFBF-4C70-980C-A9273BAA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9075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SCENARIO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17FC5-10E1-4D68-9A89-8FF8D62E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3840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BASE 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E155D-569B-42BF-9A49-F28BF9FB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19400"/>
            <a:ext cx="207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Use the negotiated term sheet as the middle case, then test volume and tariff shape.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0B986-494A-4817-923E-211F24B9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B8CBE-5DED-4A7F-8DC8-0153FA0E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E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5E541F-20E7-4A42-B0F9-651B64E6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9075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SCENARIO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EB7A66-4E41-40D1-81DE-5FE0AC9D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3840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HIGH PRICE CASE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8FAE2-FF74-493F-BF17-F2A62748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19400"/>
            <a:ext cx="207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CfD can offset retail exposure, but basis and volume mismatch still matter.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A59B16-2823-4F77-AC3E-B61D01E7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771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62F6BB-26F6-4476-89BF-C0576F3B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7277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25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Recommended buyer model treatment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EE4E11-9659-4F72-A442-6108A8B9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F714DF-4A2D-4B51-85AA-509E262C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33950"/>
            <a:ext cx="714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Run at least low / base / high price paths.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3355ED-6AAC-4712-9A42-280CBA4B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EA85F0-47E3-4A11-92AB-D7673EBF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714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Show the result at year 1, 10-year cumulative, and lifetime horizons.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CBB193-9752-47BB-81E6-ADFB65BA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6220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DE6AB4-C387-4DD9-885A-9813354E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4795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BUYER WARNING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6252BB-0A36-42CC-A4DE-BF419116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71800"/>
            <a:ext cx="2400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No official forward FMP forecast was used in this deck.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FED9EF-B486-4AA0-9921-325A6E1B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repo_case_assumptions, nsmo_training_example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4D9FB3-DFDE-43E6-8318-627EC2C9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26</a:t>
            </a:r>
          </a:p>
        </p:txBody>
      </p:sp>
    </p:spTree>
    <p:extLst>
      <p:ext uri="{BB962C8B-B14F-4D97-AF65-F5344CB8AC3E}">
        <p14:creationId xmlns:p14="http://schemas.microsoft.com/office/powerpoint/2010/main" val="113762875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63A2F6-B929-46BB-919C-6789CC53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36337-B818-4854-BB0A-F82BBB6C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53E96F13-5DD4-4332-8011-8C4D9E75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F1651B87-E112-4EDB-ABAE-D1C843D8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rPr>
              <a:t>BACKUP C - LOAD DROP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C0768-7209-431A-8FBD-A5CA1583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5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A production slowdown turns volume language into the buyer's first risk question.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212C7-AE99-492C-AEBC-95B70211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22669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4FC5B-656D-472B-8447-E1D11A50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C384F-ACD4-4CDB-9D6D-D90A9C52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4792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D4FB0-FCB6-4EA1-94EF-98081545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192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Factory load falls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BED95-15E1-4C11-A35B-871B29D5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192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Metered consumption is lower than the contracted shape.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87B65-9CE3-4C4F-A8B6-5402C740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289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AD671-A2DF-4BD5-B345-F1248AA2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33600"/>
            <a:ext cx="22669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E7019-E97B-4977-A51A-F60892FD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62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6CB22-D12F-495E-B42E-92A1DDC6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4792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31D45-7319-4A93-A1AB-B30661DB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76550"/>
            <a:ext cx="192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Settlement cap binds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381D4-1DAE-4F19-9E0D-6CF5EC96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09950"/>
            <a:ext cx="192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CfD volume should be tested against min(load, Q_adj).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06BE7-DC36-416D-83F7-7B4E0448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289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461F81-FF07-4784-9770-503C9713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33600"/>
            <a:ext cx="22669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F4FC1-DF26-4B20-A40D-2535AC47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62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E3287A-3DBA-4D4C-BCE0-3BC224A8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4792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0625D5-2AEF-4662-BE4C-5961D4FE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76550"/>
            <a:ext cx="192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Contract terms decide exposure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09B51D-83B2-4DF1-8336-2A11DA50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09950"/>
            <a:ext cx="192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Take-or-pay, termination, and volume reset rights are negotiated terms.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3E600A-C9B1-459E-9B3D-C46FD184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773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C"/>
          </a:solidFill>
          <a:ln xmlns:a="http://schemas.openxmlformats.org/drawingml/2006/main" w="9525">
            <a:solidFill>
              <a:srgbClr val="E09A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257D0A-1CFB-48E7-9560-53B7F812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731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Buyer action: ask for a downside-load table before accepting annual volume commitments.</a:t>
            </a:r>
          </a:p>
        </p:txBody>
      </p:sp>
      <p:sp>
        <p:nvSpPr>
          <p:cNvPr id="25" name="buyer-question-box">
            <a:extLst xmlns:a="http://schemas.openxmlformats.org/drawingml/2006/main">
              <a:ext uri="{FF2B5EF4-FFF2-40B4-BE49-F238E27FC236}">
                <a16:creationId xmlns:a16="http://schemas.microsoft.com/office/drawing/2014/main" id="{8A6795DF-DC9B-48FA-A6C6-117CEDD5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F29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9EC180-736E-4783-AA67-32F0560A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BUYER QUESTION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92587C-7020-4D74-A71D-D3B4DFE0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What happens if our contracted facility runs at 70%, 50%, or shuts for a month?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4240FD-6947-4BA7-B71B-EC4A808A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gov_nd57, nsmo_training_example, deck_plan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52BC1C-647A-44BF-B730-D58D3E26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27</a:t>
            </a:r>
          </a:p>
        </p:txBody>
      </p:sp>
    </p:spTree>
    <p:extLst>
      <p:ext uri="{BB962C8B-B14F-4D97-AF65-F5344CB8AC3E}">
        <p14:creationId xmlns:p14="http://schemas.microsoft.com/office/powerpoint/2010/main" val="112101250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23B5BE-7CBF-4ED4-96FF-F48AC3E9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90371-7325-4CFA-A69A-A4C26757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79D0EA87-A01B-47B3-AAC3-088B96CE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E323D5FC-92D5-41C0-86C8-5D3AF9F7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BACKUP D - ATTRIBUTES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9C1D2-9E77-4AAB-B71A-C3A2136A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5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Treat Scope 2 and REC language as an evidence checklist, not an assumption.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59FC5-DB14-4BDB-97CA-6C38F342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619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DFE59-F0A8-48D7-BE14-8F437578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517D7-200E-4FCC-8CDD-5F06C74A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ATTRIBUTE 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066E7-246A-4C29-A210-7282F674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Which party owns environmental attributes and associated certificates?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B4E2D-6A15-4302-82D8-2D065E15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619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73CC5-3DD3-4474-943F-C38C068F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FAE6C-9A7A-4FBE-92B9-346163D8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050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rPr>
              <a:t>TRACKING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7BB6D-2757-450E-BAC9-0E108D23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289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What document trail proves generation, retirement, and buyer allocation?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7E399-5BFD-453A-ABAA-9E71CAD2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3619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AF0B4-E131-4FEA-AAB3-78A739FE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EE69A-C033-4A34-A453-FB16DE40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CLAIM WORDING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695EB-3285-449E-9B9C-5587F432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What exact claim can the buyer make to brands, auditors, and customers?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AB12CC-53F3-495C-975F-F38858BF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3619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6C1AC9-5E5A-4908-B830-70962704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5ED9F2-8096-44E9-8658-9B829474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719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REMEDY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3CFC62-34DC-48F0-B848-CA459CC4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957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What happens if certificates, data, or delivery evidence are missing?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8C2F25-52FF-46D3-84DA-9319D6C3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62200"/>
            <a:ext cx="28575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7F558E-0CCB-4A09-883B-C9DF6D85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4795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CAVEAT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D66CE3-0880-4E2B-B0A3-6779C3DB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33700"/>
            <a:ext cx="24003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725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This deck does not assert automatic Scope 2 qualification for Vietnam DPPA contracts.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F68F60-D306-44F3-A996-42B93F64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deck_plan, gov_nd57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6E6267-A66E-44EA-B44D-72E59B3E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28</a:t>
            </a:r>
          </a:p>
        </p:txBody>
      </p:sp>
    </p:spTree>
    <p:extLst>
      <p:ext uri="{BB962C8B-B14F-4D97-AF65-F5344CB8AC3E}">
        <p14:creationId xmlns:p14="http://schemas.microsoft.com/office/powerpoint/2010/main" val="66768826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3C4208-3097-4B49-81BD-E722AFB8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4FB9A-8424-45EF-A3C5-0C9696E9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D1701D72-CFFA-4F69-A17C-40C5F802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32D22671-48F3-460A-897E-C377C4C6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E09A2B"/>
                </a:solidFill>
                <a:latin typeface="Segoe UI Semibold"/>
                <a:ea typeface="Segoe UI Semibold"/>
                <a:cs typeface="Segoe UI Semibold"/>
              </a:rPr>
              <a:t>BACKUP E - VOLTAGE AND LOSSES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F99C1-6E88-45FF-8D9D-9157CCDF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5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Eligibility and loss factors are small-looking inputs with direct price consequences.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ABFFE-4FE1-4025-8B38-7084D80E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24574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88FB8-E9F8-4088-93B4-3247EBC5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922EC-593B-4D16-B72D-14906515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ELIGIBILITY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18793-A126-4720-85FD-A43F1B68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152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22 kV or above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20C00-7D11-466D-9C7E-9B75F796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1526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National-grid DPPA buyers are in scope only if connected at the qualifying voltage.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2D8DE-01A2-4001-A156-DE954C9B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76450"/>
            <a:ext cx="24574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A9C9C-1D86-405A-AED9-FA306666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7645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02525-1A41-420D-AB9E-9A409BF0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288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ANNUAL 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49212-5BCE-4D63-AA8A-E4A54613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2152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Kpp updates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DAD77-3D3A-4DE8-A335-478E79E5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1526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Article 16 defines annual calculation from prior loss data; current numerical publication was not confirmed.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45B24-BD40-4CA4-8B80-33F02DF9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574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22C2E-5A1B-4EA1-AFCE-A8FE2CF7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2F8783-42C3-48FB-81AF-85B1EDC6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288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5C6B73"/>
                </a:solidFill>
                <a:latin typeface="Segoe UI Semibold"/>
                <a:ea typeface="Segoe UI Semibold"/>
                <a:cs typeface="Segoe UI Semibold"/>
              </a:rPr>
              <a:t>MODEL 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C0BA38-F9A3-46C6-93F4-7B692210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2152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1.027263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AC622-B9D6-4B6C-882E-E43DA014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21526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Factory A model assumption informed by training context, not confirmed as a current published Kpp.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00E31E-5ACB-4D09-B868-15903B79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8020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C"/>
          </a:solidFill>
          <a:ln xmlns:a="http://schemas.openxmlformats.org/drawingml/2006/main" w="9525">
            <a:solidFill>
              <a:srgbClr val="E09A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C5AD6-EF72-41B5-B96D-191887B9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752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Buyer action: require the seller to show the voltage class, Kpp basis, and sensitivity to annual updates.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BF92C6-07F2-4BF9-9DCE-CC556B26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81250"/>
            <a:ext cx="2343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D67948-A3D9-464E-8E6E-3D1AB2C7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28900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8ED2CC"/>
                </a:solidFill>
                <a:latin typeface="Segoe UI Semibold"/>
                <a:ea typeface="Segoe UI Semibold"/>
                <a:cs typeface="Segoe UI Semibold"/>
              </a:rPr>
              <a:t>TRAINING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D89089-6ADF-44F8-925B-497DC527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1.008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2D8E6D-0B36-4BAD-96F0-7D7C37BD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24250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CE7E5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DCE7E5"/>
                </a:solidFill>
                <a:latin typeface="Segoe UI"/>
                <a:ea typeface="Segoe UI"/>
                <a:cs typeface="Segoe UI"/>
              </a:rPr>
              <a:t>110 kV example Kpp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DF3100-68D8-46AF-B36A-EA9AA97A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gov_nd57, nsmo_training_example, repo_case_assumptions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5B7990-C11E-41DB-8351-28B1C65C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29</a:t>
            </a:r>
          </a:p>
        </p:txBody>
      </p:sp>
    </p:spTree>
    <p:extLst>
      <p:ext uri="{BB962C8B-B14F-4D97-AF65-F5344CB8AC3E}">
        <p14:creationId xmlns:p14="http://schemas.microsoft.com/office/powerpoint/2010/main" val="1421766498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1C75BE-3D3F-4940-9966-CDBFBF88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CB482-5EF2-4AB5-8B46-615E15F5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E26B652C-20C6-4D5B-8E68-14867078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0BCEC6EE-FB2A-4CDD-BBF6-860E06FD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BACKUP F - GATE DEFINITIONS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7EE8A-44CD-4EF7-809E-80F8D901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550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The buyer gate is not the seller gate, so the model reports them separately.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C31C6-751F-49DA-8FAD-84865B9D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69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D"/>
          </a:solidFill>
          <a:ln xmlns:a="http://schemas.openxmlformats.org/drawingml/2006/main" w="0">
            <a:solidFill>
              <a:srgbClr val="0F29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9F57B-BF4B-4251-9847-70950317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DDC2D-9F3A-473D-A437-1793F0D6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1600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057A5-AC7C-4C7D-A2C6-57DBC762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002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Pass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ED4E7-E6B4-4474-A41D-A4DBB4DE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Case 6 at 2,000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BE2A7-180D-45AB-BAB8-2FBA8614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769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7145A-1D30-4B57-A686-9982A9E2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Buyer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67B0C-0944-44D9-9216-A103A5B8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14600"/>
            <a:ext cx="1600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Savings vs BAU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A62EE-167A-4BDE-9010-2010563B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146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Positive Y1 / 10yr / life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B706D-F46C-4A8E-B19A-DADAB318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146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-14.4%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B121A-CD99-4938-9C16-A46B606C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769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02F63D-9DF3-4845-8554-A3AFCB7F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Seller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69A98E-F2EB-457C-91BF-543D1A94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28950"/>
            <a:ext cx="1600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Equity IRR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AEE171-33E5-4A36-BDED-94631ADF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289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Meets investor hurdle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1B7E5-4B8F-4AB3-BE18-793CFD13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289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+26.9%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D8FD8-3041-49BB-8069-2A68F310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769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F0D62E-CF96-4B42-B27E-C38A6C88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Lender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66E64A-47D3-4BB8-A082-71B20776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43300"/>
            <a:ext cx="1600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Minimum DSCR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200B4C-13EB-4D8A-9609-90B0355E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433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Above lender floor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D290B5-F824-428D-A48F-D177D6BA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433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1.50x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C0E9C8-F1B6-4F95-A5C9-1FF92594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769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6B9A62-0D28-4C84-8EFF-273C248F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Balanced deal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F49FDE-7603-40FD-A4DD-80BCAC06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057650"/>
            <a:ext cx="1600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All gates together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5E870A-646E-4F4D-9826-87282F5F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576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Buyer + seller + lender pass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B0E83B-CE71-4902-8A1C-02BB4332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576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52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17252E"/>
                </a:solidFill>
                <a:latin typeface="Segoe UI"/>
                <a:ea typeface="Segoe UI"/>
                <a:cs typeface="Segoe UI"/>
              </a:rPr>
              <a:t>0 / 56 tested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D0445E-F0D3-4657-813D-58E89EA5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47900"/>
            <a:ext cx="2781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5835E6-8816-4D49-9ABC-2735AB11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955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825" b="1">
                <a:solidFill>
                  <a:srgbClr val="127A7A"/>
                </a:solidFill>
                <a:latin typeface="Segoe UI Semibold"/>
                <a:ea typeface="Segoe UI Semibold"/>
                <a:cs typeface="Segoe UI Semibold"/>
              </a:rPr>
              <a:t>MODEL LIMITS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732369-001C-4660-92B2-13F0FD72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38450"/>
            <a:ext cx="2324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0F293D"/>
                </a:solidFill>
                <a:latin typeface="Segoe UI Semibold"/>
                <a:ea typeface="Segoe UI Semibold"/>
                <a:cs typeface="Segoe UI Semibold"/>
              </a:rPr>
              <a:t>Factory A uses fixed FX, modeled Kpp and fee assumptions, and tested strike-volume scenarios. It is a negotiation screen, not a market forecast.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978C20-C032-423F-97D9-AFD62C1F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Source: repo_case6_sweep, repo_case6_lower_strike, repo_case_assumptions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CD44A3-F7B7-4545-9E75-89CFFB76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5C6B73"/>
                </a:solidFill>
                <a:latin typeface="Segoe UI"/>
                <a:ea typeface="Segoe UI"/>
                <a:cs typeface="Segoe UI"/>
              </a:rPr>
              <a:t>As of 2026-06-12 | 30</a:t>
            </a:r>
          </a:p>
        </p:txBody>
      </p:sp>
    </p:spTree>
    <p:extLst>
      <p:ext uri="{BB962C8B-B14F-4D97-AF65-F5344CB8AC3E}">
        <p14:creationId xmlns:p14="http://schemas.microsoft.com/office/powerpoint/2010/main" val="56880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2026-06-12T06:06:06.6030000Z</dcterms:created>
  <dcterms:modified xsi:type="dcterms:W3CDTF">2026-06-12T06:06:06.6030000Z</dcterms:modified>
</coreProperties>
</file>
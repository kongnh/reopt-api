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27A7A"/>
                </a:solidFill>
                <a:latin typeface="Segoe UI Semibold"/>
              </a:rPr>
              <a:t>CEBA CLEAN ENERGY PROCUREMENT WORKSHOP - 2026  -  DAY 2 - OFFSITE SOLUTIONS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>
                <a:solidFill>
                  <a:srgbClr val="0F293D"/>
                </a:solidFill>
                <a:latin typeface="Segoe UI Semibold"/>
              </a:rPr>
              <a:t>Understanding Vietnam's DPPA Mechanisms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>
                <a:solidFill>
                  <a:srgbClr val="0F293D"/>
                </a:solidFill>
                <a:latin typeface="Segoe UI Semibold"/>
              </a:rPr>
              <a:t>and Pricing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A6670"/>
                </a:solidFill>
                <a:latin typeface="Segoe UI"/>
              </a:rPr>
              <a:t>The pricing stack - the financial model - what to expect - key decision points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A6670"/>
                </a:solidFill>
                <a:latin typeface="Segoe UI"/>
              </a:rPr>
              <a:t>Virtual (grid CfD) DPPA under Decree 57/2025/ND-CP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2B33"/>
                </a:solidFill>
                <a:latin typeface="Segoe UI Semibold"/>
              </a:rPr>
              <a:t>Allotrope  -  45-minute technical session +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SESSION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Follow the money: from your EVN bill to a bankable DPPA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612647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17"/>
                <a:gridCol w="5052767"/>
                <a:gridCol w="631595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Module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Min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The baseline: what you pay EVN today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Virtual DPPA money flow: the five-line bill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CfD mechanics: what drives your number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Developer economics and the three gates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Case study: one factory, Cases 5 &amp; 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Key decision points and close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151790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By the end of this session you can: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1.  Decompose a virtual DPPA monthly settlement into its five components and compare it to your EVN bill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2.  Explain how the CfD strike, market price (FMP), loss factors and grid fees set your net cost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3.  See why buyer, seller and lender each have a gate - and why a deal must pass all three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4.  Leave with realistic pricing expectations grounded in a real factory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0624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A6670"/>
                </a:solidFill>
                <a:latin typeface="Segoe UI"/>
              </a:rPr>
              <a:t>Assumed from this morning's session: DPPA overview, eligibility, contracting terms.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A6670"/>
                </a:solidFill>
                <a:latin typeface="Segoe UI"/>
              </a:rPr>
              <a:t>Scope: virtual (grid CfD) DPPA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1 - THE BASELINE (4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What you pay EVN today: time-of-use is the reference 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6675118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108"/>
                <a:gridCol w="3655422"/>
                <a:gridCol w="95358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Period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Hours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vs base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Off-peak (thap diem)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22:00 - 04:00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~0.52x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Normal (binh thuong)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04:00-09:30, 11:30-17:00, 20:00-22:00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1.0x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Peak (cao diem)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09:30-11:30, 17:00-20:00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~1.78x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9718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A6670"/>
                </a:solidFill>
                <a:latin typeface="Segoe UI"/>
              </a:rPr>
              <a:t>Sunday rule: no peak period on Sundays (all hours normal).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429000"/>
          <a:ext cx="667511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53"/>
                <a:gridCol w="1257631"/>
                <a:gridCol w="1257631"/>
                <a:gridCol w="2612003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Voltage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Off-peak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Normal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Peak  (USD/kWh approx. 2025)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&gt;=110kV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0.034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0.065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0.116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22-110kV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0.037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0.070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0.126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6-22kV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0.042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0.079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0.141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&lt;6kV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0.049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0.092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0.164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15179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Why this matters for DPPA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Every DPPA offer is judged against this bill - your business-as-usual (BAU)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Peak hours cost ~3.4x off-peak: your load shape decides what "average" means for you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Residual energy (load not covered by the DPPA) keeps paying these TOU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1 - THE BASELINE (4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The benchmark: EVN BAU with escalation - and who can 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The savings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BAU = your current EVN bill escalated ~4%/yr (historical trend 2015-2024)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A DPPA is evaluated on cumulative cost vs BAU over 10 years and over the project lifetime - not just Year 1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EVN tariff escalation is the main source of long-term DPPA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179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Voltage eligibility (Decree 57/2025, Art. 16)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920240"/>
          <a:ext cx="539495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737360"/>
                <a:gridCol w="914400"/>
                <a:gridCol w="14630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Voltage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K_pp (2025)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Loss rate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Virtual DPPA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&gt;=110kV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1.008525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2.79%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Eligible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22-110kV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1.027263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4.56%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Eligible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6-22kV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TBD (NLDC/EVN)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Not yet usable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&lt;6kV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TBD (NLDC/EVN)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B33"/>
                          </a:solidFill>
                          <a:latin typeface="Segoe UI"/>
                        </a:rPr>
                        <a:t>Not yet usable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846320"/>
            <a:ext cx="11201400" cy="822960"/>
          </a:xfrm>
          <a:prstGeom prst="round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If your connection is 6-22kV or below, virtual DPPA is not yet available to you: settlement loss factors (K_pp) are still pending from NLDC/EVN.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2 - THE FIVE-LINE BILL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Virtual DPPA money flow: three relationships, one bill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468880" cy="1143000"/>
          </a:xfrm>
          <a:prstGeom prst="round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RE GENERATOR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sells 100% of output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to the spot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00200"/>
            <a:ext cx="2468880" cy="1005840"/>
          </a:xfrm>
          <a:prstGeom prst="roundRect">
            <a:avLst/>
          </a:prstGeom>
          <a:solidFill>
            <a:srgbClr val="0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VWEM SPOT MARKET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pays generator FMP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per kWh generated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063240"/>
            <a:ext cx="2468880" cy="1005840"/>
          </a:xfrm>
          <a:prstGeom prst="roundRect">
            <a:avLst/>
          </a:prstGeom>
          <a:solidFill>
            <a:srgbClr val="0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EVN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meters, wheels &amp; bills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the DPPA 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103120"/>
            <a:ext cx="2468880" cy="11430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YOUR FACTORY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pays EVN the DPPA bill;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settles CfD with generator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08960" y="2057400"/>
            <a:ext cx="1737360" cy="320040"/>
          </a:xfrm>
          <a:prstGeom prst="bentConnector3">
            <a:avLst/>
          </a:prstGeom>
          <a:ln w="25400">
            <a:solidFill>
              <a:srgbClr val="5A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6324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670"/>
                </a:solidFill>
                <a:latin typeface="Segoe UI"/>
              </a:rPr>
              <a:t>energy -&gt; market (FMP)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315200" y="3017520"/>
            <a:ext cx="1737360" cy="548640"/>
          </a:xfrm>
          <a:prstGeom prst="bentConnector3">
            <a:avLst/>
          </a:prstGeom>
          <a:ln w="25400">
            <a:solidFill>
              <a:srgbClr val="5A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69480" y="3611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670"/>
                </a:solidFill>
                <a:latin typeface="Segoe UI"/>
              </a:rPr>
              <a:t>DPPA bill (5 lines)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2926080"/>
            <a:ext cx="5943600" cy="0"/>
          </a:xfrm>
          <a:prstGeom prst="bentConnector3">
            <a:avLst/>
          </a:prstGeom>
          <a:ln w="25400">
            <a:solidFill>
              <a:srgbClr val="E09A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2064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E09A2B"/>
                </a:solidFill>
                <a:latin typeface="Segoe UI"/>
              </a:rPr>
              <a:t>CfD settlement (two-way)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Physical electrons flow through the national grid as usual - the DPPA is a financial overlay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The generator's revenue = spot sales at FMP + CfD settlement with you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Your cost = the five-line EVN bill + the CfD settlement  -&gt;  next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2 - THE FIVE-LINE BILL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Your monthly settlement has five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201397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73"/>
                <a:gridCol w="2019924"/>
                <a:gridCol w="3856219"/>
                <a:gridCol w="4866181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Line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Formula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Level (2025 reference)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Market energy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Q_Khc x FMP x k x K_pp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FMP avg ~1,426.6 VND/kWh; k~1.026; K_pp by voltage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DPPA service fee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Q_Khc x C_dppa_dv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360 VND/kWh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Balancing fee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Q_Khc x P_cl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163.3 VND/kWh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Residual purchase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(Load - Q_Khc) x EVN retail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your TOU rates (Module 1)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CfD settlement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(Strike - FMP) x min(Q_c, Q_Khc)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two-way: can be + or -</a:t>
                      </a:r>
                    </a:p>
                  </a:txBody>
                  <a:tcPr anchor="ctr" marT="25400" marB="25400">
                    <a:solidFill>
                      <a:srgbClr val="FBEED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17720"/>
            <a:ext cx="11201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222B33"/>
                </a:solidFill>
                <a:latin typeface="Segoe UI"/>
              </a:rPr>
              <a:t>Lines 1-4 are billed by EVN. Line 5 settles bilaterally with the generator under your CfD contract.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222B33"/>
                </a:solidFill>
                <a:latin typeface="Segoe UI"/>
              </a:rPr>
              <a:t>Q_Khc = the renewable volume you actually received and consumed (defined next slide).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222B33"/>
                </a:solidFill>
                <a:latin typeface="Segoe UI"/>
              </a:rPr>
              <a:t>CFMP = FMP x k: k converts the market price to the customer delivery point (price conversion, not a volume loss).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2 - THE FIVE-LINE BILL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Which volume? You settle only on what you actually consume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6766560" cy="1828800"/>
          </a:xfrm>
          <a:prstGeom prst="roundRect">
            <a:avLst/>
          </a:prstGeom>
          <a:solidFill>
            <a:srgbClr val="EEF4F4"/>
          </a:solidFill>
          <a:ln w="12700">
            <a:solidFill>
              <a:srgbClr val="12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 bIns="73152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0F293D"/>
                </a:solidFill>
                <a:latin typeface="Consolas"/>
              </a:rPr>
              <a:t>Q_adj = Q_meter / K_pp        delivered volume at your meter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0F293D"/>
                </a:solidFill>
                <a:latin typeface="Consolas"/>
              </a:rPr>
              <a:t>Q_Khc = min(Load, Q_adj)      settled volume (lines 1-3)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0F293D"/>
                </a:solidFill>
                <a:latin typeface="Consolas"/>
              </a:rPr>
              <a:t>Q_CfD = min(Q_c, Q_Khc)       CfD settles on received volume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600200"/>
          <a:ext cx="4114799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395"/>
                <a:gridCol w="1722474"/>
                <a:gridCol w="95693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Voltage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K_pp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Loss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&gt;=110kV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1.008525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2.79%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22-110kV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1.027263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4.56%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749039"/>
            <a:ext cx="11201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K_pp removes grid losses: ~2.8-4.6% of plant output never reaches your meter - you do not pay for it, but you also do not receive it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If the plant generates more than you consume in an hour, the excess earns the generator spot revenue only - it is NOT billed to you and does NOT earn CfD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Practical consequence: contracted volume (Q_c) above your real consumption buys nothing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2 - WORKED EXAMPLE (NSMO, SEP-2025)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Official NSMO simulation: industrial park buys 6,000 MWh/month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603503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184"/>
                <a:gridCol w="1240076"/>
                <a:gridCol w="1818779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Parameter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Symbol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Value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Consumption = received RE volume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Q_KH = Q_Khc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6,000,000 kWh/mo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Contracted CfD volume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Q_c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6,000,000 kWh/mo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CfD strike price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P_c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1,300 VND/kWh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Market price (monthly avg)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FMP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1,200 VND/kWh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Price conversion factor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k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1.026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Loss factor (110 kV)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K_pp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1.008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DPPA service fee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C_dppa_dv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360 VND/kWh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Balancing fee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P_cl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163.3 VND/kWh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Avg retail price (residual)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B33"/>
                          </a:solidFill>
                          <a:latin typeface="Segoe UI"/>
                        </a:rPr>
                        <a:t>2,204 VND/kWh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15179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9202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A 50 MW solar plant contracts its full output to one industrial customer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Consumption exactly equals delivered RE volume - no residual EVN purchase this month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Source: NSMO worked examples for Decree 57/2025 (Sep-2025 public training)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Strike just 100 VND above market - watch what the fees 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2 - WORKED EXAMPLE (NSMO, SEP-2025)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The five lines, computed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20139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4529"/>
                <a:gridCol w="5051611"/>
                <a:gridCol w="285525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Line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Calculation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VND/month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  Market energy (C_DN)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6,000,000 x 1,200 x 1.026 x 1.008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7,446,297,600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2  Service fee (C_dppa)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6,000,000 x 360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2,160,000,000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3  Balancing fee (C_cl)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6,000,000 x 163.3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979,800,000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4  Residual (C_bl)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0 kWh x 2,204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   EVN bill (C_EVN)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lines 1 + 2 + 3 + 4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B33"/>
                          </a:solidFill>
                          <a:latin typeface="Segoe UI"/>
                        </a:rPr>
                        <a:t>10,586,097,600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5  CfD settlement (C_CfD)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(1,300 - 1,200) x 6,000,000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600,000,000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   TOTAL (C_KH)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C_EVN + C_CfD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F293D"/>
                          </a:solidFill>
                          <a:latin typeface="Segoe UI"/>
                        </a:rPr>
                        <a:t>11,186,097,600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709160"/>
            <a:ext cx="11201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222B33"/>
                </a:solidFill>
                <a:latin typeface="Segoe UI"/>
              </a:rPr>
              <a:t>Effective cost = 11,186,097,600 / 6,000,000 = ~1,864 VND/kWh for fully renewable supply (vs ~2,204 VND avg retail in the example)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222B33"/>
                </a:solidFill>
                <a:latin typeface="Segoe UI"/>
              </a:rPr>
              <a:t>Generator side: 6,048,000 kWh x 1,200 (spot) + 600,000,000 (CfD) = 7,857,600,000 VND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2 - THE FIVE-LINE BILL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The structural cost: 523 VND/kWh of fees before any CfD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6949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9920"/>
                <a:gridCol w="1351280"/>
                <a:gridCol w="115824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Component (per matched kWh)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VND/kWh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US cents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Market energy at 2025 avg FMP x k x K_pp (22-110kV)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~1,504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~6.0c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DPPA service fee (C_dppa_dv)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360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1.4c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Balancing fee (P_cl)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163.3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0.7c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Delivered cost before CfD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B33"/>
                          </a:solidFill>
                          <a:latin typeface="Segoe UI"/>
                        </a:rPr>
                        <a:t>~2,027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B33"/>
                          </a:solidFill>
                          <a:latin typeface="Segoe UI"/>
                        </a:rPr>
                        <a:t>~8.1c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160020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The 523 VND/kWh of fixed fees applies to every matched kWh, regardless of your strike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They are set by regulation, not negotiation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Compare ~2,027 VND delivered (pre-CfD) with your own TOU mix - for many factories that is already near or above average grid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11201400" cy="914400"/>
          </a:xfrm>
          <a:prstGeom prst="roundRect">
            <a:avLst/>
          </a:prstGeom>
          <a:solidFill>
            <a:srgbClr val="0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Virtual DPPA is rarely a Day-1 discount. Its value = price certainty vs EVN escalation + credible renewable claims. Treat fee levels as the first number you check.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3 - CFD MECHANICS (6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The CfD is two-way: certainty, not automatic savings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6035040" cy="777240"/>
          </a:xfrm>
          <a:prstGeom prst="roundRect">
            <a:avLst/>
          </a:prstGeom>
          <a:solidFill>
            <a:srgbClr val="EEF4F4"/>
          </a:solidFill>
          <a:ln w="12700">
            <a:solidFill>
              <a:srgbClr val="12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 bIns="73152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0F293D"/>
                </a:solidFill>
                <a:latin typeface="Consolas"/>
              </a:rPr>
              <a:t>CfD cash flow = (Strike - FMP) x Q_CfD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97480"/>
          <a:ext cx="603504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Market condition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Who pays whom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FMP below strike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You top up the generator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FMP above strike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Generator pays you back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6002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Net effect: your renewable energy cost is locked near the strike (+ fees), whatever the market does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2025 reference: FMP averaged ~1,427 VND/kWh with strong hourly volatility - the CfD removes that volatility from your budget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A strike below expected average FMP would mean expected receipts - but no developer can finance that (Module 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3 - CFD MECHANICS (6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Strike escalation and the Year 1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Strike escalation (e.g. 4%/yr)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Escalating strikes improve the seller's and lender's lifetime economics...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...but do nothing for your Year 1 cost - and compound against you later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Negotiate the escalation index as hard as the starting strike (fixed VND vs CPI vs USD-linked)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What Year 1 usually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38528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In most realistic structures, Year 1 DPPA cost is at or above BAU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Savings build as EVN tariffs escalate (~4%/yr) against your locked strike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Evaluate on 10-year and lifetime cumulative cost - never on Year 1 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80"/>
            <a:ext cx="11201400" cy="822960"/>
          </a:xfrm>
          <a:prstGeom prst="round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Budget question for your CFO: can we accept a modest Year 1 premium to cap a 25-year exposure?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3 - CFD MECHANICS (6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Contract volume vs your load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01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22B33"/>
                </a:solidFill>
                <a:latin typeface="Segoe UI"/>
              </a:rPr>
              <a:t>Solar generates midday; your factory runs its own shape. The overlap - hour by hour - is all that counts.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286000"/>
          <a:ext cx="11201398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01"/>
                <a:gridCol w="4223478"/>
                <a:gridCol w="3856219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If you...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What happens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Cost consequence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Over-contract (Q_c &gt; consumption)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CfD caps at consumed volume - excess earns nothing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You paid contract terms for volume you can never settle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Match contract to hourly overlap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Every contracted kWh settles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Efficient - the target</a:t>
                      </a:r>
                    </a:p>
                  </a:txBody>
                  <a:tcPr anchor="ctr" marT="25400" marB="25400">
                    <a:solidFill>
                      <a:srgbClr val="EEF4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Under-contract (Q_c &lt; overlap)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More residual purchased from EVN at TOU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Less price certainty, smaller renewable claim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46320"/>
            <a:ext cx="11201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Ask every developer for an hourly (8760) matching analysis against YOUR meter data - not an annual percentage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Batteries can shift the overlap window but add capex the tariff must carry (see the case study)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4 - DEVELOPER ECONOMICS (8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The other side of the table: where the developer's money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6583680" cy="1188720"/>
          </a:xfrm>
          <a:prstGeom prst="roundRect">
            <a:avLst/>
          </a:prstGeom>
          <a:solidFill>
            <a:srgbClr val="EEF4F4"/>
          </a:solidFill>
          <a:ln w="12700">
            <a:solidFill>
              <a:srgbClr val="12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 bIns="73152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0F293D"/>
                </a:solidFill>
                <a:latin typeface="Consolas"/>
              </a:rPr>
              <a:t>Revenue = Q_meter x FMP          spot sales (volatile)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0F293D"/>
                </a:solidFill>
                <a:latin typeface="Consolas"/>
              </a:rPr>
              <a:t>        + (Strike - FMP) x Q_CfD  CfD with you (stabiliser)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The CfD converts volatile spot revenue into a near-fixed price on matched volume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Your strike IS the developer's bankable revenue line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Everything the lender checks flows from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Typical Vietnam RE project finance: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  70% debt / 30% equity, ~10-year debt term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  Debt: ~8.5%/yr in VND  -  ~5%/yr in USD (international)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  Equity target: 12-15%+ IRR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  CIT incentives: 4 years exempt + 9 years at half 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4 - DEVELOPER ECONOMICS (8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A deal must pass three gates at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20139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906"/>
                <a:gridCol w="1423906"/>
                <a:gridCol w="5315918"/>
                <a:gridCol w="3037667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Gate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Who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Test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Strike pressure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BUYER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You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Cumulative cost &lt;= BAU over 10 yr AND lifetime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pushes strike DOWN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SELLER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Equity IRR &gt;= 12-15%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pushes strike UP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LENDER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Bank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Minimum DSCR &gt;= ~1.20x every year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pushes strike UP (hardest gate)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57600"/>
            <a:ext cx="11201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DSCR = cash available for debt service / debt service, computed for every year of the loan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One bad year - e.g. a battery replacement - can sink the whole financing even if averages look fine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The negotiation window is the strike range where all three gates pass - it can be empty (case study)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212080"/>
            <a:ext cx="11201400" cy="777240"/>
          </a:xfrm>
          <a:prstGeom prst="roundRect">
            <a:avLst/>
          </a:prstGeom>
          <a:solidFill>
            <a:srgbClr val="0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A strike below the developer's bankability floor does not mean a cheap deal - it means no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4 - DEVELOPER ECONOMICS (8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Lifecycle items the tariff must carry - ask about all four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2013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554"/>
                <a:gridCol w="3672590"/>
                <a:gridCol w="5325255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Item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Typical assumption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Why you should care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PV degradation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~0.5%/yr output decline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Matched volume shrinks; lost kWh repurchased from EVN at TOU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Battery replacement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Around year 10-11, large one-off cost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Can crater DSCR in that year; ask who funds it and how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CIT holiday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4 yr exempt + 9 yr half rate (RE projects)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Improves developer economics - value you can negotiate for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FX exposure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VND strike vs USD capex/debt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USD-linked terms shift FX risk to you; price it consciously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89120"/>
            <a:ext cx="11201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A6670"/>
                </a:solidFill>
                <a:latin typeface="Segoe UI"/>
              </a:rPr>
              <a:t>These rarely appear in headline term sheets, but each one moves the bankable strike floor - and therefore your price.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5 - CASE STUDY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Same factory as yesterday - now going off-site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01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Yesterday (On-Site session): Cases 1-4 explored rooftop solar + BESS behind the meter. Today: the same southern-Vietnam manufacturing facility (22-110kV) signs a virtual DPPA with a dedicated solar + storage project.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514600"/>
          <a:ext cx="1120139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331"/>
                <a:gridCol w="7896068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Deal frame (both cases)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Value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DPPA type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Virtual (grid CfD) under Decree 57/2025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Strike price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2,000 VND/kWh, escalating 4%/yr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Tenor / analysis period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25 years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Financing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70% debt, 8.5% VND, 10-yr term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22B33"/>
                          </a:solidFill>
                          <a:latin typeface="Segoe UI"/>
                        </a:rPr>
                        <a:t>Difference between cases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22B33"/>
                          </a:solidFill>
                          <a:latin typeface="Segoe UI"/>
                        </a:rPr>
                        <a:t>Case 5: solar + LARGE battery   -   Case 6: solar + MINIMUM battery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57800"/>
            <a:ext cx="11201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Segoe UI"/>
              </a:rPr>
              <a:t>Method: full 8760-hour settlement simulation (ND57 formulas, hourly FMP/CFMP series) + 25-year project cash-flow model with the three gates.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5 - CASE STUDY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Case 5 - solar + large battery: the battery eats the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585215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1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Metric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Result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Seller equity IRR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16.9%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Project IRR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13.5%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Developer NPV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$1.52M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Minimum DSCR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1.14x  (replacement year)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Payback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9.1 yr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Buyer vs BAU - Year 1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-8.7%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Buyer vs BAU - 10-yr cumulative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-8.9%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Buyer vs BAU - lifetime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-9.3%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60020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At strike 2,000 the buyer pays ~9% MORE than BAU on every horizon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The oversized battery adds a ~$1.2M replacement around year 11 that the tariff must recover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Even so, lender comfort is thin (min DSCR 1.14x &lt; 1.20x)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20640"/>
            <a:ext cx="11201400" cy="822960"/>
          </a:xfrm>
          <a:prstGeom prst="roundRect">
            <a:avLst/>
          </a:prstGeom>
          <a:solidFill>
            <a:srgbClr val="B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Lesson 1: an oversized battery cannot carry its own replacement cost through the tariff - everyone loses.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5 - CASE STUDY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Case 6 - solar + minimum battery: bankable, but the strike is the fight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5852159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19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Metric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Result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Seller equity IRR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E9E5B"/>
                          </a:solidFill>
                          <a:latin typeface="Segoe UI"/>
                        </a:rPr>
                        <a:t>26.9%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Project IRR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18.2%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Developer NPV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$2.54M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Minimum DSCR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E9E5B"/>
                          </a:solidFill>
                          <a:latin typeface="Segoe UI"/>
                        </a:rPr>
                        <a:t>1.50x  (comfortably &gt; 1.20x)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Payback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4.7 yr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Buyer vs BAU - all horizons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-14.4%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60020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Lean sizing: seller and lender are now comfortable - returns strong, DSCR 1.50x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But at strike 2,000 the buyer is ~14% worse than BAU: the seller's headroom IS the negotiation space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So: sweep the strike down and see where the gates cross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20640"/>
            <a:ext cx="11201400" cy="822960"/>
          </a:xfrm>
          <a:prstGeom prst="round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Lesson 2: right-sized assets make the project financeable - then the entire negotiation is the strike price.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5 - CASE STUDY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Sweeping the strike on Case 6: the window is empty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56 scenarios swept: strikes 1,200-2,200 VND/kWh x contract volume 70-100%. Gate results: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57400"/>
          <a:ext cx="112013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500312"/>
                <a:gridCol w="2000250"/>
                <a:gridCol w="2900362"/>
                <a:gridCol w="1400175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Strike level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Buyer gate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Seller gate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Lender gate (&gt;=1.20x)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Balanced?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~2,000 (offer)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FAIL  -14%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PASS  1.50x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~1,400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FAIL  -1.4%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PASS  ~19%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PASS  1.19-1.5x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~1,300 x 70% vol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E9E5B"/>
                          </a:solidFill>
                          <a:latin typeface="Segoe UI"/>
                        </a:rPr>
                        <a:t>PASS  +0.5% lifetime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PASS  17.9%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FAIL  1.14x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~1,200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E9E5B"/>
                          </a:solidFill>
                          <a:latin typeface="Segoe UI"/>
                        </a:rPr>
                        <a:t>PASS  +2.9%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33A3A"/>
                          </a:solidFill>
                          <a:latin typeface="Segoe UI"/>
                        </a:rPr>
                        <a:t>FAIL  &lt;1.20x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251960"/>
            <a:ext cx="11201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F293D"/>
                </a:solidFill>
                <a:latin typeface="Segoe UI"/>
              </a:rPr>
              <a:t>The buyer turns positive just as the lender drops out: zero of 56 scenarios pass all three gates at current market prices and fee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20640"/>
            <a:ext cx="11201400" cy="868680"/>
          </a:xfrm>
          <a:prstGeom prst="roundRect">
            <a:avLst/>
          </a:prstGeom>
          <a:solidFill>
            <a:srgbClr val="E0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Pricing alone cannot balance this deal. The levers that can: lower leverage, debt sculpting, USD-denominated debt (~5%), fee relief, longer tenor - exactly this afternoon's panel.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5 - CASE STUDY (12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What this means for your pricing expectations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201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1.  Expect low single-digit lifetime savings at best - the product you are buying is 25-year price certainty plus credible renewable claims, not a discount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2.  Expect Year 1 to cost more than BAU - plan the internal approval around cumulative horizons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3.  Strike offers near 2,000 VND/kWh leave the buyer deeply negative - realistic buyer-positive territory starts near ~1,300, which today fails the lender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4.  Deal feasibility is decided by financing structure as much as by price - ask developers HOW their project is financed, not just what they charge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MODULE 6 - DECISION POINTS (3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Five decisions to settle before you 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20139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888"/>
                <a:gridCol w="3672590"/>
                <a:gridCol w="6977921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Decision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What to check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Strike level &amp; escalation/indexation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Fixed VND vs escalating vs USD-linked; model all three vs BAU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Contract volume vs load shape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8760 hourly matching vs YOUR meter data; CfD caps at consumed volume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Tenor &amp; termination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Developer wants 15-25 yr; match to your lease / order book; exit terms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Voltage eligibility &amp; K_pp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&gt;=22kV only today; which K_pp applies decides your loss adjustment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Risk allocation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FMP volatility, curtailment, negative-CfD months, change-in-law -&gt; this afternoon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937760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670"/>
                </a:solidFill>
                <a:latin typeface="Segoe UI"/>
              </a:rPr>
              <a:t>Items 1-4 are quantifiable before negotiation - run them against your own load data first.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27A7A"/>
                </a:solidFill>
                <a:latin typeface="Segoe UI Semibold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Three things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01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600" b="0">
                <a:solidFill>
                  <a:srgbClr val="222B33"/>
                </a:solidFill>
                <a:latin typeface="Segoe UI"/>
              </a:rPr>
              <a:t>1.  Know your five-line bill - 523 VND/kWh of fees and the loss factor are fixed; the strike is the only big number you negotiate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600" b="0">
                <a:solidFill>
                  <a:srgbClr val="222B33"/>
                </a:solidFill>
                <a:latin typeface="Segoe UI"/>
              </a:rPr>
              <a:t>2.  Judge the deal on 10-year and lifetime cost vs BAU - never on Year 1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600" b="0">
                <a:solidFill>
                  <a:srgbClr val="222B33"/>
                </a:solidFill>
                <a:latin typeface="Segoe UI"/>
              </a:rPr>
              <a:t>3.  Every deal must pass buyer, seller AND lender gates - if the window is empty, the fix is structural, not just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37760"/>
            <a:ext cx="11201400" cy="914400"/>
          </a:xfrm>
          <a:prstGeom prst="roundRect">
            <a:avLst/>
          </a:prstGeom>
          <a:solidFill>
            <a:srgbClr val="0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Next: panel discussion on risk allocation and the reality of bank financing for synthetic DPPA - bring the lender-gate question with you.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A6670"/>
                </a:solidFill>
                <a:latin typeface="Segoe UI Semibold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Backup slides - Q&amp;A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5A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1201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B1   FMP market context and forward uncertainty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B2   What happens if my load drops?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B3   RECs and Scope 2 treatment of DPPA volumes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B4   6-22kV connections: current status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222B33"/>
                </a:solidFill>
                <a:latin typeface="Segoe UI"/>
              </a:rPr>
              <a:t>B5   How the buyer gate is measured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A6670"/>
                </a:solidFill>
                <a:latin typeface="Segoe UI Semibold"/>
              </a:rPr>
              <a:t>BACKUP 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FMP market context (2025)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5A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60350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Price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VND/kWh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USD/kWh (25,000)</a:t>
                      </a:r>
                    </a:p>
                  </a:txBody>
                  <a:tcPr anchor="ctr" marT="25400" marB="25400">
                    <a:solidFill>
                      <a:srgbClr val="0F29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FMP, 2025 mean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1,426.6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0.0571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CFMP, 2025 mean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1,464.8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0.0586</a:t>
                      </a:r>
                    </a:p>
                  </a:txBody>
                  <a:tcPr anchor="ctr" marT="25400" marB="25400"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Measured k ratio (hourly CFMP/FMP)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1.006 - 1.060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B33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291840"/>
            <a:ext cx="11201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FMP is strongly seasonal and hourly-volatile; monthly averages mask large swings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Forward FMP is the single biggest uncertainty in any DPPA business case - run high/low scenarios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222B33"/>
                </a:solidFill>
                <a:latin typeface="Segoe UI"/>
              </a:rPr>
              <a:t>Figures are 2025 VWEM data - refresh before relying on them for a 2026+ decision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A6670"/>
                </a:solidFill>
                <a:latin typeface="Segoe UI Semibold"/>
              </a:rPr>
              <a:t>BACKUP B2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What happens if my load drops?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5A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201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Settlement shrinks with you: Q_Khc = min(Load, Q_adj) - EVN lines 1-3 only ever bill consumed volume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The CfD also caps at consumed volume - but your CONTRACT may still oblige payment on contracted volume (take-or-pay style clauses)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This is a contract negotiation point, not a regulatory mechanic: check shortfall, suspension and force-majeure clauses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Match tenor and volume commitments to your realistic production outlook, not the optimistic one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A6670"/>
                </a:solidFill>
                <a:latin typeface="Segoe UI Semibold"/>
              </a:rPr>
              <a:t>BACKUP 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RECs and Scope 2 treatment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5A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201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DPPA volumes carry the renewable attributes you need for market-based Scope 2 accounting (see Day 1, Topic 2)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Confirm in the contract WHO owns the attributes/RECs for matched volume - and for the plant's surplus sold to market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Hourly settlement data (Q_Khc) gives you credible granular matching evidence for brand reporting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A6670"/>
                </a:solidFill>
                <a:latin typeface="Segoe UI Semibold"/>
              </a:rPr>
              <a:t>BACKUP B4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6-22kV connections: current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5A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201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Decree 57/2025 (Art. 16) enables virtual DPPA for &gt;=110kV and 22-110kV connections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K_pp loss factors for 6-22kV and &lt;6kV have not been published by NLDC/EVN - settlement cannot be computed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Practical options today: connect/upgrade to &gt;=22kV, pursue on-site solutions (Day 1), or wait for the loss-factor announcement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Many supplier factories sit at 6-22kV - raise this with CEBA and your brand contacts as a policy ask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A6670"/>
                </a:solidFill>
                <a:latin typeface="Segoe UI Semibold"/>
              </a:rPr>
              <a:t>BACKUP B5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293D"/>
                </a:solidFill>
                <a:latin typeface="Segoe UI Semibold"/>
              </a:rPr>
              <a:t>How the buyer gate is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5A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Understanding Vietnam's DPPA Mechanisms &amp; Pricing  -  CEBA Procurement Academy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670"/>
                </a:solidFill>
                <a:latin typeface="Segoe U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201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Benchmark: EVN-only BAU (your current tariff escalated ~4%/yr), same load, same horizon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Gate: cumulative DPPA cost &lt;= cumulative BAU cost over BOTH the first 10 years AND the project lifetime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Year 1 outcome is reported as context but is not the gate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50" b="0">
                <a:solidFill>
                  <a:srgbClr val="222B33"/>
                </a:solidFill>
                <a:latin typeface="Segoe UI"/>
              </a:rPr>
              <a:t>A separate comparison vs an on-site alternative is useful disclosure, but the qualification test is vs BAU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